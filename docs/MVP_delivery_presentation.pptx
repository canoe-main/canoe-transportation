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1039" r:id="rId4"/>
    <p:sldId id="1042" r:id="rId5"/>
    <p:sldId id="271" r:id="rId6"/>
    <p:sldId id="1040" r:id="rId7"/>
    <p:sldId id="1041" r:id="rId8"/>
    <p:sldId id="1043" r:id="rId9"/>
    <p:sldId id="1046" r:id="rId10"/>
    <p:sldId id="1047" r:id="rId11"/>
    <p:sldId id="1048" r:id="rId12"/>
    <p:sldId id="104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2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E87085-7721-42BC-96F5-0EE3585A8DB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E664F8-D160-4991-B389-C394912DBAC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8124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5130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5415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Note Thiago’s work on fuel import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AA4FD6-D3A1-4D41-A5A9-A56E79ABA301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9138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Note Thiago’s work on fuel import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AA4FD6-D3A1-4D41-A5A9-A56E79ABA301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C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6137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5013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4317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998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29449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11744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11731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1D8D-AB35-CCDA-6A91-AFE9E6CA9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930B2-2B4C-6CEF-1757-40185E06E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33F131-D96D-87A5-C7D6-9925CA3F1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71A38-4BCC-3028-2035-96E565D47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A4FD6-D3A1-4D41-A5A9-A56E79ABA301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61456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A1923-A74B-5984-57B2-779699DE40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D48FB-CCB2-302E-745E-DDE9F7C71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B37D-65A2-B9D4-008F-D739831D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70586-EBC4-84A1-C861-7BA6EF9B3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B85E2-615B-B9FA-5C98-7675ACE14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3091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00AF-AF48-6AFA-56C8-448C35830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B15C3-7CFD-0273-3F3B-AE6203FB7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2BBFA-883E-FB52-AC83-365D44AD6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ED5A1-DEF3-6D41-9881-30F0BB987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4ABAB-000D-D4B5-F8BD-23074D19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0581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8DC6B-2E4F-48DD-94EB-A730FF797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09ECE-5B72-39C6-3328-970205FE1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1153B-D95D-69F6-C358-791C27E51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4C59D6-090A-CBE9-1F83-7EBF1DAD6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A5870-2815-80C9-0FD1-DC9A9130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5367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26AE8-8C6D-7416-67DC-34D8D7C3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9C26C-4F14-1F5D-D65B-980BDE294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4C1128-FE69-454D-EC12-F2B304DFB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237DEA-1DC3-551D-F7EC-14E735BAD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FE8253-CCF0-F908-822C-43D74EA60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35DD8F-A2A4-B7C3-2061-28C7842D7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8247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B4F62-AB09-9CB4-1A70-4885F275D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2BABA-66B9-9238-2222-1DB0F4D5C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4B5CC5-F988-D3C1-AFC0-E248153E4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ED3DB0-E154-1511-F0A6-88ED203C58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0E1B21-E40B-E3F4-F408-39D24919BF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536482-E8CC-82AE-78B2-40D438926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70F58D-4060-FAB2-3F22-15879CBF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364054-DDC8-7ABF-8747-DA87750E5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508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E83BB-0E06-5722-AF6C-63979399E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6AF9A2-1D49-E19F-CEDE-9F9B40CB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D71A94-1D94-D971-7EA4-0EB3B4D4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22D8E-4EB7-5678-9026-ADAC0BCBA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43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775983-E2BB-8B84-D673-C4A41E22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0C4891-ABB7-3DB8-B7CE-A055884D1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F21E-6949-7035-03FD-3382F9F73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9246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79B7B-9D3B-9E52-680C-18629BD3B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351F0-921F-ED55-E68E-B4D98EEBE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7B91FB-7FDF-4E26-DD53-A625DDF5C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F7311-9F0F-CB43-4BD1-D6C406CAF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98067-5286-8F3D-8762-36AFFCED5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D1C4-295B-0B47-0345-7462FC2A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2939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79654-4AEE-5085-680A-D1D8F03E4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EB53A3-8B33-0E63-4A69-7BC59FA29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FFCD2F-F48B-A895-28E7-C33ADC1E0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FED2B6-6B28-3236-83EC-716B8F9E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C1EE2-7607-BB2F-568D-7E7B5D4BF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6EBAF-5A1F-7F9C-6278-DC71E466C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8523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ABB65-305F-00D4-3D82-C05DBDD37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D2E62-E4C0-D9AA-CC0D-5CBAADF2C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54408A-B057-6020-E455-1345E4BDE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AFA544-128C-436C-54F7-A4EDAAB78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31FB9-534D-80AA-264B-7CFC7A88A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6798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F8CBDF-0F4B-90FF-CACA-F9D0CDA9F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6E025-3ACC-C48B-A057-210A9C8B18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F309D-62A5-8601-3817-937C8F680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A1519-CEAA-6F0F-98DF-020B1EAB4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EA379-B92F-1013-4263-AE28F087A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43465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EFEE7-540D-0692-BCBA-0CAE2A9F5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42C16-0FD3-4A3D-41CE-15A6D7781D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2901-C610-7A84-0AAE-E6968BE23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8D616-D55D-4F4C-B349-08CCFC2BD0C1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53D85-18B5-A9E6-8268-66342871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F94B2-2027-2FC8-0AD2-CD85FFBB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3803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1D819-E929-67BC-1076-B6E1C47C4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C8DAE-E165-DC64-A433-3C484F14C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EACC5-6BC4-773D-1BAA-7E36A49C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3EC6-FDFF-4A08-8030-AC2E9DA525EF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95732-0293-72AB-4C5F-DAAC3408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4252B-43D9-6571-F206-5E9D3F835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94143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C241-3086-ED63-2422-C5CA0D03B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020374-40D0-D85D-0C30-7D4B42101D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23A7A7-73FD-9143-FB38-A1C2EF28D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A66E6-F9DA-4637-8D93-7A072E351584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8846C-F075-AA12-EF96-C839287D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5D146-9BA9-9D76-D2E1-B84443897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596110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1706E-923B-C94F-B387-D1C93BF52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DF8D0-A984-5062-1BCC-6AAD63F9D1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AAA52-3F86-FE5A-EC9E-2BD7CAC1A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701769-7BA1-CC3E-4513-15EC0DF3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24CE3-C7B9-44D8-B7C1-0EB5E6E06953}" type="datetime1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8EEA3-9A8B-E596-4FEB-39271D6BF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A126A-FEDA-2DFA-CA97-35228AD56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59673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B371B-B444-5E59-314F-F052FC8BC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E8F56-B0C3-9F2D-1C2B-6D3FB78D4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0E80A8-9AF8-277E-9C2D-FB424FB66B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38BF13-CEC8-D17C-5BD1-85DBD4469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42C216-03DD-1A53-2667-69035BA5D1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E10D89-E723-5B15-FBDE-D089C2B1E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63322-7BFA-4E83-9B24-BF53093697D0}" type="datetime1">
              <a:rPr lang="en-CA" smtClean="0"/>
              <a:t>2026-09-24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E3649-5569-5DBA-8355-62B4D96AB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8085E-992C-BFB8-B9D4-CAA15307B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34069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D77B8-87F3-4327-B2B0-674E78D43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B5BA88-ADD4-F1D4-2BC4-0507F577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6862-74C5-4C16-982C-63216728BC23}" type="datetime1">
              <a:rPr lang="en-CA" smtClean="0"/>
              <a:t>2026-09-24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AF93A8-05AA-04D3-0884-3C3FCF2B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E42D8-160E-0BFE-A398-27E24D865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54794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E5A818-1FA7-B369-D61C-DD3C4701D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AF1C-B35E-4F16-8518-1CB8CE02B651}" type="datetime1">
              <a:rPr lang="en-CA" smtClean="0"/>
              <a:t>2026-09-24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502ACF-2688-3734-10CE-9A2B7820B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664CA-70D6-3E18-11E7-C1688E787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64011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1FF77-F8F5-3CAF-C79F-4D701ED1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A339-48B1-4CC6-7888-7878B945E9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9F5EA-A67F-B3F2-945B-6E43853B42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C7845-B760-EE66-76CF-E60B3A77D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9A485-9CDD-4324-A703-8610817C24E8}" type="datetime1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9A762-DFF5-5575-2CEA-650F5913C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4BD6A-7FE3-F6B2-395D-B8E004925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23065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8C64-3B34-E7E6-966A-6C78E3C9C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6AFC8-6CAB-1686-287D-9274E4406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8D01B9-4412-CF09-A482-EA8AEFB19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54BD5-A371-E87F-9859-9DC0AB70E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FB822-ED43-4AE7-A970-C788FDF4EEA0}" type="datetime1">
              <a:rPr lang="en-CA" smtClean="0"/>
              <a:t>2026-09-24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C41256-420C-0C18-6CCE-0D59A07C3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3397-29A1-DB9E-4F33-AAA517325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79234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10AED-EB3A-229F-17EC-C6A6D70FC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724ADF-DE1B-DAA7-45B5-C5E48975B2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5B96C-0BF2-1A20-833D-849E7883F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CF2D2-2AA6-46CA-8CCE-921AE2707189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3186D-AB63-B0B4-08E0-7E4939141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AE825-1A37-B779-9ADC-F3B2836AC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029649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CE174-EC46-C389-2D6C-359D0986D8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9E9F28-0D48-389A-76E7-DDB617B86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E4852-DBE9-C516-F120-D46D57E32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C279E-ABA1-43C4-98D8-6B6279275EB6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25AC5-2A23-196A-FB4C-8FAD3BB58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315C0-8A8E-43FD-D9A1-89B5AA931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525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F2B36-BACD-F5E5-F60E-EA317D37B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012F7-08EA-77A0-85DB-E5CE6C65C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00D33-54B7-EA8E-BE88-04FC1D2D8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0D5CAE-68D3-4B91-821A-DEAE1922E6D7}" type="datetimeFigureOut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E7ADB-0AD0-B6AC-9829-6C3205704B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CF1A9-F881-4FF5-8852-1A0974E059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172F98-B487-4B90-A689-212FE7F7386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2976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AF32A-05A7-F938-6A1F-B7EA4E0EF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08A75-136F-EA2B-62E5-CF92B012F3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193BE-9E78-093F-DA8E-8A26E20F72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DB3CCA-5A7C-4600-9A10-F943E3B2DBB6}" type="datetime1">
              <a:rPr lang="en-CA" smtClean="0"/>
              <a:t>2026-09-24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2DF9F-832D-8CE6-B2DC-81C77F352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5BAA0-4AB1-2CC0-0203-F1285A234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09DA5E-1032-4C12-A38F-44C21E912A0F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774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mage by wirestock on Freepik&#10;">
            <a:extLst>
              <a:ext uri="{FF2B5EF4-FFF2-40B4-BE49-F238E27FC236}">
                <a16:creationId xmlns:a16="http://schemas.microsoft.com/office/drawing/2014/main" id="{2F7E4365-E3BD-763E-57B2-2513A2B0761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77" b="12381"/>
          <a:stretch/>
        </p:blipFill>
        <p:spPr>
          <a:xfrm>
            <a:off x="-410798" y="-51564"/>
            <a:ext cx="13303981" cy="6961128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D1DE6E-A200-BD21-17BE-7CB8D2B98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6156" y="1979893"/>
            <a:ext cx="10719683" cy="684635"/>
          </a:xfrm>
        </p:spPr>
        <p:txBody>
          <a:bodyPr>
            <a:noAutofit/>
          </a:bodyPr>
          <a:lstStyle/>
          <a:p>
            <a:r>
              <a:rPr lang="en-CA" sz="5400" dirty="0">
                <a:effectLst>
                  <a:outerShdw blurRad="50800" dist="38100" dir="2700000" algn="tl" rotWithShape="0">
                    <a:schemeClr val="tx1">
                      <a:alpha val="40000"/>
                    </a:schemeClr>
                  </a:outerShdw>
                </a:effectLst>
              </a:rPr>
              <a:t>CANOE-transportation backend v2.0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E0D49-0451-B88E-7DA1-5B4B811E6465}"/>
              </a:ext>
            </a:extLst>
          </p:cNvPr>
          <p:cNvSpPr txBox="1"/>
          <p:nvPr/>
        </p:nvSpPr>
        <p:spPr>
          <a:xfrm>
            <a:off x="736156" y="4595690"/>
            <a:ext cx="50238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F. Rashid Zetter-Salcedo</a:t>
            </a:r>
            <a:endParaRPr 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September 24, 2026</a:t>
            </a:r>
          </a:p>
          <a:p>
            <a:endParaRPr lang="en-CA"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D3BEC1-4E2F-3F6F-0A74-4680732D383C}"/>
              </a:ext>
            </a:extLst>
          </p:cNvPr>
          <p:cNvSpPr txBox="1"/>
          <p:nvPr/>
        </p:nvSpPr>
        <p:spPr>
          <a:xfrm>
            <a:off x="0" y="6604084"/>
            <a:ext cx="31055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Background image by </a:t>
            </a:r>
            <a:r>
              <a:rPr lang="en-CA" sz="1050" i="1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wirestock</a:t>
            </a:r>
            <a:r>
              <a:rPr lang="en-CA" sz="105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on freepik.com</a:t>
            </a:r>
          </a:p>
        </p:txBody>
      </p:sp>
      <p:pic>
        <p:nvPicPr>
          <p:cNvPr id="12" name="Picture 11" descr="A beaver with a paddle in the water&#10;&#10;Description automatically generated">
            <a:extLst>
              <a:ext uri="{FF2B5EF4-FFF2-40B4-BE49-F238E27FC236}">
                <a16:creationId xmlns:a16="http://schemas.microsoft.com/office/drawing/2014/main" id="{0035EEC1-161F-D92E-726C-B1D3934301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6624" y="5863770"/>
            <a:ext cx="1238430" cy="84522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732F762-5674-5C44-06E1-4E51A8FD33E9}"/>
              </a:ext>
            </a:extLst>
          </p:cNvPr>
          <p:cNvSpPr txBox="1">
            <a:spLocks/>
          </p:cNvSpPr>
          <p:nvPr/>
        </p:nvSpPr>
        <p:spPr>
          <a:xfrm>
            <a:off x="935947" y="2664528"/>
            <a:ext cx="10320103" cy="60339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Refactored MVP status update</a:t>
            </a:r>
          </a:p>
        </p:txBody>
      </p:sp>
    </p:spTree>
    <p:extLst>
      <p:ext uri="{BB962C8B-B14F-4D97-AF65-F5344CB8AC3E}">
        <p14:creationId xmlns:p14="http://schemas.microsoft.com/office/powerpoint/2010/main" val="2267368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608" y="341932"/>
            <a:ext cx="4606766" cy="624577"/>
          </a:xfrm>
        </p:spPr>
        <p:txBody>
          <a:bodyPr>
            <a:noAutofit/>
          </a:bodyPr>
          <a:lstStyle/>
          <a:p>
            <a:r>
              <a:rPr lang="en-CA" sz="4000" dirty="0"/>
              <a:t>Agenda (tentative)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2</a:t>
            </a:fld>
            <a:endParaRPr lang="en-CA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3833FE-0210-5D66-5AD8-5521A5B6C112}"/>
              </a:ext>
            </a:extLst>
          </p:cNvPr>
          <p:cNvSpPr txBox="1">
            <a:spLocks/>
          </p:cNvSpPr>
          <p:nvPr/>
        </p:nvSpPr>
        <p:spPr>
          <a:xfrm>
            <a:off x="2672005" y="1187631"/>
            <a:ext cx="7627935" cy="52680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CA" sz="2400" dirty="0"/>
              <a:t>Context – Legacy backend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v2.0 backend at a glance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Key improvements/distinctions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Existing capacity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Demand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Annual capacity factor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Lifetime and survival curves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Efficiency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Investment cost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Variable cost</a:t>
            </a:r>
          </a:p>
          <a:p>
            <a:pPr lvl="1">
              <a:lnSpc>
                <a:spcPct val="100000"/>
              </a:lnSpc>
            </a:pPr>
            <a:r>
              <a:rPr lang="en-CA" sz="1800" dirty="0"/>
              <a:t>EV charger parameters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Transparent assumptions/rules</a:t>
            </a:r>
          </a:p>
          <a:p>
            <a:pPr>
              <a:lnSpc>
                <a:spcPct val="100000"/>
              </a:lnSpc>
            </a:pPr>
            <a:r>
              <a:rPr lang="en-CA" sz="2400" dirty="0"/>
              <a:t>Next steps</a:t>
            </a:r>
          </a:p>
          <a:p>
            <a:pPr>
              <a:lnSpc>
                <a:spcPct val="100000"/>
              </a:lnSpc>
            </a:pP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238952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854F5-B69C-82C0-9C11-BA7E58E0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0822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09DA5E-1032-4C12-A38F-44C21E912A0F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D29118-2883-C316-67FF-9CC93EF74423}"/>
              </a:ext>
            </a:extLst>
          </p:cNvPr>
          <p:cNvSpPr txBox="1"/>
          <p:nvPr/>
        </p:nvSpPr>
        <p:spPr>
          <a:xfrm>
            <a:off x="8594323" y="59611"/>
            <a:ext cx="35942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Overview of sector detail: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160 technologies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+5,000 parameters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annual demands (NRCan)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C38B3A-CA3E-E0C0-34CD-0A02703F2D62}"/>
              </a:ext>
            </a:extLst>
          </p:cNvPr>
          <p:cNvSpPr txBox="1"/>
          <p:nvPr/>
        </p:nvSpPr>
        <p:spPr>
          <a:xfrm>
            <a:off x="242771" y="693182"/>
            <a:ext cx="269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(Old simplified</a:t>
            </a:r>
            <a:r>
              <a:rPr kumimoji="0" lang="en-CA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diagram</a:t>
            </a: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EAB7B56-29EC-CD7F-1123-AFE35B96BC25}"/>
              </a:ext>
            </a:extLst>
          </p:cNvPr>
          <p:cNvSpPr txBox="1">
            <a:spLocks/>
          </p:cNvSpPr>
          <p:nvPr/>
        </p:nvSpPr>
        <p:spPr>
          <a:xfrm>
            <a:off x="195285" y="110406"/>
            <a:ext cx="3700107" cy="747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Transportation</a:t>
            </a:r>
          </a:p>
        </p:txBody>
      </p:sp>
      <p:pic>
        <p:nvPicPr>
          <p:cNvPr id="11" name="Graphic 10" descr="Periodic Graph outline">
            <a:extLst>
              <a:ext uri="{FF2B5EF4-FFF2-40B4-BE49-F238E27FC236}">
                <a16:creationId xmlns:a16="http://schemas.microsoft.com/office/drawing/2014/main" id="{90C17188-9FF0-8497-D242-D682D21E34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485" y="2990818"/>
            <a:ext cx="484454" cy="48445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E1431AD-E9C6-523E-AC07-2FEF587133C3}"/>
              </a:ext>
            </a:extLst>
          </p:cNvPr>
          <p:cNvSpPr/>
          <p:nvPr/>
        </p:nvSpPr>
        <p:spPr>
          <a:xfrm>
            <a:off x="6792088" y="3835465"/>
            <a:ext cx="946097" cy="5238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2b-7)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077CA8-52E9-956D-92FC-B1B67FB6B862}"/>
              </a:ext>
            </a:extLst>
          </p:cNvPr>
          <p:cNvSpPr/>
          <p:nvPr/>
        </p:nvSpPr>
        <p:spPr>
          <a:xfrm>
            <a:off x="6462153" y="3782118"/>
            <a:ext cx="1649960" cy="64848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605387-33F5-F22E-7697-8D71E2BD09BE}"/>
              </a:ext>
            </a:extLst>
          </p:cNvPr>
          <p:cNvSpPr txBox="1"/>
          <p:nvPr/>
        </p:nvSpPr>
        <p:spPr>
          <a:xfrm>
            <a:off x="6243621" y="3475272"/>
            <a:ext cx="1853270" cy="2705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Medium-duty (10 techs)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1D334F-DB6A-0F91-EB38-F986879CE413}"/>
              </a:ext>
            </a:extLst>
          </p:cNvPr>
          <p:cNvSpPr/>
          <p:nvPr/>
        </p:nvSpPr>
        <p:spPr>
          <a:xfrm>
            <a:off x="6208481" y="4883045"/>
            <a:ext cx="99631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8)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29E148-3F44-1ADB-808D-4D4B5339B348}"/>
              </a:ext>
            </a:extLst>
          </p:cNvPr>
          <p:cNvSpPr/>
          <p:nvPr/>
        </p:nvSpPr>
        <p:spPr>
          <a:xfrm>
            <a:off x="5736582" y="5538510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(Transit, school, coach)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4AE5F0-4A58-87E9-D13E-B2D1EDF9E7FE}"/>
              </a:ext>
            </a:extLst>
          </p:cNvPr>
          <p:cNvSpPr/>
          <p:nvPr/>
        </p:nvSpPr>
        <p:spPr>
          <a:xfrm>
            <a:off x="7265131" y="4876085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Jet aircraft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5D042A-BAD7-5657-C1CF-30363F6C1B46}"/>
              </a:ext>
            </a:extLst>
          </p:cNvPr>
          <p:cNvSpPr/>
          <p:nvPr/>
        </p:nvSpPr>
        <p:spPr>
          <a:xfrm>
            <a:off x="6868171" y="5538510"/>
            <a:ext cx="88424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Rail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9457ED-7FF5-E232-67D3-0F3075D53ACE}"/>
              </a:ext>
            </a:extLst>
          </p:cNvPr>
          <p:cNvSpPr/>
          <p:nvPr/>
        </p:nvSpPr>
        <p:spPr>
          <a:xfrm>
            <a:off x="7800799" y="5538510"/>
            <a:ext cx="877278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Marine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(freight)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8D590C1-6C4A-4EA1-5A46-4F52C752D5CD}"/>
              </a:ext>
            </a:extLst>
          </p:cNvPr>
          <p:cNvSpPr/>
          <p:nvPr/>
        </p:nvSpPr>
        <p:spPr>
          <a:xfrm>
            <a:off x="5679182" y="4796744"/>
            <a:ext cx="3067444" cy="141637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968746-2352-61FA-1C83-D557AD4365AA}"/>
              </a:ext>
            </a:extLst>
          </p:cNvPr>
          <p:cNvSpPr txBox="1"/>
          <p:nvPr/>
        </p:nvSpPr>
        <p:spPr>
          <a:xfrm>
            <a:off x="5991581" y="4474983"/>
            <a:ext cx="2335237" cy="3068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Heavy-duty (57 technologies)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25AC234-FBD5-9C91-F9B0-4342268ED168}"/>
              </a:ext>
            </a:extLst>
          </p:cNvPr>
          <p:cNvCxnSpPr>
            <a:cxnSpLocks/>
            <a:stCxn id="88" idx="3"/>
          </p:cNvCxnSpPr>
          <p:nvPr/>
        </p:nvCxnSpPr>
        <p:spPr>
          <a:xfrm flipV="1">
            <a:off x="5022214" y="3226079"/>
            <a:ext cx="1358595" cy="910979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50E2912-55B3-797A-FEDF-41A935D9DD5C}"/>
              </a:ext>
            </a:extLst>
          </p:cNvPr>
          <p:cNvSpPr txBox="1"/>
          <p:nvPr/>
        </p:nvSpPr>
        <p:spPr>
          <a:xfrm>
            <a:off x="6168891" y="3196397"/>
            <a:ext cx="15835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1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Hourly charging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40A8469-08C1-7360-E763-958D3085E8EC}"/>
              </a:ext>
            </a:extLst>
          </p:cNvPr>
          <p:cNvCxnSpPr>
            <a:cxnSpLocks/>
            <a:stCxn id="99" idx="3"/>
            <a:endCxn id="23" idx="1"/>
          </p:cNvCxnSpPr>
          <p:nvPr/>
        </p:nvCxnSpPr>
        <p:spPr>
          <a:xfrm>
            <a:off x="5260202" y="3808826"/>
            <a:ext cx="1201951" cy="297535"/>
          </a:xfrm>
          <a:prstGeom prst="bentConnector3">
            <a:avLst>
              <a:gd name="adj1" fmla="val 59712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0E717B0-7B77-2A95-53A6-C21E951E8114}"/>
              </a:ext>
            </a:extLst>
          </p:cNvPr>
          <p:cNvSpPr txBox="1"/>
          <p:nvPr/>
        </p:nvSpPr>
        <p:spPr>
          <a:xfrm>
            <a:off x="9618653" y="2456182"/>
            <a:ext cx="13662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Passenger-km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8EB6F9-6DD1-35D0-4C76-9BBBD14E370A}"/>
              </a:ext>
            </a:extLst>
          </p:cNvPr>
          <p:cNvSpPr txBox="1"/>
          <p:nvPr/>
        </p:nvSpPr>
        <p:spPr>
          <a:xfrm>
            <a:off x="9653509" y="2734545"/>
            <a:ext cx="10385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Motorcycle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Car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Transit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School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Intercity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  <a:endParaRPr kumimoji="0" lang="en-CA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05CCE-61A8-D332-D10E-E9E8A5A62F28}"/>
              </a:ext>
            </a:extLst>
          </p:cNvPr>
          <p:cNvSpPr txBox="1"/>
          <p:nvPr/>
        </p:nvSpPr>
        <p:spPr>
          <a:xfrm>
            <a:off x="9624775" y="4275186"/>
            <a:ext cx="1126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Tonne-km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75D847-C6C4-F4B1-F140-78ADF4EF6889}"/>
              </a:ext>
            </a:extLst>
          </p:cNvPr>
          <p:cNvSpPr txBox="1"/>
          <p:nvPr/>
        </p:nvSpPr>
        <p:spPr>
          <a:xfrm>
            <a:off x="9653509" y="4543908"/>
            <a:ext cx="15650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Medium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Heavy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Marine vessel</a:t>
            </a:r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5A943763-5A49-D350-4417-6B5F084A5A76}"/>
              </a:ext>
            </a:extLst>
          </p:cNvPr>
          <p:cNvCxnSpPr>
            <a:cxnSpLocks/>
            <a:stCxn id="62" idx="3"/>
            <a:endCxn id="75" idx="0"/>
          </p:cNvCxnSpPr>
          <p:nvPr/>
        </p:nvCxnSpPr>
        <p:spPr>
          <a:xfrm>
            <a:off x="8318924" y="2678448"/>
            <a:ext cx="608214" cy="116643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Left Brace 55">
            <a:extLst>
              <a:ext uri="{FF2B5EF4-FFF2-40B4-BE49-F238E27FC236}">
                <a16:creationId xmlns:a16="http://schemas.microsoft.com/office/drawing/2014/main" id="{715E0AB6-D01D-4DD4-4A15-A1066AE78091}"/>
              </a:ext>
            </a:extLst>
          </p:cNvPr>
          <p:cNvSpPr/>
          <p:nvPr/>
        </p:nvSpPr>
        <p:spPr>
          <a:xfrm>
            <a:off x="9493400" y="2468483"/>
            <a:ext cx="290643" cy="3275753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116C2C4-07DA-C356-1AFF-C8C1101071CD}"/>
              </a:ext>
            </a:extLst>
          </p:cNvPr>
          <p:cNvSpPr/>
          <p:nvPr/>
        </p:nvSpPr>
        <p:spPr>
          <a:xfrm>
            <a:off x="6600584" y="2442989"/>
            <a:ext cx="502875" cy="37927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640479-3638-87FB-9CEC-DE513B82CB13}"/>
              </a:ext>
            </a:extLst>
          </p:cNvPr>
          <p:cNvSpPr/>
          <p:nvPr/>
        </p:nvSpPr>
        <p:spPr>
          <a:xfrm>
            <a:off x="7161316" y="2438395"/>
            <a:ext cx="821943" cy="4869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1-2)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D59392-066E-EA40-D8E3-FD901923B2D4}"/>
              </a:ext>
            </a:extLst>
          </p:cNvPr>
          <p:cNvSpPr txBox="1"/>
          <p:nvPr/>
        </p:nvSpPr>
        <p:spPr>
          <a:xfrm>
            <a:off x="6106885" y="2051292"/>
            <a:ext cx="2152853" cy="275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Light-duty (54 technologies)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96A927D-3527-1A20-2274-6E314179CBA6}"/>
              </a:ext>
            </a:extLst>
          </p:cNvPr>
          <p:cNvSpPr/>
          <p:nvPr/>
        </p:nvSpPr>
        <p:spPr>
          <a:xfrm>
            <a:off x="6382135" y="2372489"/>
            <a:ext cx="1936789" cy="61191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CD9C4FF6-A594-F435-2B66-847218D235C8}"/>
              </a:ext>
            </a:extLst>
          </p:cNvPr>
          <p:cNvCxnSpPr>
            <a:cxnSpLocks/>
            <a:stCxn id="99" idx="3"/>
            <a:endCxn id="37" idx="1"/>
          </p:cNvCxnSpPr>
          <p:nvPr/>
        </p:nvCxnSpPr>
        <p:spPr>
          <a:xfrm>
            <a:off x="5260202" y="3808826"/>
            <a:ext cx="418980" cy="1696106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8F56A1A4-7C52-7505-E633-068D907796D3}"/>
              </a:ext>
            </a:extLst>
          </p:cNvPr>
          <p:cNvCxnSpPr>
            <a:cxnSpLocks/>
            <a:stCxn id="99" idx="3"/>
            <a:endCxn id="62" idx="1"/>
          </p:cNvCxnSpPr>
          <p:nvPr/>
        </p:nvCxnSpPr>
        <p:spPr>
          <a:xfrm flipV="1">
            <a:off x="5260202" y="2678448"/>
            <a:ext cx="1121933" cy="1130378"/>
          </a:xfrm>
          <a:prstGeom prst="bentConnector3">
            <a:avLst>
              <a:gd name="adj1" fmla="val 63873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A86C2F8-B6C9-6018-9DE0-9A787E3BE83A}"/>
              </a:ext>
            </a:extLst>
          </p:cNvPr>
          <p:cNvSpPr/>
          <p:nvPr/>
        </p:nvSpPr>
        <p:spPr>
          <a:xfrm>
            <a:off x="6796733" y="1493789"/>
            <a:ext cx="767627" cy="397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Moto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CC15D91-D188-966F-870D-9744EB79E1E5}"/>
              </a:ext>
            </a:extLst>
          </p:cNvPr>
          <p:cNvSpPr/>
          <p:nvPr/>
        </p:nvSpPr>
        <p:spPr>
          <a:xfrm>
            <a:off x="6690052" y="1409790"/>
            <a:ext cx="987731" cy="54465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C93096-6FA2-9912-A090-7850E2690821}"/>
              </a:ext>
            </a:extLst>
          </p:cNvPr>
          <p:cNvSpPr txBox="1"/>
          <p:nvPr/>
        </p:nvSpPr>
        <p:spPr>
          <a:xfrm>
            <a:off x="6410209" y="865586"/>
            <a:ext cx="1605391" cy="49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2-wheel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(3 technologies)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6332E8D-C37C-5ABF-3ECA-8A6BE418296A}"/>
              </a:ext>
            </a:extLst>
          </p:cNvPr>
          <p:cNvCxnSpPr>
            <a:cxnSpLocks/>
            <a:stCxn id="99" idx="3"/>
            <a:endCxn id="68" idx="1"/>
          </p:cNvCxnSpPr>
          <p:nvPr/>
        </p:nvCxnSpPr>
        <p:spPr>
          <a:xfrm flipV="1">
            <a:off x="5260202" y="1682116"/>
            <a:ext cx="1429850" cy="212671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92A8D4F0-CD59-F9DB-D0CD-3CF78B1316EC}"/>
              </a:ext>
            </a:extLst>
          </p:cNvPr>
          <p:cNvSpPr/>
          <p:nvPr/>
        </p:nvSpPr>
        <p:spPr>
          <a:xfrm>
            <a:off x="2240222" y="2145906"/>
            <a:ext cx="931626" cy="52672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GHGs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D5DE264-B73D-2705-00D7-847B336C3D34}"/>
              </a:ext>
            </a:extLst>
          </p:cNvPr>
          <p:cNvSpPr/>
          <p:nvPr/>
        </p:nvSpPr>
        <p:spPr>
          <a:xfrm>
            <a:off x="8302290" y="3844882"/>
            <a:ext cx="1249696" cy="522956"/>
          </a:xfrm>
          <a:prstGeom prst="ellipse">
            <a:avLst/>
          </a:prstGeom>
          <a:solidFill>
            <a:srgbClr val="E89898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Demand</a:t>
            </a:r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9723E7D-A87F-9D01-A643-F78121480546}"/>
              </a:ext>
            </a:extLst>
          </p:cNvPr>
          <p:cNvCxnSpPr>
            <a:cxnSpLocks/>
            <a:stCxn id="68" idx="3"/>
            <a:endCxn id="75" idx="0"/>
          </p:cNvCxnSpPr>
          <p:nvPr/>
        </p:nvCxnSpPr>
        <p:spPr>
          <a:xfrm>
            <a:off x="7677783" y="1682116"/>
            <a:ext cx="1249355" cy="2162766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D459F5BB-F16A-4B0A-E883-EDCF7F5FCCD2}"/>
              </a:ext>
            </a:extLst>
          </p:cNvPr>
          <p:cNvCxnSpPr>
            <a:cxnSpLocks/>
            <a:stCxn id="37" idx="3"/>
            <a:endCxn id="75" idx="4"/>
          </p:cNvCxnSpPr>
          <p:nvPr/>
        </p:nvCxnSpPr>
        <p:spPr>
          <a:xfrm flipV="1">
            <a:off x="8746626" y="4367838"/>
            <a:ext cx="180512" cy="113709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4DC8E3E-6F01-DFF0-B378-FBE922AEC880}"/>
              </a:ext>
            </a:extLst>
          </p:cNvPr>
          <p:cNvCxnSpPr>
            <a:cxnSpLocks/>
            <a:stCxn id="23" idx="3"/>
            <a:endCxn id="75" idx="2"/>
          </p:cNvCxnSpPr>
          <p:nvPr/>
        </p:nvCxnSpPr>
        <p:spPr>
          <a:xfrm flipV="1">
            <a:off x="8112113" y="4106360"/>
            <a:ext cx="190177" cy="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5103BFBC-5E41-9EBE-5C12-5BA33E74B9C1}"/>
              </a:ext>
            </a:extLst>
          </p:cNvPr>
          <p:cNvSpPr/>
          <p:nvPr/>
        </p:nvSpPr>
        <p:spPr>
          <a:xfrm>
            <a:off x="1159930" y="1580470"/>
            <a:ext cx="1074873" cy="48695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</a:t>
            </a: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C41C5C8-3288-658A-CEC0-27DA07FBCABD}"/>
              </a:ext>
            </a:extLst>
          </p:cNvPr>
          <p:cNvCxnSpPr>
            <a:cxnSpLocks/>
            <a:endCxn id="74" idx="4"/>
          </p:cNvCxnSpPr>
          <p:nvPr/>
        </p:nvCxnSpPr>
        <p:spPr>
          <a:xfrm flipV="1">
            <a:off x="1697366" y="2672629"/>
            <a:ext cx="1008669" cy="311778"/>
          </a:xfrm>
          <a:prstGeom prst="bentConnector2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8DC59CCD-26A1-5547-1E48-469FE666CA91}"/>
              </a:ext>
            </a:extLst>
          </p:cNvPr>
          <p:cNvSpPr/>
          <p:nvPr/>
        </p:nvSpPr>
        <p:spPr>
          <a:xfrm>
            <a:off x="3738902" y="1735552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GSL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393F909-2F0D-D8E8-25D7-5D5CB5CBF7E6}"/>
              </a:ext>
            </a:extLst>
          </p:cNvPr>
          <p:cNvSpPr/>
          <p:nvPr/>
        </p:nvSpPr>
        <p:spPr>
          <a:xfrm>
            <a:off x="3738902" y="2244326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DSL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8946007-1F8E-0B69-3DAC-158C68E03A57}"/>
              </a:ext>
            </a:extLst>
          </p:cNvPr>
          <p:cNvSpPr/>
          <p:nvPr/>
        </p:nvSpPr>
        <p:spPr>
          <a:xfrm>
            <a:off x="3743632" y="3770650"/>
            <a:ext cx="473682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NG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BDEA281-AFDB-82BD-A007-A34A356704EB}"/>
              </a:ext>
            </a:extLst>
          </p:cNvPr>
          <p:cNvSpPr/>
          <p:nvPr/>
        </p:nvSpPr>
        <p:spPr>
          <a:xfrm>
            <a:off x="3738902" y="2753100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JFL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47E02FD-C9B9-B2AD-FC63-E4F8162BE940}"/>
              </a:ext>
            </a:extLst>
          </p:cNvPr>
          <p:cNvSpPr/>
          <p:nvPr/>
        </p:nvSpPr>
        <p:spPr>
          <a:xfrm>
            <a:off x="4378004" y="2750245"/>
            <a:ext cx="63521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S-JFL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E5C37-3C72-16FC-1FAB-5EDCE37FA3C6}"/>
              </a:ext>
            </a:extLst>
          </p:cNvPr>
          <p:cNvSpPr txBox="1"/>
          <p:nvPr/>
        </p:nvSpPr>
        <p:spPr>
          <a:xfrm>
            <a:off x="3316131" y="1060612"/>
            <a:ext cx="22426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 supply (13 carriers)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F659B2C-FF25-C989-28AC-865731B1E727}"/>
              </a:ext>
            </a:extLst>
          </p:cNvPr>
          <p:cNvSpPr/>
          <p:nvPr/>
        </p:nvSpPr>
        <p:spPr>
          <a:xfrm>
            <a:off x="4449059" y="3938425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ELC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A0BDBDE-7A18-AD18-AF78-6B40977D7A57}"/>
              </a:ext>
            </a:extLst>
          </p:cNvPr>
          <p:cNvSpPr/>
          <p:nvPr/>
        </p:nvSpPr>
        <p:spPr>
          <a:xfrm>
            <a:off x="4070526" y="5423249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CA" sz="16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E0A56095-172C-6471-72B9-B92A127A2274}"/>
              </a:ext>
            </a:extLst>
          </p:cNvPr>
          <p:cNvSpPr/>
          <p:nvPr/>
        </p:nvSpPr>
        <p:spPr>
          <a:xfrm>
            <a:off x="4378004" y="3259078"/>
            <a:ext cx="667773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MDO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4ABB05-8A90-766F-24C1-B5AB611398C4}"/>
              </a:ext>
            </a:extLst>
          </p:cNvPr>
          <p:cNvSpPr/>
          <p:nvPr/>
        </p:nvSpPr>
        <p:spPr>
          <a:xfrm>
            <a:off x="3738902" y="3261875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HFO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AD94758-7259-2D21-5BFA-19CC1B42AF43}"/>
              </a:ext>
            </a:extLst>
          </p:cNvPr>
          <p:cNvSpPr/>
          <p:nvPr/>
        </p:nvSpPr>
        <p:spPr>
          <a:xfrm>
            <a:off x="3681990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SMR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AF59A35-C3A0-4487-44F5-C1231D6C6ACD}"/>
              </a:ext>
            </a:extLst>
          </p:cNvPr>
          <p:cNvSpPr/>
          <p:nvPr/>
        </p:nvSpPr>
        <p:spPr>
          <a:xfrm>
            <a:off x="4440877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F47DAA0-18B4-1EA8-4B22-32DC2444B8C3}"/>
              </a:ext>
            </a:extLst>
          </p:cNvPr>
          <p:cNvSpPr/>
          <p:nvPr/>
        </p:nvSpPr>
        <p:spPr>
          <a:xfrm>
            <a:off x="4378004" y="2241411"/>
            <a:ext cx="65510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RDSL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216AE98-98F9-8C33-F197-522147A9C718}"/>
              </a:ext>
            </a:extLst>
          </p:cNvPr>
          <p:cNvSpPr/>
          <p:nvPr/>
        </p:nvSpPr>
        <p:spPr>
          <a:xfrm>
            <a:off x="4378004" y="1732577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6BCC9A42-4431-0D09-971C-BDED3CE90CD0}"/>
              </a:ext>
            </a:extLst>
          </p:cNvPr>
          <p:cNvSpPr/>
          <p:nvPr/>
        </p:nvSpPr>
        <p:spPr>
          <a:xfrm>
            <a:off x="3460541" y="1409791"/>
            <a:ext cx="1799661" cy="479807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D66E3B4-E4AD-5CB2-35B8-93860F0150EF}"/>
              </a:ext>
            </a:extLst>
          </p:cNvPr>
          <p:cNvCxnSpPr>
            <a:cxnSpLocks/>
            <a:stCxn id="88" idx="2"/>
            <a:endCxn id="96" idx="0"/>
          </p:cNvCxnSpPr>
          <p:nvPr/>
        </p:nvCxnSpPr>
        <p:spPr>
          <a:xfrm>
            <a:off x="4735637" y="4335691"/>
            <a:ext cx="475" cy="2294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AD91F9AD-6A86-FB90-E4F2-F4BF937115AB}"/>
              </a:ext>
            </a:extLst>
          </p:cNvPr>
          <p:cNvCxnSpPr>
            <a:cxnSpLocks/>
            <a:stCxn id="94" idx="2"/>
            <a:endCxn id="90" idx="0"/>
          </p:cNvCxnSpPr>
          <p:nvPr/>
        </p:nvCxnSpPr>
        <p:spPr>
          <a:xfrm rot="16200000" flipH="1">
            <a:off x="4016264" y="5082408"/>
            <a:ext cx="301801" cy="379879"/>
          </a:xfrm>
          <a:prstGeom prst="bentConnector3">
            <a:avLst>
              <a:gd name="adj1" fmla="val 3369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22485862-AE83-E7B1-16D7-75E1CB4ED3A0}"/>
              </a:ext>
            </a:extLst>
          </p:cNvPr>
          <p:cNvCxnSpPr>
            <a:cxnSpLocks/>
            <a:stCxn id="96" idx="2"/>
            <a:endCxn id="90" idx="0"/>
          </p:cNvCxnSpPr>
          <p:nvPr/>
        </p:nvCxnSpPr>
        <p:spPr>
          <a:xfrm rot="5400000">
            <a:off x="4395708" y="5082844"/>
            <a:ext cx="301801" cy="379008"/>
          </a:xfrm>
          <a:prstGeom prst="bentConnector3">
            <a:avLst>
              <a:gd name="adj1" fmla="val 3417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0F94CDC-5E45-4A95-5A7A-7B9AB2D349FC}"/>
              </a:ext>
            </a:extLst>
          </p:cNvPr>
          <p:cNvSpPr txBox="1"/>
          <p:nvPr/>
        </p:nvSpPr>
        <p:spPr>
          <a:xfrm>
            <a:off x="3864159" y="1454356"/>
            <a:ext cx="9701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Direct import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DFF00F-7C81-1AF2-CB6C-9D47B378DB17}"/>
              </a:ext>
            </a:extLst>
          </p:cNvPr>
          <p:cNvSpPr txBox="1"/>
          <p:nvPr/>
        </p:nvSpPr>
        <p:spPr>
          <a:xfrm>
            <a:off x="3582384" y="5853737"/>
            <a:ext cx="15776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Endogenous production</a:t>
            </a: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89FC35EA-7FD1-D540-B125-30D7DB823555}"/>
              </a:ext>
            </a:extLst>
          </p:cNvPr>
          <p:cNvSpPr/>
          <p:nvPr/>
        </p:nvSpPr>
        <p:spPr>
          <a:xfrm>
            <a:off x="3582466" y="3826609"/>
            <a:ext cx="1533525" cy="2271713"/>
          </a:xfrm>
          <a:custGeom>
            <a:avLst/>
            <a:gdLst>
              <a:gd name="connsiteX0" fmla="*/ 0 w 1533525"/>
              <a:gd name="connsiteY0" fmla="*/ 2271713 h 2271713"/>
              <a:gd name="connsiteX1" fmla="*/ 0 w 1533525"/>
              <a:gd name="connsiteY1" fmla="*/ 585788 h 2271713"/>
              <a:gd name="connsiteX2" fmla="*/ 776288 w 1533525"/>
              <a:gd name="connsiteY2" fmla="*/ 585788 h 2271713"/>
              <a:gd name="connsiteX3" fmla="*/ 776288 w 1533525"/>
              <a:gd name="connsiteY3" fmla="*/ 0 h 2271713"/>
              <a:gd name="connsiteX4" fmla="*/ 1533525 w 1533525"/>
              <a:gd name="connsiteY4" fmla="*/ 0 h 2271713"/>
              <a:gd name="connsiteX5" fmla="*/ 1533525 w 1533525"/>
              <a:gd name="connsiteY5" fmla="*/ 2262188 h 2271713"/>
              <a:gd name="connsiteX6" fmla="*/ 0 w 1533525"/>
              <a:gd name="connsiteY6" fmla="*/ 2271713 h 2271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33525" h="2271713">
                <a:moveTo>
                  <a:pt x="0" y="2271713"/>
                </a:moveTo>
                <a:lnTo>
                  <a:pt x="0" y="585788"/>
                </a:lnTo>
                <a:lnTo>
                  <a:pt x="776288" y="585788"/>
                </a:lnTo>
                <a:lnTo>
                  <a:pt x="776288" y="0"/>
                </a:lnTo>
                <a:lnTo>
                  <a:pt x="1533525" y="0"/>
                </a:lnTo>
                <a:lnTo>
                  <a:pt x="1533525" y="2262188"/>
                </a:lnTo>
                <a:lnTo>
                  <a:pt x="0" y="2271713"/>
                </a:lnTo>
                <a:close/>
              </a:path>
            </a:pathLst>
          </a:custGeom>
          <a:noFill/>
          <a:ln w="19050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5FAB4960-DD81-798B-9FC5-490EC896C5E6}"/>
              </a:ext>
            </a:extLst>
          </p:cNvPr>
          <p:cNvCxnSpPr>
            <a:cxnSpLocks/>
            <a:stCxn id="79" idx="4"/>
            <a:endCxn id="99" idx="1"/>
          </p:cNvCxnSpPr>
          <p:nvPr/>
        </p:nvCxnSpPr>
        <p:spPr>
          <a:xfrm rot="16200000" flipH="1">
            <a:off x="1708251" y="2056536"/>
            <a:ext cx="1741406" cy="1763174"/>
          </a:xfrm>
          <a:prstGeom prst="bentConnector2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29A7CCB-52AC-1017-325F-1CEF518AE20A}"/>
              </a:ext>
            </a:extLst>
          </p:cNvPr>
          <p:cNvSpPr/>
          <p:nvPr/>
        </p:nvSpPr>
        <p:spPr>
          <a:xfrm>
            <a:off x="260039" y="4628901"/>
            <a:ext cx="613422" cy="4663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Tech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D08B53A-EA92-48FF-BDC4-27C62228B4BA}"/>
              </a:ext>
            </a:extLst>
          </p:cNvPr>
          <p:cNvSpPr txBox="1"/>
          <p:nvPr/>
        </p:nvSpPr>
        <p:spPr>
          <a:xfrm>
            <a:off x="1123049" y="4578702"/>
            <a:ext cx="1332870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Existing capacity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Efficiency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Lifetime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Investment costs</a:t>
            </a:r>
            <a:b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Maintenance costs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(vehicle-cycle)</a:t>
            </a:r>
          </a:p>
        </p:txBody>
      </p:sp>
      <p:sp>
        <p:nvSpPr>
          <p:cNvPr id="111" name="Left Brace 110">
            <a:extLst>
              <a:ext uri="{FF2B5EF4-FFF2-40B4-BE49-F238E27FC236}">
                <a16:creationId xmlns:a16="http://schemas.microsoft.com/office/drawing/2014/main" id="{92A3B733-B7B3-B2BA-9D32-E6D6C8947098}"/>
              </a:ext>
            </a:extLst>
          </p:cNvPr>
          <p:cNvSpPr/>
          <p:nvPr/>
        </p:nvSpPr>
        <p:spPr>
          <a:xfrm>
            <a:off x="1034204" y="4573252"/>
            <a:ext cx="190603" cy="1153311"/>
          </a:xfrm>
          <a:prstGeom prst="leftBrace">
            <a:avLst/>
          </a:prstGeom>
          <a:noFill/>
          <a:ln w="1270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B49044C-8481-F413-8311-72CE99B63902}"/>
              </a:ext>
            </a:extLst>
          </p:cNvPr>
          <p:cNvSpPr/>
          <p:nvPr/>
        </p:nvSpPr>
        <p:spPr>
          <a:xfrm>
            <a:off x="263279" y="5864693"/>
            <a:ext cx="613422" cy="4663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92729A0-0F40-3224-8456-7D77F2257B6E}"/>
              </a:ext>
            </a:extLst>
          </p:cNvPr>
          <p:cNvSpPr txBox="1"/>
          <p:nvPr/>
        </p:nvSpPr>
        <p:spPr>
          <a:xfrm>
            <a:off x="1117442" y="5940750"/>
            <a:ext cx="11201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Fuel prices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Blend ratio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(fuel-cycle)</a:t>
            </a:r>
          </a:p>
        </p:txBody>
      </p:sp>
      <p:sp>
        <p:nvSpPr>
          <p:cNvPr id="116" name="Left Brace 115">
            <a:extLst>
              <a:ext uri="{FF2B5EF4-FFF2-40B4-BE49-F238E27FC236}">
                <a16:creationId xmlns:a16="http://schemas.microsoft.com/office/drawing/2014/main" id="{CEAA3136-180E-86CD-046C-2196461CA069}"/>
              </a:ext>
            </a:extLst>
          </p:cNvPr>
          <p:cNvSpPr/>
          <p:nvPr/>
        </p:nvSpPr>
        <p:spPr>
          <a:xfrm>
            <a:off x="1056902" y="5925172"/>
            <a:ext cx="165469" cy="622821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46D92B8-658C-3044-223E-B9A248D634F2}"/>
              </a:ext>
            </a:extLst>
          </p:cNvPr>
          <p:cNvSpPr txBox="1"/>
          <p:nvPr/>
        </p:nvSpPr>
        <p:spPr>
          <a:xfrm>
            <a:off x="145329" y="4214889"/>
            <a:ext cx="18986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 indexing:</a:t>
            </a: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8DA8D76-8B3A-303A-D118-A7E5A416EACD}"/>
              </a:ext>
            </a:extLst>
          </p:cNvPr>
          <p:cNvSpPr/>
          <p:nvPr/>
        </p:nvSpPr>
        <p:spPr>
          <a:xfrm>
            <a:off x="3577704" y="1480284"/>
            <a:ext cx="1543050" cy="2776538"/>
          </a:xfrm>
          <a:custGeom>
            <a:avLst/>
            <a:gdLst>
              <a:gd name="connsiteX0" fmla="*/ 0 w 1543050"/>
              <a:gd name="connsiteY0" fmla="*/ 2790825 h 2790825"/>
              <a:gd name="connsiteX1" fmla="*/ 0 w 1543050"/>
              <a:gd name="connsiteY1" fmla="*/ 0 h 2790825"/>
              <a:gd name="connsiteX2" fmla="*/ 1543050 w 1543050"/>
              <a:gd name="connsiteY2" fmla="*/ 0 h 2790825"/>
              <a:gd name="connsiteX3" fmla="*/ 1543050 w 1543050"/>
              <a:gd name="connsiteY3" fmla="*/ 2266950 h 2790825"/>
              <a:gd name="connsiteX4" fmla="*/ 728662 w 1543050"/>
              <a:gd name="connsiteY4" fmla="*/ 2266950 h 2790825"/>
              <a:gd name="connsiteX5" fmla="*/ 714375 w 1543050"/>
              <a:gd name="connsiteY5" fmla="*/ 2266950 h 2790825"/>
              <a:gd name="connsiteX6" fmla="*/ 714375 w 1543050"/>
              <a:gd name="connsiteY6" fmla="*/ 2776538 h 2790825"/>
              <a:gd name="connsiteX7" fmla="*/ 0 w 1543050"/>
              <a:gd name="connsiteY7" fmla="*/ 2790825 h 2790825"/>
              <a:gd name="connsiteX0" fmla="*/ 0 w 1543050"/>
              <a:gd name="connsiteY0" fmla="*/ 2776538 h 2776538"/>
              <a:gd name="connsiteX1" fmla="*/ 0 w 1543050"/>
              <a:gd name="connsiteY1" fmla="*/ 0 h 2776538"/>
              <a:gd name="connsiteX2" fmla="*/ 1543050 w 1543050"/>
              <a:gd name="connsiteY2" fmla="*/ 0 h 2776538"/>
              <a:gd name="connsiteX3" fmla="*/ 1543050 w 1543050"/>
              <a:gd name="connsiteY3" fmla="*/ 2266950 h 2776538"/>
              <a:gd name="connsiteX4" fmla="*/ 728662 w 1543050"/>
              <a:gd name="connsiteY4" fmla="*/ 2266950 h 2776538"/>
              <a:gd name="connsiteX5" fmla="*/ 714375 w 1543050"/>
              <a:gd name="connsiteY5" fmla="*/ 2266950 h 2776538"/>
              <a:gd name="connsiteX6" fmla="*/ 714375 w 1543050"/>
              <a:gd name="connsiteY6" fmla="*/ 2776538 h 2776538"/>
              <a:gd name="connsiteX7" fmla="*/ 0 w 1543050"/>
              <a:gd name="connsiteY7" fmla="*/ 2776538 h 2776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3050" h="2776538">
                <a:moveTo>
                  <a:pt x="0" y="2776538"/>
                </a:moveTo>
                <a:lnTo>
                  <a:pt x="0" y="0"/>
                </a:lnTo>
                <a:lnTo>
                  <a:pt x="1543050" y="0"/>
                </a:lnTo>
                <a:lnTo>
                  <a:pt x="1543050" y="2266950"/>
                </a:lnTo>
                <a:lnTo>
                  <a:pt x="728662" y="2266950"/>
                </a:lnTo>
                <a:lnTo>
                  <a:pt x="714375" y="2266950"/>
                </a:lnTo>
                <a:lnTo>
                  <a:pt x="714375" y="2776538"/>
                </a:lnTo>
                <a:lnTo>
                  <a:pt x="0" y="2776538"/>
                </a:lnTo>
                <a:close/>
              </a:path>
            </a:pathLst>
          </a:custGeom>
          <a:noFill/>
          <a:ln w="19050">
            <a:solidFill>
              <a:schemeClr val="accent4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1780805E-0D8C-DC3C-B1DB-BC6AD9271AB6}"/>
              </a:ext>
            </a:extLst>
          </p:cNvPr>
          <p:cNvCxnSpPr>
            <a:cxnSpLocks/>
            <a:stCxn id="84" idx="2"/>
            <a:endCxn id="94" idx="0"/>
          </p:cNvCxnSpPr>
          <p:nvPr/>
        </p:nvCxnSpPr>
        <p:spPr>
          <a:xfrm flipH="1">
            <a:off x="3977225" y="4167916"/>
            <a:ext cx="3248" cy="3971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76F6756-0E54-C061-C0C1-B06D3A59EBD3}"/>
              </a:ext>
            </a:extLst>
          </p:cNvPr>
          <p:cNvSpPr txBox="1"/>
          <p:nvPr/>
        </p:nvSpPr>
        <p:spPr>
          <a:xfrm>
            <a:off x="229120" y="5084212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BC306BC-3DB8-ABC3-720F-2A06F2983740}"/>
              </a:ext>
            </a:extLst>
          </p:cNvPr>
          <p:cNvSpPr txBox="1"/>
          <p:nvPr/>
        </p:nvSpPr>
        <p:spPr>
          <a:xfrm>
            <a:off x="413901" y="5088722"/>
            <a:ext cx="7681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vintage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powertrain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EB4F782-131A-E5C7-DCE4-2F7E6D9C8499}"/>
              </a:ext>
            </a:extLst>
          </p:cNvPr>
          <p:cNvSpPr txBox="1"/>
          <p:nvPr/>
        </p:nvSpPr>
        <p:spPr>
          <a:xfrm>
            <a:off x="230948" y="6314719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BD5446C-842B-0083-FCD7-0D1C15B524B2}"/>
              </a:ext>
            </a:extLst>
          </p:cNvPr>
          <p:cNvSpPr txBox="1"/>
          <p:nvPr/>
        </p:nvSpPr>
        <p:spPr>
          <a:xfrm>
            <a:off x="415729" y="6319229"/>
            <a:ext cx="7681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224E1F-B1D6-E900-00C6-0D1D16318006}"/>
              </a:ext>
            </a:extLst>
          </p:cNvPr>
          <p:cNvSpPr txBox="1"/>
          <p:nvPr/>
        </p:nvSpPr>
        <p:spPr>
          <a:xfrm>
            <a:off x="1742964" y="3012285"/>
            <a:ext cx="14991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Fuel-cycle EFs [g CO</a:t>
            </a:r>
            <a:r>
              <a:rPr kumimoji="0" lang="en-CA" sz="1000" b="0" i="0" u="none" strike="noStrike" kern="1200" cap="none" spc="0" normalizeH="0" baseline="-2500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/MJ]</a:t>
            </a:r>
          </a:p>
        </p:txBody>
      </p: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9E942EB2-040E-7AD7-4D08-3EC24A1AD341}"/>
              </a:ext>
            </a:extLst>
          </p:cNvPr>
          <p:cNvCxnSpPr>
            <a:cxnSpLocks/>
            <a:endCxn id="57" idx="2"/>
          </p:cNvCxnSpPr>
          <p:nvPr/>
        </p:nvCxnSpPr>
        <p:spPr>
          <a:xfrm flipV="1">
            <a:off x="6171980" y="2822262"/>
            <a:ext cx="680042" cy="40381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9C6BFFCA-BC0C-9AAF-E942-0250B30C4ECC}"/>
              </a:ext>
            </a:extLst>
          </p:cNvPr>
          <p:cNvCxnSpPr>
            <a:cxnSpLocks/>
            <a:endCxn id="59" idx="2"/>
          </p:cNvCxnSpPr>
          <p:nvPr/>
        </p:nvCxnSpPr>
        <p:spPr>
          <a:xfrm flipV="1">
            <a:off x="6526777" y="2925301"/>
            <a:ext cx="1045511" cy="29915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744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854F5-B69C-82C0-9C11-BA7E58E0E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08224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09DA5E-1032-4C12-A38F-44C21E912A0F}" type="slidenum">
              <a:rPr kumimoji="0" lang="en-C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CA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D29118-2883-C316-67FF-9CC93EF74423}"/>
              </a:ext>
            </a:extLst>
          </p:cNvPr>
          <p:cNvSpPr txBox="1"/>
          <p:nvPr/>
        </p:nvSpPr>
        <p:spPr>
          <a:xfrm>
            <a:off x="8594323" y="59611"/>
            <a:ext cx="35942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Overview of sector detail: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160 technologies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+5,000 parameters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annual demands (NRCan)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C38B3A-CA3E-E0C0-34CD-0A02703F2D62}"/>
              </a:ext>
            </a:extLst>
          </p:cNvPr>
          <p:cNvSpPr txBox="1"/>
          <p:nvPr/>
        </p:nvSpPr>
        <p:spPr>
          <a:xfrm>
            <a:off x="242771" y="693182"/>
            <a:ext cx="269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(Old simplified</a:t>
            </a:r>
            <a:r>
              <a:rPr kumimoji="0" lang="en-CA" sz="2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diagram</a:t>
            </a:r>
            <a:r>
              <a:rPr kumimoji="0" lang="en-CA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EAB7B56-29EC-CD7F-1123-AFE35B96BC25}"/>
              </a:ext>
            </a:extLst>
          </p:cNvPr>
          <p:cNvSpPr txBox="1">
            <a:spLocks/>
          </p:cNvSpPr>
          <p:nvPr/>
        </p:nvSpPr>
        <p:spPr>
          <a:xfrm>
            <a:off x="195285" y="110406"/>
            <a:ext cx="3700107" cy="747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Transportation</a:t>
            </a:r>
          </a:p>
        </p:txBody>
      </p:sp>
      <p:pic>
        <p:nvPicPr>
          <p:cNvPr id="11" name="Graphic 10" descr="Periodic Graph outline">
            <a:extLst>
              <a:ext uri="{FF2B5EF4-FFF2-40B4-BE49-F238E27FC236}">
                <a16:creationId xmlns:a16="http://schemas.microsoft.com/office/drawing/2014/main" id="{90C17188-9FF0-8497-D242-D682D21E34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42485" y="2990818"/>
            <a:ext cx="484454" cy="48445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E1431AD-E9C6-523E-AC07-2FEF587133C3}"/>
              </a:ext>
            </a:extLst>
          </p:cNvPr>
          <p:cNvSpPr/>
          <p:nvPr/>
        </p:nvSpPr>
        <p:spPr>
          <a:xfrm>
            <a:off x="6792088" y="3835465"/>
            <a:ext cx="946097" cy="5238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2b-7)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077CA8-52E9-956D-92FC-B1B67FB6B862}"/>
              </a:ext>
            </a:extLst>
          </p:cNvPr>
          <p:cNvSpPr/>
          <p:nvPr/>
        </p:nvSpPr>
        <p:spPr>
          <a:xfrm>
            <a:off x="6462153" y="3782118"/>
            <a:ext cx="1649960" cy="64848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605387-33F5-F22E-7697-8D71E2BD09BE}"/>
              </a:ext>
            </a:extLst>
          </p:cNvPr>
          <p:cNvSpPr txBox="1"/>
          <p:nvPr/>
        </p:nvSpPr>
        <p:spPr>
          <a:xfrm>
            <a:off x="6243621" y="3475272"/>
            <a:ext cx="1853270" cy="2705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Medium-duty (10 techs)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1D334F-DB6A-0F91-EB38-F986879CE413}"/>
              </a:ext>
            </a:extLst>
          </p:cNvPr>
          <p:cNvSpPr/>
          <p:nvPr/>
        </p:nvSpPr>
        <p:spPr>
          <a:xfrm>
            <a:off x="6208481" y="4883045"/>
            <a:ext cx="99631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8)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29E148-3F44-1ADB-808D-4D4B5339B348}"/>
              </a:ext>
            </a:extLst>
          </p:cNvPr>
          <p:cNvSpPr/>
          <p:nvPr/>
        </p:nvSpPr>
        <p:spPr>
          <a:xfrm>
            <a:off x="5736582" y="5538510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(Transit, school, coach)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4AE5F0-4A58-87E9-D13E-B2D1EDF9E7FE}"/>
              </a:ext>
            </a:extLst>
          </p:cNvPr>
          <p:cNvSpPr/>
          <p:nvPr/>
        </p:nvSpPr>
        <p:spPr>
          <a:xfrm>
            <a:off x="7265131" y="4876085"/>
            <a:ext cx="1071337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Jet aircraft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5D042A-BAD7-5657-C1CF-30363F6C1B46}"/>
              </a:ext>
            </a:extLst>
          </p:cNvPr>
          <p:cNvSpPr/>
          <p:nvPr/>
        </p:nvSpPr>
        <p:spPr>
          <a:xfrm>
            <a:off x="6868171" y="5538510"/>
            <a:ext cx="884244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Rail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(passenger, freight)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9457ED-7FF5-E232-67D3-0F3075D53ACE}"/>
              </a:ext>
            </a:extLst>
          </p:cNvPr>
          <p:cNvSpPr/>
          <p:nvPr/>
        </p:nvSpPr>
        <p:spPr>
          <a:xfrm>
            <a:off x="7800799" y="5538510"/>
            <a:ext cx="877278" cy="5941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Marine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(freight)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8D590C1-6C4A-4EA1-5A46-4F52C752D5CD}"/>
              </a:ext>
            </a:extLst>
          </p:cNvPr>
          <p:cNvSpPr/>
          <p:nvPr/>
        </p:nvSpPr>
        <p:spPr>
          <a:xfrm>
            <a:off x="5679182" y="4796744"/>
            <a:ext cx="3067444" cy="141637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968746-2352-61FA-1C83-D557AD4365AA}"/>
              </a:ext>
            </a:extLst>
          </p:cNvPr>
          <p:cNvSpPr txBox="1"/>
          <p:nvPr/>
        </p:nvSpPr>
        <p:spPr>
          <a:xfrm>
            <a:off x="5991581" y="4474983"/>
            <a:ext cx="2335237" cy="3068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Heavy-duty (57 technologies)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25AC234-FBD5-9C91-F9B0-4342268ED168}"/>
              </a:ext>
            </a:extLst>
          </p:cNvPr>
          <p:cNvCxnSpPr>
            <a:cxnSpLocks/>
            <a:stCxn id="88" idx="3"/>
          </p:cNvCxnSpPr>
          <p:nvPr/>
        </p:nvCxnSpPr>
        <p:spPr>
          <a:xfrm flipV="1">
            <a:off x="5022214" y="3226079"/>
            <a:ext cx="1358595" cy="910979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50E2912-55B3-797A-FEDF-41A935D9DD5C}"/>
              </a:ext>
            </a:extLst>
          </p:cNvPr>
          <p:cNvSpPr txBox="1"/>
          <p:nvPr/>
        </p:nvSpPr>
        <p:spPr>
          <a:xfrm>
            <a:off x="6168891" y="3196397"/>
            <a:ext cx="15835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1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Hourly charging</a:t>
            </a: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40A8469-08C1-7360-E763-958D3085E8EC}"/>
              </a:ext>
            </a:extLst>
          </p:cNvPr>
          <p:cNvCxnSpPr>
            <a:cxnSpLocks/>
            <a:stCxn id="99" idx="3"/>
            <a:endCxn id="23" idx="1"/>
          </p:cNvCxnSpPr>
          <p:nvPr/>
        </p:nvCxnSpPr>
        <p:spPr>
          <a:xfrm>
            <a:off x="5260202" y="3808826"/>
            <a:ext cx="1201951" cy="297535"/>
          </a:xfrm>
          <a:prstGeom prst="bentConnector3">
            <a:avLst>
              <a:gd name="adj1" fmla="val 59712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0E717B0-7B77-2A95-53A6-C21E951E8114}"/>
              </a:ext>
            </a:extLst>
          </p:cNvPr>
          <p:cNvSpPr txBox="1"/>
          <p:nvPr/>
        </p:nvSpPr>
        <p:spPr>
          <a:xfrm>
            <a:off x="9618653" y="2456182"/>
            <a:ext cx="13662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Passenger-km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8EB6F9-6DD1-35D0-4C76-9BBBD14E370A}"/>
              </a:ext>
            </a:extLst>
          </p:cNvPr>
          <p:cNvSpPr txBox="1"/>
          <p:nvPr/>
        </p:nvSpPr>
        <p:spPr>
          <a:xfrm>
            <a:off x="9653509" y="2734545"/>
            <a:ext cx="103855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Motorcycle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Car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Transit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School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Intercity bus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  <a:endParaRPr kumimoji="0" lang="en-CA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AB05CCE-61A8-D332-D10E-E9E8A5A62F28}"/>
              </a:ext>
            </a:extLst>
          </p:cNvPr>
          <p:cNvSpPr txBox="1"/>
          <p:nvPr/>
        </p:nvSpPr>
        <p:spPr>
          <a:xfrm>
            <a:off x="9624775" y="4275186"/>
            <a:ext cx="1126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Tonne-km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75D847-C6C4-F4B1-F140-78ADF4EF6889}"/>
              </a:ext>
            </a:extLst>
          </p:cNvPr>
          <p:cNvSpPr txBox="1"/>
          <p:nvPr/>
        </p:nvSpPr>
        <p:spPr>
          <a:xfrm>
            <a:off x="9653509" y="4543908"/>
            <a:ext cx="15650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Light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Medium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Heavy truck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Jet aircraft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Rail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Marine vessel</a:t>
            </a:r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5A943763-5A49-D350-4417-6B5F084A5A76}"/>
              </a:ext>
            </a:extLst>
          </p:cNvPr>
          <p:cNvCxnSpPr>
            <a:cxnSpLocks/>
            <a:stCxn id="62" idx="3"/>
            <a:endCxn id="75" idx="0"/>
          </p:cNvCxnSpPr>
          <p:nvPr/>
        </p:nvCxnSpPr>
        <p:spPr>
          <a:xfrm>
            <a:off x="8318924" y="2678448"/>
            <a:ext cx="608214" cy="116643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Left Brace 55">
            <a:extLst>
              <a:ext uri="{FF2B5EF4-FFF2-40B4-BE49-F238E27FC236}">
                <a16:creationId xmlns:a16="http://schemas.microsoft.com/office/drawing/2014/main" id="{715E0AB6-D01D-4DD4-4A15-A1066AE78091}"/>
              </a:ext>
            </a:extLst>
          </p:cNvPr>
          <p:cNvSpPr/>
          <p:nvPr/>
        </p:nvSpPr>
        <p:spPr>
          <a:xfrm>
            <a:off x="9493400" y="2468483"/>
            <a:ext cx="290643" cy="3275753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116C2C4-07DA-C356-1AFF-C8C1101071CD}"/>
              </a:ext>
            </a:extLst>
          </p:cNvPr>
          <p:cNvSpPr/>
          <p:nvPr/>
        </p:nvSpPr>
        <p:spPr>
          <a:xfrm>
            <a:off x="6600584" y="2442989"/>
            <a:ext cx="502875" cy="37927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Car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640479-3638-87FB-9CEC-DE513B82CB13}"/>
              </a:ext>
            </a:extLst>
          </p:cNvPr>
          <p:cNvSpPr/>
          <p:nvPr/>
        </p:nvSpPr>
        <p:spPr>
          <a:xfrm>
            <a:off x="7161316" y="2438395"/>
            <a:ext cx="821943" cy="48690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Truck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(Class 1-2)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D59392-066E-EA40-D8E3-FD901923B2D4}"/>
              </a:ext>
            </a:extLst>
          </p:cNvPr>
          <p:cNvSpPr txBox="1"/>
          <p:nvPr/>
        </p:nvSpPr>
        <p:spPr>
          <a:xfrm>
            <a:off x="6106885" y="2051292"/>
            <a:ext cx="2152853" cy="275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Light-duty (54 technologies)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96A927D-3527-1A20-2274-6E314179CBA6}"/>
              </a:ext>
            </a:extLst>
          </p:cNvPr>
          <p:cNvSpPr/>
          <p:nvPr/>
        </p:nvSpPr>
        <p:spPr>
          <a:xfrm>
            <a:off x="6382135" y="2372489"/>
            <a:ext cx="1936789" cy="61191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CD9C4FF6-A594-F435-2B66-847218D235C8}"/>
              </a:ext>
            </a:extLst>
          </p:cNvPr>
          <p:cNvCxnSpPr>
            <a:cxnSpLocks/>
            <a:stCxn id="99" idx="3"/>
            <a:endCxn id="37" idx="1"/>
          </p:cNvCxnSpPr>
          <p:nvPr/>
        </p:nvCxnSpPr>
        <p:spPr>
          <a:xfrm>
            <a:off x="5260202" y="3808826"/>
            <a:ext cx="418980" cy="1696106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8F56A1A4-7C52-7505-E633-068D907796D3}"/>
              </a:ext>
            </a:extLst>
          </p:cNvPr>
          <p:cNvCxnSpPr>
            <a:cxnSpLocks/>
            <a:stCxn id="99" idx="3"/>
            <a:endCxn id="62" idx="1"/>
          </p:cNvCxnSpPr>
          <p:nvPr/>
        </p:nvCxnSpPr>
        <p:spPr>
          <a:xfrm flipV="1">
            <a:off x="5260202" y="2678448"/>
            <a:ext cx="1121933" cy="1130378"/>
          </a:xfrm>
          <a:prstGeom prst="bentConnector3">
            <a:avLst>
              <a:gd name="adj1" fmla="val 63873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A86C2F8-B6C9-6018-9DE0-9A787E3BE83A}"/>
              </a:ext>
            </a:extLst>
          </p:cNvPr>
          <p:cNvSpPr/>
          <p:nvPr/>
        </p:nvSpPr>
        <p:spPr>
          <a:xfrm>
            <a:off x="6796733" y="1493789"/>
            <a:ext cx="767627" cy="3974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Moto</a:t>
            </a: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CC15D91-D188-966F-870D-9744EB79E1E5}"/>
              </a:ext>
            </a:extLst>
          </p:cNvPr>
          <p:cNvSpPr/>
          <p:nvPr/>
        </p:nvSpPr>
        <p:spPr>
          <a:xfrm>
            <a:off x="6690052" y="1409790"/>
            <a:ext cx="987731" cy="54465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C93096-6FA2-9912-A090-7850E2690821}"/>
              </a:ext>
            </a:extLst>
          </p:cNvPr>
          <p:cNvSpPr txBox="1"/>
          <p:nvPr/>
        </p:nvSpPr>
        <p:spPr>
          <a:xfrm>
            <a:off x="6410209" y="865586"/>
            <a:ext cx="1605391" cy="49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2-wheel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(3 technologies)</a:t>
            </a:r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6332E8D-C37C-5ABF-3ECA-8A6BE418296A}"/>
              </a:ext>
            </a:extLst>
          </p:cNvPr>
          <p:cNvCxnSpPr>
            <a:cxnSpLocks/>
            <a:stCxn id="99" idx="3"/>
            <a:endCxn id="68" idx="1"/>
          </p:cNvCxnSpPr>
          <p:nvPr/>
        </p:nvCxnSpPr>
        <p:spPr>
          <a:xfrm flipV="1">
            <a:off x="5260202" y="1682116"/>
            <a:ext cx="1429850" cy="212671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92A8D4F0-CD59-F9DB-D0CD-3CF78B1316EC}"/>
              </a:ext>
            </a:extLst>
          </p:cNvPr>
          <p:cNvSpPr/>
          <p:nvPr/>
        </p:nvSpPr>
        <p:spPr>
          <a:xfrm>
            <a:off x="2240222" y="2145906"/>
            <a:ext cx="931626" cy="52672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GHGs</a:t>
            </a: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ED5DE264-B73D-2705-00D7-847B336C3D34}"/>
              </a:ext>
            </a:extLst>
          </p:cNvPr>
          <p:cNvSpPr/>
          <p:nvPr/>
        </p:nvSpPr>
        <p:spPr>
          <a:xfrm>
            <a:off x="8302290" y="3844882"/>
            <a:ext cx="1249696" cy="522956"/>
          </a:xfrm>
          <a:prstGeom prst="ellipse">
            <a:avLst/>
          </a:prstGeom>
          <a:solidFill>
            <a:srgbClr val="E89898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Demand</a:t>
            </a:r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9723E7D-A87F-9D01-A643-F78121480546}"/>
              </a:ext>
            </a:extLst>
          </p:cNvPr>
          <p:cNvCxnSpPr>
            <a:cxnSpLocks/>
            <a:stCxn id="68" idx="3"/>
            <a:endCxn id="75" idx="0"/>
          </p:cNvCxnSpPr>
          <p:nvPr/>
        </p:nvCxnSpPr>
        <p:spPr>
          <a:xfrm>
            <a:off x="7677783" y="1682116"/>
            <a:ext cx="1249355" cy="2162766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D459F5BB-F16A-4B0A-E883-EDCF7F5FCCD2}"/>
              </a:ext>
            </a:extLst>
          </p:cNvPr>
          <p:cNvCxnSpPr>
            <a:cxnSpLocks/>
            <a:stCxn id="37" idx="3"/>
            <a:endCxn id="75" idx="4"/>
          </p:cNvCxnSpPr>
          <p:nvPr/>
        </p:nvCxnSpPr>
        <p:spPr>
          <a:xfrm flipV="1">
            <a:off x="8746626" y="4367838"/>
            <a:ext cx="180512" cy="1137094"/>
          </a:xfrm>
          <a:prstGeom prst="bentConnector2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4DC8E3E-6F01-DFF0-B378-FBE922AEC880}"/>
              </a:ext>
            </a:extLst>
          </p:cNvPr>
          <p:cNvCxnSpPr>
            <a:cxnSpLocks/>
            <a:stCxn id="23" idx="3"/>
            <a:endCxn id="75" idx="2"/>
          </p:cNvCxnSpPr>
          <p:nvPr/>
        </p:nvCxnSpPr>
        <p:spPr>
          <a:xfrm flipV="1">
            <a:off x="8112113" y="4106360"/>
            <a:ext cx="190177" cy="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5103BFBC-5E41-9EBE-5C12-5BA33E74B9C1}"/>
              </a:ext>
            </a:extLst>
          </p:cNvPr>
          <p:cNvSpPr/>
          <p:nvPr/>
        </p:nvSpPr>
        <p:spPr>
          <a:xfrm>
            <a:off x="1159930" y="1580470"/>
            <a:ext cx="1074873" cy="48695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Import</a:t>
            </a: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BC41C5C8-3288-658A-CEC0-27DA07FBCABD}"/>
              </a:ext>
            </a:extLst>
          </p:cNvPr>
          <p:cNvCxnSpPr>
            <a:cxnSpLocks/>
            <a:endCxn id="74" idx="4"/>
          </p:cNvCxnSpPr>
          <p:nvPr/>
        </p:nvCxnSpPr>
        <p:spPr>
          <a:xfrm flipV="1">
            <a:off x="1697366" y="2672629"/>
            <a:ext cx="1008669" cy="311778"/>
          </a:xfrm>
          <a:prstGeom prst="bentConnector2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8DC59CCD-26A1-5547-1E48-469FE666CA91}"/>
              </a:ext>
            </a:extLst>
          </p:cNvPr>
          <p:cNvSpPr/>
          <p:nvPr/>
        </p:nvSpPr>
        <p:spPr>
          <a:xfrm>
            <a:off x="3738902" y="1735552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GSL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393F909-2F0D-D8E8-25D7-5D5CB5CBF7E6}"/>
              </a:ext>
            </a:extLst>
          </p:cNvPr>
          <p:cNvSpPr/>
          <p:nvPr/>
        </p:nvSpPr>
        <p:spPr>
          <a:xfrm>
            <a:off x="3738902" y="2244326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DSL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8946007-1F8E-0B69-3DAC-158C68E03A57}"/>
              </a:ext>
            </a:extLst>
          </p:cNvPr>
          <p:cNvSpPr/>
          <p:nvPr/>
        </p:nvSpPr>
        <p:spPr>
          <a:xfrm>
            <a:off x="3743632" y="3770650"/>
            <a:ext cx="473682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NG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BDEA281-AFDB-82BD-A007-A34A356704EB}"/>
              </a:ext>
            </a:extLst>
          </p:cNvPr>
          <p:cNvSpPr/>
          <p:nvPr/>
        </p:nvSpPr>
        <p:spPr>
          <a:xfrm>
            <a:off x="3738902" y="2753100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JFL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47E02FD-C9B9-B2AD-FC63-E4F8162BE940}"/>
              </a:ext>
            </a:extLst>
          </p:cNvPr>
          <p:cNvSpPr/>
          <p:nvPr/>
        </p:nvSpPr>
        <p:spPr>
          <a:xfrm>
            <a:off x="4378004" y="2750245"/>
            <a:ext cx="63521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S-JFL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6E5C37-3C72-16FC-1FAB-5EDCE37FA3C6}"/>
              </a:ext>
            </a:extLst>
          </p:cNvPr>
          <p:cNvSpPr txBox="1"/>
          <p:nvPr/>
        </p:nvSpPr>
        <p:spPr>
          <a:xfrm>
            <a:off x="3316131" y="1060612"/>
            <a:ext cx="22426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 supply (13 carriers)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F659B2C-FF25-C989-28AC-865731B1E727}"/>
              </a:ext>
            </a:extLst>
          </p:cNvPr>
          <p:cNvSpPr/>
          <p:nvPr/>
        </p:nvSpPr>
        <p:spPr>
          <a:xfrm>
            <a:off x="4449059" y="3938425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ELC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A0BDBDE-7A18-AD18-AF78-6B40977D7A57}"/>
              </a:ext>
            </a:extLst>
          </p:cNvPr>
          <p:cNvSpPr/>
          <p:nvPr/>
        </p:nvSpPr>
        <p:spPr>
          <a:xfrm>
            <a:off x="4070526" y="5423249"/>
            <a:ext cx="573155" cy="3972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endParaRPr kumimoji="0" lang="en-CA" sz="16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E0A56095-172C-6471-72B9-B92A127A2274}"/>
              </a:ext>
            </a:extLst>
          </p:cNvPr>
          <p:cNvSpPr/>
          <p:nvPr/>
        </p:nvSpPr>
        <p:spPr>
          <a:xfrm>
            <a:off x="4378004" y="3259078"/>
            <a:ext cx="667773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MDO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4ABB05-8A90-766F-24C1-B5AB611398C4}"/>
              </a:ext>
            </a:extLst>
          </p:cNvPr>
          <p:cNvSpPr/>
          <p:nvPr/>
        </p:nvSpPr>
        <p:spPr>
          <a:xfrm>
            <a:off x="3738902" y="3261875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HFO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AD94758-7259-2D21-5BFA-19CC1B42AF43}"/>
              </a:ext>
            </a:extLst>
          </p:cNvPr>
          <p:cNvSpPr/>
          <p:nvPr/>
        </p:nvSpPr>
        <p:spPr>
          <a:xfrm>
            <a:off x="3681990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SMR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AF59A35-C3A0-4487-44F5-C1231D6C6ACD}"/>
              </a:ext>
            </a:extLst>
          </p:cNvPr>
          <p:cNvSpPr/>
          <p:nvPr/>
        </p:nvSpPr>
        <p:spPr>
          <a:xfrm>
            <a:off x="4440877" y="4565114"/>
            <a:ext cx="590470" cy="5563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  <a:r>
              <a:rPr kumimoji="0" lang="en-CA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</a:t>
            </a:r>
            <a:endParaRPr kumimoji="0" lang="en-CA" sz="1600" b="0" i="0" u="none" strike="noStrike" kern="120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F47DAA0-18B4-1EA8-4B22-32DC2444B8C3}"/>
              </a:ext>
            </a:extLst>
          </p:cNvPr>
          <p:cNvSpPr/>
          <p:nvPr/>
        </p:nvSpPr>
        <p:spPr>
          <a:xfrm>
            <a:off x="4378004" y="2241411"/>
            <a:ext cx="655104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RDSL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216AE98-98F9-8C33-F197-522147A9C718}"/>
              </a:ext>
            </a:extLst>
          </p:cNvPr>
          <p:cNvSpPr/>
          <p:nvPr/>
        </p:nvSpPr>
        <p:spPr>
          <a:xfrm>
            <a:off x="4378004" y="1732577"/>
            <a:ext cx="573155" cy="3972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ETH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6BCC9A42-4431-0D09-971C-BDED3CE90CD0}"/>
              </a:ext>
            </a:extLst>
          </p:cNvPr>
          <p:cNvSpPr/>
          <p:nvPr/>
        </p:nvSpPr>
        <p:spPr>
          <a:xfrm>
            <a:off x="3460541" y="1409791"/>
            <a:ext cx="1799661" cy="479807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D66E3B4-E4AD-5CB2-35B8-93860F0150EF}"/>
              </a:ext>
            </a:extLst>
          </p:cNvPr>
          <p:cNvCxnSpPr>
            <a:cxnSpLocks/>
            <a:stCxn id="88" idx="2"/>
            <a:endCxn id="96" idx="0"/>
          </p:cNvCxnSpPr>
          <p:nvPr/>
        </p:nvCxnSpPr>
        <p:spPr>
          <a:xfrm>
            <a:off x="4735637" y="4335691"/>
            <a:ext cx="475" cy="2294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AD91F9AD-6A86-FB90-E4F2-F4BF937115AB}"/>
              </a:ext>
            </a:extLst>
          </p:cNvPr>
          <p:cNvCxnSpPr>
            <a:cxnSpLocks/>
            <a:stCxn id="94" idx="2"/>
            <a:endCxn id="90" idx="0"/>
          </p:cNvCxnSpPr>
          <p:nvPr/>
        </p:nvCxnSpPr>
        <p:spPr>
          <a:xfrm rot="16200000" flipH="1">
            <a:off x="4016264" y="5082408"/>
            <a:ext cx="301801" cy="379879"/>
          </a:xfrm>
          <a:prstGeom prst="bentConnector3">
            <a:avLst>
              <a:gd name="adj1" fmla="val 3369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22485862-AE83-E7B1-16D7-75E1CB4ED3A0}"/>
              </a:ext>
            </a:extLst>
          </p:cNvPr>
          <p:cNvCxnSpPr>
            <a:cxnSpLocks/>
            <a:stCxn id="96" idx="2"/>
            <a:endCxn id="90" idx="0"/>
          </p:cNvCxnSpPr>
          <p:nvPr/>
        </p:nvCxnSpPr>
        <p:spPr>
          <a:xfrm rot="5400000">
            <a:off x="4395708" y="5082844"/>
            <a:ext cx="301801" cy="379008"/>
          </a:xfrm>
          <a:prstGeom prst="bentConnector3">
            <a:avLst>
              <a:gd name="adj1" fmla="val 3417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0F94CDC-5E45-4A95-5A7A-7B9AB2D349FC}"/>
              </a:ext>
            </a:extLst>
          </p:cNvPr>
          <p:cNvSpPr txBox="1"/>
          <p:nvPr/>
        </p:nvSpPr>
        <p:spPr>
          <a:xfrm>
            <a:off x="3864159" y="1454356"/>
            <a:ext cx="9701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Direct import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DFF00F-7C81-1AF2-CB6C-9D47B378DB17}"/>
              </a:ext>
            </a:extLst>
          </p:cNvPr>
          <p:cNvSpPr txBox="1"/>
          <p:nvPr/>
        </p:nvSpPr>
        <p:spPr>
          <a:xfrm>
            <a:off x="3582384" y="5853737"/>
            <a:ext cx="15776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Endogenous production</a:t>
            </a: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89FC35EA-7FD1-D540-B125-30D7DB823555}"/>
              </a:ext>
            </a:extLst>
          </p:cNvPr>
          <p:cNvSpPr/>
          <p:nvPr/>
        </p:nvSpPr>
        <p:spPr>
          <a:xfrm>
            <a:off x="3582466" y="3826609"/>
            <a:ext cx="1533525" cy="2271713"/>
          </a:xfrm>
          <a:custGeom>
            <a:avLst/>
            <a:gdLst>
              <a:gd name="connsiteX0" fmla="*/ 0 w 1533525"/>
              <a:gd name="connsiteY0" fmla="*/ 2271713 h 2271713"/>
              <a:gd name="connsiteX1" fmla="*/ 0 w 1533525"/>
              <a:gd name="connsiteY1" fmla="*/ 585788 h 2271713"/>
              <a:gd name="connsiteX2" fmla="*/ 776288 w 1533525"/>
              <a:gd name="connsiteY2" fmla="*/ 585788 h 2271713"/>
              <a:gd name="connsiteX3" fmla="*/ 776288 w 1533525"/>
              <a:gd name="connsiteY3" fmla="*/ 0 h 2271713"/>
              <a:gd name="connsiteX4" fmla="*/ 1533525 w 1533525"/>
              <a:gd name="connsiteY4" fmla="*/ 0 h 2271713"/>
              <a:gd name="connsiteX5" fmla="*/ 1533525 w 1533525"/>
              <a:gd name="connsiteY5" fmla="*/ 2262188 h 2271713"/>
              <a:gd name="connsiteX6" fmla="*/ 0 w 1533525"/>
              <a:gd name="connsiteY6" fmla="*/ 2271713 h 2271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33525" h="2271713">
                <a:moveTo>
                  <a:pt x="0" y="2271713"/>
                </a:moveTo>
                <a:lnTo>
                  <a:pt x="0" y="585788"/>
                </a:lnTo>
                <a:lnTo>
                  <a:pt x="776288" y="585788"/>
                </a:lnTo>
                <a:lnTo>
                  <a:pt x="776288" y="0"/>
                </a:lnTo>
                <a:lnTo>
                  <a:pt x="1533525" y="0"/>
                </a:lnTo>
                <a:lnTo>
                  <a:pt x="1533525" y="2262188"/>
                </a:lnTo>
                <a:lnTo>
                  <a:pt x="0" y="2271713"/>
                </a:lnTo>
                <a:close/>
              </a:path>
            </a:pathLst>
          </a:custGeom>
          <a:noFill/>
          <a:ln w="19050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5FAB4960-DD81-798B-9FC5-490EC896C5E6}"/>
              </a:ext>
            </a:extLst>
          </p:cNvPr>
          <p:cNvCxnSpPr>
            <a:cxnSpLocks/>
            <a:stCxn id="79" idx="4"/>
            <a:endCxn id="99" idx="1"/>
          </p:cNvCxnSpPr>
          <p:nvPr/>
        </p:nvCxnSpPr>
        <p:spPr>
          <a:xfrm rot="16200000" flipH="1">
            <a:off x="1708251" y="2056536"/>
            <a:ext cx="1741406" cy="1763174"/>
          </a:xfrm>
          <a:prstGeom prst="bentConnector2">
            <a:avLst/>
          </a:prstGeom>
          <a:ln w="38100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29A7CCB-52AC-1017-325F-1CEF518AE20A}"/>
              </a:ext>
            </a:extLst>
          </p:cNvPr>
          <p:cNvSpPr/>
          <p:nvPr/>
        </p:nvSpPr>
        <p:spPr>
          <a:xfrm>
            <a:off x="260039" y="4628901"/>
            <a:ext cx="613422" cy="4663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Tech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D08B53A-EA92-48FF-BDC4-27C62228B4BA}"/>
              </a:ext>
            </a:extLst>
          </p:cNvPr>
          <p:cNvSpPr txBox="1"/>
          <p:nvPr/>
        </p:nvSpPr>
        <p:spPr>
          <a:xfrm>
            <a:off x="1123049" y="4578702"/>
            <a:ext cx="1332870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Existing capacity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Efficiency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Lifetime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Investment costs</a:t>
            </a:r>
            <a:b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Maintenance costs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(vehicle-cycle)</a:t>
            </a:r>
          </a:p>
        </p:txBody>
      </p:sp>
      <p:sp>
        <p:nvSpPr>
          <p:cNvPr id="111" name="Left Brace 110">
            <a:extLst>
              <a:ext uri="{FF2B5EF4-FFF2-40B4-BE49-F238E27FC236}">
                <a16:creationId xmlns:a16="http://schemas.microsoft.com/office/drawing/2014/main" id="{92A3B733-B7B3-B2BA-9D32-E6D6C8947098}"/>
              </a:ext>
            </a:extLst>
          </p:cNvPr>
          <p:cNvSpPr/>
          <p:nvPr/>
        </p:nvSpPr>
        <p:spPr>
          <a:xfrm>
            <a:off x="1034204" y="4573252"/>
            <a:ext cx="190603" cy="1153311"/>
          </a:xfrm>
          <a:prstGeom prst="leftBrace">
            <a:avLst/>
          </a:prstGeom>
          <a:noFill/>
          <a:ln w="1270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7B49044C-8481-F413-8311-72CE99B63902}"/>
              </a:ext>
            </a:extLst>
          </p:cNvPr>
          <p:cNvSpPr/>
          <p:nvPr/>
        </p:nvSpPr>
        <p:spPr>
          <a:xfrm>
            <a:off x="263279" y="5864693"/>
            <a:ext cx="613422" cy="4663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8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92729A0-0F40-3224-8456-7D77F2257B6E}"/>
              </a:ext>
            </a:extLst>
          </p:cNvPr>
          <p:cNvSpPr txBox="1"/>
          <p:nvPr/>
        </p:nvSpPr>
        <p:spPr>
          <a:xfrm>
            <a:off x="1117442" y="5940750"/>
            <a:ext cx="11201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Fuel prices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Blend ratio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EFs (fuel-cycle)</a:t>
            </a:r>
          </a:p>
        </p:txBody>
      </p:sp>
      <p:sp>
        <p:nvSpPr>
          <p:cNvPr id="116" name="Left Brace 115">
            <a:extLst>
              <a:ext uri="{FF2B5EF4-FFF2-40B4-BE49-F238E27FC236}">
                <a16:creationId xmlns:a16="http://schemas.microsoft.com/office/drawing/2014/main" id="{CEAA3136-180E-86CD-046C-2196461CA069}"/>
              </a:ext>
            </a:extLst>
          </p:cNvPr>
          <p:cNvSpPr/>
          <p:nvPr/>
        </p:nvSpPr>
        <p:spPr>
          <a:xfrm>
            <a:off x="1056902" y="5925172"/>
            <a:ext cx="165469" cy="622821"/>
          </a:xfrm>
          <a:prstGeom prst="leftBrace">
            <a:avLst/>
          </a:prstGeom>
          <a:noFill/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46D92B8-658C-3044-223E-B9A248D634F2}"/>
              </a:ext>
            </a:extLst>
          </p:cNvPr>
          <p:cNvSpPr txBox="1"/>
          <p:nvPr/>
        </p:nvSpPr>
        <p:spPr>
          <a:xfrm>
            <a:off x="145329" y="4214889"/>
            <a:ext cx="18986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 indexing:</a:t>
            </a: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8DA8D76-8B3A-303A-D118-A7E5A416EACD}"/>
              </a:ext>
            </a:extLst>
          </p:cNvPr>
          <p:cNvSpPr/>
          <p:nvPr/>
        </p:nvSpPr>
        <p:spPr>
          <a:xfrm>
            <a:off x="3577704" y="1480284"/>
            <a:ext cx="1543050" cy="2776538"/>
          </a:xfrm>
          <a:custGeom>
            <a:avLst/>
            <a:gdLst>
              <a:gd name="connsiteX0" fmla="*/ 0 w 1543050"/>
              <a:gd name="connsiteY0" fmla="*/ 2790825 h 2790825"/>
              <a:gd name="connsiteX1" fmla="*/ 0 w 1543050"/>
              <a:gd name="connsiteY1" fmla="*/ 0 h 2790825"/>
              <a:gd name="connsiteX2" fmla="*/ 1543050 w 1543050"/>
              <a:gd name="connsiteY2" fmla="*/ 0 h 2790825"/>
              <a:gd name="connsiteX3" fmla="*/ 1543050 w 1543050"/>
              <a:gd name="connsiteY3" fmla="*/ 2266950 h 2790825"/>
              <a:gd name="connsiteX4" fmla="*/ 728662 w 1543050"/>
              <a:gd name="connsiteY4" fmla="*/ 2266950 h 2790825"/>
              <a:gd name="connsiteX5" fmla="*/ 714375 w 1543050"/>
              <a:gd name="connsiteY5" fmla="*/ 2266950 h 2790825"/>
              <a:gd name="connsiteX6" fmla="*/ 714375 w 1543050"/>
              <a:gd name="connsiteY6" fmla="*/ 2776538 h 2790825"/>
              <a:gd name="connsiteX7" fmla="*/ 0 w 1543050"/>
              <a:gd name="connsiteY7" fmla="*/ 2790825 h 2790825"/>
              <a:gd name="connsiteX0" fmla="*/ 0 w 1543050"/>
              <a:gd name="connsiteY0" fmla="*/ 2776538 h 2776538"/>
              <a:gd name="connsiteX1" fmla="*/ 0 w 1543050"/>
              <a:gd name="connsiteY1" fmla="*/ 0 h 2776538"/>
              <a:gd name="connsiteX2" fmla="*/ 1543050 w 1543050"/>
              <a:gd name="connsiteY2" fmla="*/ 0 h 2776538"/>
              <a:gd name="connsiteX3" fmla="*/ 1543050 w 1543050"/>
              <a:gd name="connsiteY3" fmla="*/ 2266950 h 2776538"/>
              <a:gd name="connsiteX4" fmla="*/ 728662 w 1543050"/>
              <a:gd name="connsiteY4" fmla="*/ 2266950 h 2776538"/>
              <a:gd name="connsiteX5" fmla="*/ 714375 w 1543050"/>
              <a:gd name="connsiteY5" fmla="*/ 2266950 h 2776538"/>
              <a:gd name="connsiteX6" fmla="*/ 714375 w 1543050"/>
              <a:gd name="connsiteY6" fmla="*/ 2776538 h 2776538"/>
              <a:gd name="connsiteX7" fmla="*/ 0 w 1543050"/>
              <a:gd name="connsiteY7" fmla="*/ 2776538 h 2776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3050" h="2776538">
                <a:moveTo>
                  <a:pt x="0" y="2776538"/>
                </a:moveTo>
                <a:lnTo>
                  <a:pt x="0" y="0"/>
                </a:lnTo>
                <a:lnTo>
                  <a:pt x="1543050" y="0"/>
                </a:lnTo>
                <a:lnTo>
                  <a:pt x="1543050" y="2266950"/>
                </a:lnTo>
                <a:lnTo>
                  <a:pt x="728662" y="2266950"/>
                </a:lnTo>
                <a:lnTo>
                  <a:pt x="714375" y="2266950"/>
                </a:lnTo>
                <a:lnTo>
                  <a:pt x="714375" y="2776538"/>
                </a:lnTo>
                <a:lnTo>
                  <a:pt x="0" y="2776538"/>
                </a:lnTo>
                <a:close/>
              </a:path>
            </a:pathLst>
          </a:custGeom>
          <a:noFill/>
          <a:ln w="19050">
            <a:solidFill>
              <a:schemeClr val="accent4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1780805E-0D8C-DC3C-B1DB-BC6AD9271AB6}"/>
              </a:ext>
            </a:extLst>
          </p:cNvPr>
          <p:cNvCxnSpPr>
            <a:cxnSpLocks/>
            <a:stCxn id="84" idx="2"/>
            <a:endCxn id="94" idx="0"/>
          </p:cNvCxnSpPr>
          <p:nvPr/>
        </p:nvCxnSpPr>
        <p:spPr>
          <a:xfrm flipH="1">
            <a:off x="3977225" y="4167916"/>
            <a:ext cx="3248" cy="3971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76F6756-0E54-C061-C0C1-B06D3A59EBD3}"/>
              </a:ext>
            </a:extLst>
          </p:cNvPr>
          <p:cNvSpPr txBox="1"/>
          <p:nvPr/>
        </p:nvSpPr>
        <p:spPr>
          <a:xfrm>
            <a:off x="229120" y="5084212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BC306BC-3DB8-ABC3-720F-2A06F2983740}"/>
              </a:ext>
            </a:extLst>
          </p:cNvPr>
          <p:cNvSpPr txBox="1"/>
          <p:nvPr/>
        </p:nvSpPr>
        <p:spPr>
          <a:xfrm>
            <a:off x="413901" y="5088722"/>
            <a:ext cx="7681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vintage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powertrain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EB4F782-131A-E5C7-DCE4-2F7E6D9C8499}"/>
              </a:ext>
            </a:extLst>
          </p:cNvPr>
          <p:cNvSpPr txBox="1"/>
          <p:nvPr/>
        </p:nvSpPr>
        <p:spPr>
          <a:xfrm>
            <a:off x="230948" y="6314719"/>
            <a:ext cx="3314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BD5446C-842B-0083-FCD7-0D1C15B524B2}"/>
              </a:ext>
            </a:extLst>
          </p:cNvPr>
          <p:cNvSpPr txBox="1"/>
          <p:nvPr/>
        </p:nvSpPr>
        <p:spPr>
          <a:xfrm>
            <a:off x="415729" y="6319229"/>
            <a:ext cx="7681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scenario</a:t>
            </a:r>
            <a:b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period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224E1F-B1D6-E900-00C6-0D1D16318006}"/>
              </a:ext>
            </a:extLst>
          </p:cNvPr>
          <p:cNvSpPr txBox="1"/>
          <p:nvPr/>
        </p:nvSpPr>
        <p:spPr>
          <a:xfrm>
            <a:off x="1742964" y="3012285"/>
            <a:ext cx="14991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Fuel-cycle EFs [g CO</a:t>
            </a:r>
            <a:r>
              <a:rPr kumimoji="0" lang="en-CA" sz="1000" b="0" i="0" u="none" strike="noStrike" kern="1200" cap="none" spc="0" normalizeH="0" baseline="-2500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CA" sz="1000" b="0" i="0" u="none" strike="noStrike" kern="1200" cap="none" spc="0" normalizeH="0" baseline="0" noProof="0" dirty="0">
                <a:ln>
                  <a:noFill/>
                </a:ln>
                <a:solidFill>
                  <a:srgbClr val="ED7D31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/MJ]</a:t>
            </a:r>
          </a:p>
        </p:txBody>
      </p: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9E942EB2-040E-7AD7-4D08-3EC24A1AD341}"/>
              </a:ext>
            </a:extLst>
          </p:cNvPr>
          <p:cNvCxnSpPr>
            <a:cxnSpLocks/>
            <a:endCxn id="57" idx="2"/>
          </p:cNvCxnSpPr>
          <p:nvPr/>
        </p:nvCxnSpPr>
        <p:spPr>
          <a:xfrm flipV="1">
            <a:off x="6171980" y="2822262"/>
            <a:ext cx="680042" cy="40381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9C6BFFCA-BC0C-9AAF-E942-0250B30C4ECC}"/>
              </a:ext>
            </a:extLst>
          </p:cNvPr>
          <p:cNvCxnSpPr>
            <a:cxnSpLocks/>
            <a:endCxn id="59" idx="2"/>
          </p:cNvCxnSpPr>
          <p:nvPr/>
        </p:nvCxnSpPr>
        <p:spPr>
          <a:xfrm flipV="1">
            <a:off x="6526777" y="2925301"/>
            <a:ext cx="1045511" cy="299157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09B20772-9794-A021-6C0B-A89DD46B4116}"/>
              </a:ext>
            </a:extLst>
          </p:cNvPr>
          <p:cNvSpPr/>
          <p:nvPr/>
        </p:nvSpPr>
        <p:spPr>
          <a:xfrm>
            <a:off x="3477391" y="4097366"/>
            <a:ext cx="1697797" cy="2230091"/>
          </a:xfrm>
          <a:prstGeom prst="mathMultiply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Multiplication Sign 3">
            <a:extLst>
              <a:ext uri="{FF2B5EF4-FFF2-40B4-BE49-F238E27FC236}">
                <a16:creationId xmlns:a16="http://schemas.microsoft.com/office/drawing/2014/main" id="{98D31948-FC5F-4B55-531E-E5CD98FC6950}"/>
              </a:ext>
            </a:extLst>
          </p:cNvPr>
          <p:cNvSpPr/>
          <p:nvPr/>
        </p:nvSpPr>
        <p:spPr>
          <a:xfrm>
            <a:off x="1845791" y="1510413"/>
            <a:ext cx="1697797" cy="2230091"/>
          </a:xfrm>
          <a:prstGeom prst="mathMultiply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4C539D6B-A72A-2602-B7B9-2AFF39BF1704}"/>
              </a:ext>
            </a:extLst>
          </p:cNvPr>
          <p:cNvSpPr/>
          <p:nvPr/>
        </p:nvSpPr>
        <p:spPr>
          <a:xfrm>
            <a:off x="822069" y="5244647"/>
            <a:ext cx="1502859" cy="1983870"/>
          </a:xfrm>
          <a:prstGeom prst="mathMultiply">
            <a:avLst/>
          </a:prstGeom>
          <a:solidFill>
            <a:srgbClr val="FF0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6329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045" y="165868"/>
            <a:ext cx="10800272" cy="624577"/>
          </a:xfrm>
        </p:spPr>
        <p:txBody>
          <a:bodyPr>
            <a:noAutofit/>
          </a:bodyPr>
          <a:lstStyle/>
          <a:p>
            <a:r>
              <a:rPr lang="en-CA" sz="4000" dirty="0"/>
              <a:t>Legacy backend (hard to update)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5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45954-FF67-50CA-A5F5-C6E810573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26089"/>
            <a:ext cx="12192000" cy="583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804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045" y="165868"/>
            <a:ext cx="11926019" cy="624577"/>
          </a:xfrm>
        </p:spPr>
        <p:txBody>
          <a:bodyPr>
            <a:noAutofit/>
          </a:bodyPr>
          <a:lstStyle/>
          <a:p>
            <a:r>
              <a:rPr lang="en-CA" sz="4000" dirty="0"/>
              <a:t>Legacy backend (hard to produce vast scenario evidence)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6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78566D-13B0-75F6-3B5A-271C8C93B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" y="1043427"/>
            <a:ext cx="12192000" cy="5814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20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7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170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8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520053-8C0E-F6B5-B67C-020833F75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1641"/>
            <a:ext cx="5828176" cy="685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22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9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520053-8C0E-F6B5-B67C-020833F75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1641"/>
            <a:ext cx="5828176" cy="68579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C4801E-9E01-6B44-163E-B871BA6203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1306" y="1381635"/>
            <a:ext cx="60072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442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4" y="-57150"/>
            <a:ext cx="5873750" cy="624577"/>
          </a:xfrm>
        </p:spPr>
        <p:txBody>
          <a:bodyPr>
            <a:noAutofit/>
          </a:bodyPr>
          <a:lstStyle/>
          <a:p>
            <a:r>
              <a:rPr lang="en-CA" sz="3200" dirty="0"/>
              <a:t>2.0 backend at a glance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10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D3390-8935-58D1-758F-77A4E5754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413" y="483705"/>
            <a:ext cx="7225173" cy="63742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520053-8C0E-F6B5-B67C-020833F75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81641"/>
            <a:ext cx="5828176" cy="68579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C4801E-9E01-6B44-163E-B871BA6203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1306" y="1381635"/>
            <a:ext cx="600728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3751D2-9626-A9CC-9FEA-890118F5F2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877" y="1381635"/>
            <a:ext cx="5270817" cy="686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1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DBDF7-4118-08D5-1431-D3DC6D68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DF73-7954-B44A-E103-620954C3E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358" y="170482"/>
            <a:ext cx="7789892" cy="624577"/>
          </a:xfrm>
        </p:spPr>
        <p:txBody>
          <a:bodyPr>
            <a:noAutofit/>
          </a:bodyPr>
          <a:lstStyle/>
          <a:p>
            <a:r>
              <a:rPr lang="en-CA" sz="4000" dirty="0"/>
              <a:t>Key distinctions – existing capacity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D096-B2C2-1E68-CBB7-F30C6210A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9DA5E-1032-4C12-A38F-44C21E912A0F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5719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557</Words>
  <Application>Microsoft Office PowerPoint</Application>
  <PresentationFormat>Widescreen</PresentationFormat>
  <Paragraphs>207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Calibri Light</vt:lpstr>
      <vt:lpstr>Office Theme</vt:lpstr>
      <vt:lpstr>1_Office Theme</vt:lpstr>
      <vt:lpstr>CANOE-transportation backend v2.0</vt:lpstr>
      <vt:lpstr>Agenda (tentative)</vt:lpstr>
      <vt:lpstr>PowerPoint Presentation</vt:lpstr>
      <vt:lpstr>PowerPoint Presentation</vt:lpstr>
      <vt:lpstr>Legacy backend (hard to update)</vt:lpstr>
      <vt:lpstr>Legacy backend (hard to produce vast scenario evidence)</vt:lpstr>
      <vt:lpstr>2.0 backend at a glance</vt:lpstr>
      <vt:lpstr>2.0 backend at a glance</vt:lpstr>
      <vt:lpstr>2.0 backend at a glance</vt:lpstr>
      <vt:lpstr>2.0 backend at a glance</vt:lpstr>
      <vt:lpstr>Key distinctions – existing capacity</vt:lpstr>
    </vt:vector>
  </TitlesOfParts>
  <Company>Felipe Rashid Zetter Salcedo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Zetter Salcedo</dc:creator>
  <cp:lastModifiedBy>Felipe Zetter Salcedo</cp:lastModifiedBy>
  <cp:revision>1</cp:revision>
  <dcterms:created xsi:type="dcterms:W3CDTF">2026-09-24T16:32:03Z</dcterms:created>
  <dcterms:modified xsi:type="dcterms:W3CDTF">2026-09-24T19:08:13Z</dcterms:modified>
</cp:coreProperties>
</file>