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9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0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3.xml" ContentType="application/vnd.openxmlformats-officedocument.drawingml.chart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d3cfe543444460" /><Relationship Type="http://schemas.openxmlformats.org/officeDocument/2006/relationships/extended-properties" Target="/docProps/app.xml" Id="Re761396920c34d04" /><Relationship Type="http://schemas.openxmlformats.org/officeDocument/2006/relationships/officeDocument" Target="/ppt/presentation.xml" Id="R91a17010c2da48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b383707364ebd"/>
  </p:sldMasterIdLst>
  <p:notesMasterIdLst>
    <p:notesMasterId xmlns:r="http://schemas.openxmlformats.org/officeDocument/2006/relationships" r:id="Rda938ab491c24330"/>
  </p:notesMasterIdLst>
  <p:sldIdLst>
    <p:sldId xmlns:r="http://schemas.openxmlformats.org/officeDocument/2006/relationships" id="256" r:id="R944b09781e284690"/>
    <p:sldId xmlns:r="http://schemas.openxmlformats.org/officeDocument/2006/relationships" id="257" r:id="R6e935d38bc9c4f99"/>
    <p:sldId xmlns:r="http://schemas.openxmlformats.org/officeDocument/2006/relationships" id="258" r:id="R14989418faf04eb5"/>
    <p:sldId xmlns:r="http://schemas.openxmlformats.org/officeDocument/2006/relationships" id="259" r:id="R04f15cf5f00f4759"/>
    <p:sldId xmlns:r="http://schemas.openxmlformats.org/officeDocument/2006/relationships" id="260" r:id="R202b8259e2454703"/>
    <p:sldId xmlns:r="http://schemas.openxmlformats.org/officeDocument/2006/relationships" id="261" r:id="R628412b99bc6405a"/>
    <p:sldId xmlns:r="http://schemas.openxmlformats.org/officeDocument/2006/relationships" id="262" r:id="Rb9dc36e912ae4c63"/>
    <p:sldId xmlns:r="http://schemas.openxmlformats.org/officeDocument/2006/relationships" id="263" r:id="R9b2c01c5f6d64f56"/>
    <p:sldId xmlns:r="http://schemas.openxmlformats.org/officeDocument/2006/relationships" id="264" r:id="R5bc199e34d9745de"/>
    <p:sldId xmlns:r="http://schemas.openxmlformats.org/officeDocument/2006/relationships" id="265" r:id="R261130d894884ff1"/>
    <p:sldId xmlns:r="http://schemas.openxmlformats.org/officeDocument/2006/relationships" id="266" r:id="R5409cf14b4b84558"/>
    <p:sldId xmlns:r="http://schemas.openxmlformats.org/officeDocument/2006/relationships" id="267" r:id="Rac6934a11fec4795"/>
    <p:sldId xmlns:r="http://schemas.openxmlformats.org/officeDocument/2006/relationships" id="268" r:id="R4fe9e250cbe84c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a380600a9c4e6d" /><Relationship Type="http://schemas.openxmlformats.org/officeDocument/2006/relationships/slideMaster" Target="/ppt/slideMasters/slideMaster1.xml" Id="R047b383707364ebd" /><Relationship Type="http://schemas.openxmlformats.org/officeDocument/2006/relationships/notesMaster" Target="/ppt/notesMasters/notesMaster1.xml" Id="Rda938ab491c24330" /><Relationship Type="http://schemas.openxmlformats.org/officeDocument/2006/relationships/presProps" Target="/ppt/presProps.xml" Id="Rcecc0ed07b1c46f9" /><Relationship Type="http://schemas.openxmlformats.org/officeDocument/2006/relationships/tableStyles" Target="/ppt/tableStyles.xml" Id="R069ccf7c59c14d58" /><Relationship Type="http://schemas.openxmlformats.org/officeDocument/2006/relationships/slide" Target="/ppt/slides/slide1.xml" Id="R944b09781e284690" /><Relationship Type="http://schemas.openxmlformats.org/officeDocument/2006/relationships/slide" Target="/ppt/slides/slide2.xml" Id="R6e935d38bc9c4f99" /><Relationship Type="http://schemas.openxmlformats.org/officeDocument/2006/relationships/slide" Target="/ppt/slides/slide3.xml" Id="R14989418faf04eb5" /><Relationship Type="http://schemas.openxmlformats.org/officeDocument/2006/relationships/slide" Target="/ppt/slides/slide4.xml" Id="R04f15cf5f00f4759" /><Relationship Type="http://schemas.openxmlformats.org/officeDocument/2006/relationships/slide" Target="/ppt/slides/slide5.xml" Id="R202b8259e2454703" /><Relationship Type="http://schemas.openxmlformats.org/officeDocument/2006/relationships/slide" Target="/ppt/slides/slide6.xml" Id="R628412b99bc6405a" /><Relationship Type="http://schemas.openxmlformats.org/officeDocument/2006/relationships/slide" Target="/ppt/slides/slide7.xml" Id="Rb9dc36e912ae4c63" /><Relationship Type="http://schemas.openxmlformats.org/officeDocument/2006/relationships/slide" Target="/ppt/slides/slide8.xml" Id="R9b2c01c5f6d64f56" /><Relationship Type="http://schemas.openxmlformats.org/officeDocument/2006/relationships/slide" Target="/ppt/slides/slide9.xml" Id="R5bc199e34d9745de" /><Relationship Type="http://schemas.openxmlformats.org/officeDocument/2006/relationships/slide" Target="/ppt/slides/slide10.xml" Id="R261130d894884ff1" /><Relationship Type="http://schemas.openxmlformats.org/officeDocument/2006/relationships/slide" Target="/ppt/slides/slide11.xml" Id="R5409cf14b4b84558" /><Relationship Type="http://schemas.openxmlformats.org/officeDocument/2006/relationships/slide" Target="/ppt/slides/slide12.xml" Id="Rac6934a11fec4795" /><Relationship Type="http://schemas.openxmlformats.org/officeDocument/2006/relationships/slide" Target="/ppt/slides/slide13.xml" Id="R4fe9e250cbe84c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75bde221846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6e0b33f1f7456f" /><Relationship Type="http://schemas.openxmlformats.org/officeDocument/2006/relationships/notesMaster" Target="/ppt/notesMasters/notesMaster1.xml" Id="R467dd2457ec64e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09b41c192a428d" /><Relationship Type="http://schemas.openxmlformats.org/officeDocument/2006/relationships/notesMaster" Target="/ppt/notesMasters/notesMaster1.xml" Id="Rf46354bfcbd04c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4e7cd8b7474585" /><Relationship Type="http://schemas.openxmlformats.org/officeDocument/2006/relationships/notesMaster" Target="/ppt/notesMasters/notesMaster1.xml" Id="R7338886b820846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e751b6711c44ec" /><Relationship Type="http://schemas.openxmlformats.org/officeDocument/2006/relationships/notesMaster" Target="/ppt/notesMasters/notesMaster1.xml" Id="R5f853df733014d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6d5cc167a4dc1" /><Relationship Type="http://schemas.openxmlformats.org/officeDocument/2006/relationships/notesMaster" Target="/ppt/notesMasters/notesMaster1.xml" Id="R8cb60ae8514e43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c6d0100d804a7a" /><Relationship Type="http://schemas.openxmlformats.org/officeDocument/2006/relationships/notesMaster" Target="/ppt/notesMasters/notesMaster1.xml" Id="R1d9a7351a7c243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41b29751ed4f3e" /><Relationship Type="http://schemas.openxmlformats.org/officeDocument/2006/relationships/notesMaster" Target="/ppt/notesMasters/notesMaster1.xml" Id="R0589964d2b6547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ff53139e1b4b00" /><Relationship Type="http://schemas.openxmlformats.org/officeDocument/2006/relationships/notesMaster" Target="/ppt/notesMasters/notesMaster1.xml" Id="R7607c66e993742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ab9430646149a4" /><Relationship Type="http://schemas.openxmlformats.org/officeDocument/2006/relationships/notesMaster" Target="/ppt/notesMasters/notesMaster1.xml" Id="Rc9c3f380b5b142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3de57861ce421a" /><Relationship Type="http://schemas.openxmlformats.org/officeDocument/2006/relationships/notesMaster" Target="/ppt/notesMasters/notesMaster1.xml" Id="R998fb55803004e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c2157782664682" /><Relationship Type="http://schemas.openxmlformats.org/officeDocument/2006/relationships/notesMaster" Target="/ppt/notesMasters/notesMaster1.xml" Id="R314b7bc105ec4a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6d7929a5aa45ab" /><Relationship Type="http://schemas.openxmlformats.org/officeDocument/2006/relationships/notesMaster" Target="/ppt/notesMasters/notesMaster1.xml" Id="R3671d6d5732f4a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cba7deb5b74b66" /><Relationship Type="http://schemas.openxmlformats.org/officeDocument/2006/relationships/notesMaster" Target="/ppt/notesMasters/notesMaster1.xml" Id="Rcfa1b95537f841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cost_fixed, cost_invest, cost_variable, demand, efficiency, existing_capacity, limit_annual_capacity_factor. User-approved geography is Ontario. Explanations are limited to user observations, not a quantitative causal decomposition.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"database_pair": {</a:t>
            </a:r>
          </a:p>
          <a:p xmlns:a="http://schemas.openxmlformats.org/drawingml/2006/main">
            <a:r>
              <a:t>    "candidate": {</a:t>
            </a:r>
          </a:p>
          <a:p xmlns:a="http://schemas.openxmlformats.org/drawingml/2006/main">
            <a:r>
              <a:t>      "path": "C:\\Users\\rashi\\ESM_databases\\canoe-transportation\\outputs\\sqlite\\legacy_reproduction.sqlite",</a:t>
            </a:r>
          </a:p>
          <a:p xmlns:a="http://schemas.openxmlformats.org/drawingml/2006/main">
            <a:r>
              <a:t>      "sha256": "8b5ee4b368ef5d2d3d4d008e393ff3f8b320947cd38c9af85d67b6a6a908c9ca"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"legacy": {</a:t>
            </a:r>
          </a:p>
          <a:p xmlns:a="http://schemas.openxmlformats.org/drawingml/2006/main">
            <a:r>
              <a:t>      "path": "C:\\Users\\rashi\\ESM_databases\\canoe-transportation\\legacy_backend\\canoe_transport_baseline.sqlite",</a:t>
            </a:r>
          </a:p>
          <a:p xmlns:a="http://schemas.openxmlformats.org/drawingml/2006/main">
            <a:r>
              <a:t>      "sha256": "72dcd117b038092a8651305880bce56f158a771280ddcec3a45dbc600fa1a65f"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"build_report": {</a:t>
            </a:r>
          </a:p>
          <a:p xmlns:a="http://schemas.openxmlformats.org/drawingml/2006/main">
            <a:r>
              <a:t>      "path": "C:\\Users\\rashi\\ESM_databases\\canoe-transportation\\outputs\\validation\\transport_comparison_build.json",</a:t>
            </a:r>
          </a:p>
          <a:p xmlns:a="http://schemas.openxmlformats.org/drawingml/2006/main">
            <a:r>
              <a:t>      "sha256": "bae80ac6b1dfc0b6e7f53c37ba1cac933bde9090a6e03c1949c53ebeaf23545d"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"diagnostic_config": {</a:t>
            </a:r>
          </a:p>
          <a:p xmlns:a="http://schemas.openxmlformats.org/drawingml/2006/main">
            <a:r>
              <a:t>      "path": "C:\\Users\\rashi\\ESM_databases\\canoe-transportation\\config\\parameters\\transport_comparison.yaml",</a:t>
            </a:r>
          </a:p>
          <a:p xmlns:a="http://schemas.openxmlformats.org/drawingml/2006/main">
            <a:r>
              <a:t>      "sha256": "6670cda5151e90ed30f530dd735373afbcd3722ff21307eda9755a041e1b04a6"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"assumptions": {</a:t>
            </a:r>
          </a:p>
          <a:p xmlns:a="http://schemas.openxmlformats.org/drawingml/2006/main">
            <a:r>
              <a:t>      "path": "C:\\Users\\rashi\\ESM_databases\\canoe-transportation\\docs\\assumptions.md",</a:t>
            </a:r>
          </a:p>
          <a:p xmlns:a="http://schemas.openxmlformats.org/drawingml/2006/main">
            <a:r>
              <a:t>      "sha256": "2aeb356c8b1a1f5dd8bc0b49656d0fd2f4492f9db52df2791ab1ba5844b05a30"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"rows_csv_sha256": "54689bf3e4e4121e714259dcf9d745c188d880aa7e32802e91fa9f1eeba28fd6"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cost_fixed: Reported driver: rounded aggregation weights.</a:t>
            </a:r>
          </a:p>
          <a:p xmlns:a="http://schemas.openxmlformats.org/drawingml/2006/main">
            <a:r>
              <a:t>Comparison: Paired native bars; $M 2020CAD/GW; retain native units. Equal legacy constituent rates are bridged, never summed.</a:t>
            </a:r>
          </a:p>
          <a:p xmlns:a="http://schemas.openxmlformats.org/drawingml/2006/main">
            <a:r>
              <a:t>Interpretation: Future class-rate bridge maps legacy BEV/PHEV LDV rates and MDV/HDV rates to the corresponding new shared class; constituent rates agree. This is the 2025 illustration; later vintages differ in direction and magnitude.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"LDV chargers",</a:t>
            </a:r>
          </a:p>
          <a:p xmlns:a="http://schemas.openxmlformats.org/drawingml/2006/main">
            <a:r>
              <a:t>    "table": "cost_fixed",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"T_LDV_CHRG_N",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"T_LDV_CHRG_N",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16.204762204209946,</a:t>
            </a:r>
          </a:p>
          <a:p xmlns:a="http://schemas.openxmlformats.org/drawingml/2006/main">
            <a:r>
              <a:t>    "legacy": 16.063927149,</a:t>
            </a:r>
          </a:p>
          <a:p xmlns:a="http://schemas.openxmlformats.org/drawingml/2006/main">
            <a:r>
              <a:t>    "candidate_units": "$M 2020CAD / GW",</a:t>
            </a:r>
          </a:p>
          <a:p xmlns:a="http://schemas.openxmlformats.org/drawingml/2006/main">
            <a:r>
              <a:t>    "legacy_units": "$M 2020CAD / GW",</a:t>
            </a:r>
          </a:p>
          <a:p xmlns:a="http://schemas.openxmlformats.org/drawingml/2006/main">
            <a:r>
              <a:t>    "units": "$M 2020CAD / 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"charger class rate bridge; legacy constituent rates must agree",</a:t>
            </a:r>
          </a:p>
          <a:p xmlns:a="http://schemas.openxmlformats.org/drawingml/2006/main">
            <a:r>
              <a:t>    "delta": 0.14083505520994422,</a:t>
            </a:r>
          </a:p>
          <a:p xmlns:a="http://schemas.openxmlformats.org/drawingml/2006/main">
            <a:r>
              <a:t>    "absolute_difference": 0.14083505520994422,</a:t>
            </a:r>
          </a:p>
          <a:p xmlns:a="http://schemas.openxmlformats.org/drawingml/2006/main">
            <a:r>
              <a:t>    "relative_percent": 0.876716222027385,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2025,</a:t>
            </a:r>
          </a:p>
          <a:p xmlns:a="http://schemas.openxmlformats.org/drawingml/2006/main">
            <a:r>
              <a:t>    "legacy_keys":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"T_LDV_BEV_CHRG",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"T_LDV_PHEV_CHRG",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2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"MHDV chargers",</a:t>
            </a:r>
          </a:p>
          <a:p xmlns:a="http://schemas.openxmlformats.org/drawingml/2006/main">
            <a:r>
              <a:t>    "table": "cost_fixed",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"T_MHDV_CHRG_N",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"T_MHDV_CHRG_N",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12.064830702390768,</a:t>
            </a:r>
          </a:p>
          <a:p xmlns:a="http://schemas.openxmlformats.org/drawingml/2006/main">
            <a:r>
              <a:t>    "legacy": 11.989424613,</a:t>
            </a:r>
          </a:p>
          <a:p xmlns:a="http://schemas.openxmlformats.org/drawingml/2006/main">
            <a:r>
              <a:t>    "candidate_units": "$M 2020CAD / GW",</a:t>
            </a:r>
          </a:p>
          <a:p xmlns:a="http://schemas.openxmlformats.org/drawingml/2006/main">
            <a:r>
              <a:t>    "legacy_units": "$M 2020CAD / GW",</a:t>
            </a:r>
          </a:p>
          <a:p xmlns:a="http://schemas.openxmlformats.org/drawingml/2006/main">
            <a:r>
              <a:t>    "units": "$M 2020CAD / 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"charger class rate bridge; legacy constituent rates must agree",</a:t>
            </a:r>
          </a:p>
          <a:p xmlns:a="http://schemas.openxmlformats.org/drawingml/2006/main">
            <a:r>
              <a:t>    "delta": 0.07540608939076776,</a:t>
            </a:r>
          </a:p>
          <a:p xmlns:a="http://schemas.openxmlformats.org/drawingml/2006/main">
            <a:r>
              <a:t>    "absolute_difference": 0.07540608939076776,</a:t>
            </a:r>
          </a:p>
          <a:p xmlns:a="http://schemas.openxmlformats.org/drawingml/2006/main">
            <a:r>
              <a:t>    "relative_percent": 0.6289383504610035,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2025,</a:t>
            </a:r>
          </a:p>
          <a:p xmlns:a="http://schemas.openxmlformats.org/drawingml/2006/main">
            <a:r>
              <a:t>    "legacy_keys":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2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cost_invest: Reported driver: OEO replaced by CIMS capital costs normalized to service-output units; aircraft service output is derived from FAA operational data.</a:t>
            </a:r>
          </a:p>
          <a:p xmlns:a="http://schemas.openxmlformats.org/drawingml/2006/main">
            <a:r>
              <a:t>Comparison: Use separate freight/passenger panels for native-unit bars. A explicitly labeled percentage-change chart is an alternative; do not put unlike native units on a shared axis.</a:t>
            </a:r>
          </a:p>
          <a:p xmlns:a="http://schemas.openxmlformats.org/drawingml/2006/main">
            <a:r>
              <a:t>Interpretation: 2025 technology vintages. Distinct examples, no class means or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"T_HDV_WTF_MDO_N",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"T_HDV_WTF_MDO_N",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159.71497923605244,</a:t>
            </a:r>
          </a:p>
          <a:p xmlns:a="http://schemas.openxmlformats.org/drawingml/2006/main">
            <a:r>
              <a:t>    "legacy": 21.111052987,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138.60392624905245,</a:t>
            </a:r>
          </a:p>
          <a:p xmlns:a="http://schemas.openxmlformats.org/drawingml/2006/main">
            <a:r>
              <a:t>    "absolute_difference": 138.60392624905245,</a:t>
            </a:r>
          </a:p>
          <a:p xmlns:a="http://schemas.openxmlformats.org/drawingml/2006/main">
            <a:r>
              <a:t>    "relative_percent": 656.5467214468341,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"Rail freight,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"T_HDV_RF_DSL_N",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"T_HDV_RF_DSL_N",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39.10602039451965,</a:t>
            </a:r>
          </a:p>
          <a:p xmlns:a="http://schemas.openxmlformats.org/drawingml/2006/main">
            <a:r>
              <a:t>    "legacy": 27.214521015,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11.891499379519654,</a:t>
            </a:r>
          </a:p>
          <a:p xmlns:a="http://schemas.openxmlformats.org/drawingml/2006/main">
            <a:r>
              <a:t>    "absolute_difference": 11.891499379519654,</a:t>
            </a:r>
          </a:p>
          <a:p xmlns:a="http://schemas.openxmlformats.org/drawingml/2006/main">
            <a:r>
              <a:t>    "relative_percent": 43.69542044471532,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"Air freight, jet fuel",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"T_HDV_AJF_JFL_N",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"T_HDV_AJF_JFL_N",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6132.623678803439,</a:t>
            </a:r>
          </a:p>
          <a:p xmlns:a="http://schemas.openxmlformats.org/drawingml/2006/main">
            <a:r>
              <a:t>    "legacy": 2722.833566153,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3409.7901126504394,</a:t>
            </a:r>
          </a:p>
          <a:p xmlns:a="http://schemas.openxmlformats.org/drawingml/2006/main">
            <a:r>
              <a:t>    "absolute_difference": 3409.7901126504394,</a:t>
            </a:r>
          </a:p>
          <a:p xmlns:a="http://schemas.openxmlformats.org/drawingml/2006/main">
            <a:r>
              <a:t>    "relative_percent": 125.22947252585905,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rail,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"T_HDV_RICP_DSL_N",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"T_HDV_RICP_DSL_N",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1885.6878005906885,</a:t>
            </a:r>
          </a:p>
          <a:p xmlns:a="http://schemas.openxmlformats.org/drawingml/2006/main">
            <a:r>
              <a:t>    "legacy": 540.223281,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1345.4645195906885,</a:t>
            </a:r>
          </a:p>
          <a:p xmlns:a="http://schemas.openxmlformats.org/drawingml/2006/main">
            <a:r>
              <a:t>    "absolute_difference": 1345.4645195906885,</a:t>
            </a:r>
          </a:p>
          <a:p xmlns:a="http://schemas.openxmlformats.org/drawingml/2006/main">
            <a:r>
              <a:t>    "relative_percent": 249.05711525429214,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air, jet fuel",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"T_HDV_AJP_JFL_N",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"T_HDV_AJP_JFL_N",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1032.1218289023984,</a:t>
            </a:r>
          </a:p>
          <a:p xmlns:a="http://schemas.openxmlformats.org/drawingml/2006/main">
            <a:r>
              <a:t>    "legacy": 676.775622209,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355.34620669339847,</a:t>
            </a:r>
          </a:p>
          <a:p xmlns:a="http://schemas.openxmlformats.org/drawingml/2006/main">
            <a:r>
              <a:t>    "absolute_difference": 355.34620669339847,</a:t>
            </a:r>
          </a:p>
          <a:p xmlns:a="http://schemas.openxmlformats.org/drawingml/2006/main">
            <a:r>
              <a:t>    "relative_percent": 52.505763362685286,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cost_invest: Reported driver: ATB retail prices divided by the 1.5 markup should largely preserve the cost basis, leaving aggregation weights as the expected main source of differences. The larger regional/long-haul aggregation change is a hypothesis for heavy trucks. ATB lacks gasoline MDV inputs present in legacy Islam et al. 2023 evidence.</a:t>
            </a:r>
          </a:p>
          <a:p xmlns:a="http://schemas.openxmlformats.org/drawingml/2006/main">
            <a:r>
              <a:t>Comparison: Paired native bars; $M 2020CAD/thousand vehicles. Select car, light truck, diesel MDV and diesel or BEV HDV; retain gasoline MDV in the table.</a:t>
            </a:r>
          </a:p>
          <a:p xmlns:a="http://schemas.openxmlformats.org/drawingml/2006/main">
            <a:r>
              <a:t>Interpretation: The heavy-truck explanation is a hypothesis, not a verified quantitative attribution. Gasoline MDV has a new SQLite row; it is not a missing-output example. New gasoline and diesel MDV investment costs are identical: 41.288421469437736. Keep missing source input coverage distinct from output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gasoline",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18.099727473265236,</a:t>
            </a:r>
          </a:p>
          <a:p xmlns:a="http://schemas.openxmlformats.org/drawingml/2006/main">
            <a:r>
              <a:t>    "legacy": 19.336826199,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-1.2370987257347643,</a:t>
            </a:r>
          </a:p>
          <a:p xmlns:a="http://schemas.openxmlformats.org/drawingml/2006/main">
            <a:r>
              <a:t>    "absolute_difference": 1.2370987257347643,</a:t>
            </a:r>
          </a:p>
          <a:p xmlns:a="http://schemas.openxmlformats.org/drawingml/2006/main">
            <a:r>
              <a:t>    "relative_percent": -6.397630681495914,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gasoline",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22.976303566477313,</a:t>
            </a:r>
          </a:p>
          <a:p xmlns:a="http://schemas.openxmlformats.org/drawingml/2006/main">
            <a:r>
              <a:t>    "legacy": 24.877318529,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-1.9010149625226873,</a:t>
            </a:r>
          </a:p>
          <a:p xmlns:a="http://schemas.openxmlformats.org/drawingml/2006/main">
            <a:r>
              <a:t>    "absolute_difference": 1.9010149625226873,</a:t>
            </a:r>
          </a:p>
          <a:p xmlns:a="http://schemas.openxmlformats.org/drawingml/2006/main">
            <a:r>
              <a:t>    "relative_percent": -7.641558957837981,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41.288421469437736,</a:t>
            </a:r>
          </a:p>
          <a:p xmlns:a="http://schemas.openxmlformats.org/drawingml/2006/main">
            <a:r>
              <a:t>    "legacy": 54.668782164,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-13.380360694562263,</a:t>
            </a:r>
          </a:p>
          <a:p xmlns:a="http://schemas.openxmlformats.org/drawingml/2006/main">
            <a:r>
              <a:t>    "absolute_difference": 13.380360694562263,</a:t>
            </a:r>
          </a:p>
          <a:p xmlns:a="http://schemas.openxmlformats.org/drawingml/2006/main">
            <a:r>
              <a:t>    "relative_percent": -24.475322414212073,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truck, gasoline",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"T_MDV_T_GSL_N",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"T_MDV_T_GSL_N",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41.288421469437736,</a:t>
            </a:r>
          </a:p>
          <a:p xmlns:a="http://schemas.openxmlformats.org/drawingml/2006/main">
            <a:r>
              <a:t>    "legacy": 55.45183589,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-14.163414420562262,</a:t>
            </a:r>
          </a:p>
          <a:p xmlns:a="http://schemas.openxmlformats.org/drawingml/2006/main">
            <a:r>
              <a:t>    "absolute_difference": 14.163414420562262,</a:t>
            </a:r>
          </a:p>
          <a:p xmlns:a="http://schemas.openxmlformats.org/drawingml/2006/main">
            <a:r>
              <a:t>    "relative_percent": -25.54183138076488,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110.99023673741151,</a:t>
            </a:r>
          </a:p>
          <a:p xmlns:a="http://schemas.openxmlformats.org/drawingml/2006/main">
            <a:r>
              <a:t>    "legacy": 150.78258797,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-39.7923512325885,</a:t>
            </a:r>
          </a:p>
          <a:p xmlns:a="http://schemas.openxmlformats.org/drawingml/2006/main">
            <a:r>
              <a:t>    "absolute_difference": 39.7923512325885,</a:t>
            </a:r>
          </a:p>
          <a:p xmlns:a="http://schemas.openxmlformats.org/drawingml/2006/main">
            <a:r>
              <a:t>    "relative_percent": -26.390547985889235,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truck, BEV",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"T_HDV_T_BEV_N",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"T_HDV_T_BEV_N",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342.1920178229556,</a:t>
            </a:r>
          </a:p>
          <a:p xmlns:a="http://schemas.openxmlformats.org/drawingml/2006/main">
            <a:r>
              <a:t>    "legacy": 479.89513156,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-137.70311373704436,</a:t>
            </a:r>
          </a:p>
          <a:p xmlns:a="http://schemas.openxmlformats.org/drawingml/2006/main">
            <a:r>
              <a:t>    "absolute_difference": 137.70311373704436,</a:t>
            </a:r>
          </a:p>
          <a:p xmlns:a="http://schemas.openxmlformats.org/drawingml/2006/main">
            <a:r>
              <a:t>    "relative_percent": -28.694417734435326,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cost_variable: Reported method: off-road operating costs apply OEO capital-to-operating relationships to revised capital costs; aircraft use FAA-derived operating costs.</a:t>
            </a:r>
          </a:p>
          <a:p xmlns:a="http://schemas.openxmlformats.org/drawingml/2006/main">
            <a:r>
              <a:t>Comparison: Native bars with separate unit panels and, if needed, separate scales by mode so that marine legacy values remain visible. Avoid one enormous percentage axis driven by marine.</a:t>
            </a:r>
          </a:p>
          <a:p xmlns:a="http://schemas.openxmlformats.org/drawingml/2006/main">
            <a:r>
              <a:t>Interpretation: Do not claim the same final capex/opex ratio alone explains marine magnitudes. For marine MDO, capex changes by +656.55% and opex by +22238.19%. Candidate opex/capex=0.05, legacy=0.001693; the outputs do not establish a common ratio. The requested driver can be described as a reported method, without adding an unrequested root cause or a full quantitative decomposition.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"T_HDV_WTF_MDO_N",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"T_HDV_WTF_MDO_N",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7.9857489618026225,</a:t>
            </a:r>
          </a:p>
          <a:p xmlns:a="http://schemas.openxmlformats.org/drawingml/2006/main">
            <a:r>
              <a:t>    "legacy": 0.035749317,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7.949999644802623,</a:t>
            </a:r>
          </a:p>
          <a:p xmlns:a="http://schemas.openxmlformats.org/drawingml/2006/main">
            <a:r>
              <a:t>    "absolute_difference": 7.949999644802623,</a:t>
            </a:r>
          </a:p>
          <a:p xmlns:a="http://schemas.openxmlformats.org/drawingml/2006/main">
            <a:r>
              <a:t>    "relative_percent": 22238.186102415948,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"Rail freight,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"T_HDV_RF_DSL_N",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"T_HDV_RF_DSL_N",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2.3463612236711793,</a:t>
            </a:r>
          </a:p>
          <a:p xmlns:a="http://schemas.openxmlformats.org/drawingml/2006/main">
            <a:r>
              <a:t>    "legacy": 1.632871261,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0.7134899626711793,</a:t>
            </a:r>
          </a:p>
          <a:p xmlns:a="http://schemas.openxmlformats.org/drawingml/2006/main">
            <a:r>
              <a:t>    "absolute_difference": 0.7134899626711793,</a:t>
            </a:r>
          </a:p>
          <a:p xmlns:a="http://schemas.openxmlformats.org/drawingml/2006/main">
            <a:r>
              <a:t>    "relative_percent": 43.69542043591514,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"Air freight, jet fuel",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"T_HDV_AJF_JFL_N",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"T_HDV_AJF_JFL_N",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123.92235600905248,</a:t>
            </a:r>
          </a:p>
          <a:p xmlns:a="http://schemas.openxmlformats.org/drawingml/2006/main">
            <a:r>
              <a:t>    "legacy": 24.089881813,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99.83247419605247,</a:t>
            </a:r>
          </a:p>
          <a:p xmlns:a="http://schemas.openxmlformats.org/drawingml/2006/main">
            <a:r>
              <a:t>    "absolute_difference": 99.83247419605247,</a:t>
            </a:r>
          </a:p>
          <a:p xmlns:a="http://schemas.openxmlformats.org/drawingml/2006/main">
            <a:r>
              <a:t>    "relative_percent": 414.41662093243775,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rail,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"T_HDV_RICP_DSL_N",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"T_HDV_RICP_DSL_N",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188.56878005906887,</a:t>
            </a:r>
          </a:p>
          <a:p xmlns:a="http://schemas.openxmlformats.org/drawingml/2006/main">
            <a:r>
              <a:t>    "legacy": 54.0223281,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134.54645195906886,</a:t>
            </a:r>
          </a:p>
          <a:p xmlns:a="http://schemas.openxmlformats.org/drawingml/2006/main">
            <a:r>
              <a:t>    "absolute_difference": 134.54645195906886,</a:t>
            </a:r>
          </a:p>
          <a:p xmlns:a="http://schemas.openxmlformats.org/drawingml/2006/main">
            <a:r>
              <a:t>    "relative_percent": 249.05711525429214,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air, jet fuel",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"T_HDV_AJP_JFL_N",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"T_HDV_AJP_JFL_N",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13.758879463241271,</a:t>
            </a:r>
          </a:p>
          <a:p xmlns:a="http://schemas.openxmlformats.org/drawingml/2006/main">
            <a:r>
              <a:t>    "legacy": 6.200477247,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7.558402216241271,</a:t>
            </a:r>
          </a:p>
          <a:p xmlns:a="http://schemas.openxmlformats.org/drawingml/2006/main">
            <a:r>
              <a:t>    "absolute_difference": 7.558402216241271,</a:t>
            </a:r>
          </a:p>
          <a:p xmlns:a="http://schemas.openxmlformats.org/drawingml/2006/main">
            <a:r>
              <a:t>    "relative_percent": 121.90032984796906,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cost_variable: Reported driver: formula-derived costs replace costs read directly from the BEAN model.</a:t>
            </a:r>
          </a:p>
          <a:p xmlns:a="http://schemas.openxmlformats.org/drawingml/2006/main">
            <a:r>
              <a:t>Comparison: Separate passenger and freight panels, each with paired native bars. All rows use vintage=period=2025.</a:t>
            </a:r>
          </a:p>
          <a:p xmlns:a="http://schemas.openxmlformats.org/drawingml/2006/main">
            <a:r>
              <a:t>Interpretation: These are examples of the requested road group, not powertrain- or fleet-weighted class averages.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gasoline",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53.00414575170667,</a:t>
            </a:r>
          </a:p>
          <a:p xmlns:a="http://schemas.openxmlformats.org/drawingml/2006/main">
            <a:r>
              <a:t>    "legacy": 27.476041225,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25.528104526706674,</a:t>
            </a:r>
          </a:p>
          <a:p xmlns:a="http://schemas.openxmlformats.org/drawingml/2006/main">
            <a:r>
              <a:t>    "absolute_difference": 25.528104526706674,</a:t>
            </a:r>
          </a:p>
          <a:p xmlns:a="http://schemas.openxmlformats.org/drawingml/2006/main">
            <a:r>
              <a:t>    "relative_percent": 92.91041718003783,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gasoline",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49.06726369156515,</a:t>
            </a:r>
          </a:p>
          <a:p xmlns:a="http://schemas.openxmlformats.org/drawingml/2006/main">
            <a:r>
              <a:t>    "legacy": 26.339524351,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22.72773934056515,</a:t>
            </a:r>
          </a:p>
          <a:p xmlns:a="http://schemas.openxmlformats.org/drawingml/2006/main">
            <a:r>
              <a:t>    "absolute_difference": 22.72773934056515,</a:t>
            </a:r>
          </a:p>
          <a:p xmlns:a="http://schemas.openxmlformats.org/drawingml/2006/main">
            <a:r>
              <a:t>    "relative_percent": 86.28758453530035,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"School bus,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"T_HDV_BS_DSL_N",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"T_HDV_BS_DSL_N",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1.3143676267937874,</a:t>
            </a:r>
          </a:p>
          <a:p xmlns:a="http://schemas.openxmlformats.org/drawingml/2006/main">
            <a:r>
              <a:t>    "legacy": 9.760119627,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-8.445752000206213,</a:t>
            </a:r>
          </a:p>
          <a:p xmlns:a="http://schemas.openxmlformats.org/drawingml/2006/main">
            <a:r>
              <a:t>    "absolute_difference": 8.445752000206213,</a:t>
            </a:r>
          </a:p>
          <a:p xmlns:a="http://schemas.openxmlformats.org/drawingml/2006/main">
            <a:r>
              <a:t>    "relative_percent": -86.53328363765364,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"Transit bus,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7.4729038428853425,</a:t>
            </a:r>
          </a:p>
          <a:p xmlns:a="http://schemas.openxmlformats.org/drawingml/2006/main">
            <a:r>
              <a:t>    "legacy": 10.439820099,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-2.966916256114658,</a:t>
            </a:r>
          </a:p>
          <a:p xmlns:a="http://schemas.openxmlformats.org/drawingml/2006/main">
            <a:r>
              <a:t>    "absolute_difference": 2.966916256114658,</a:t>
            </a:r>
          </a:p>
          <a:p xmlns:a="http://schemas.openxmlformats.org/drawingml/2006/main">
            <a:r>
              <a:t>    "relative_percent": -28.419227802583016,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152.447328496631,</a:t>
            </a:r>
          </a:p>
          <a:p xmlns:a="http://schemas.openxmlformats.org/drawingml/2006/main">
            <a:r>
              <a:t>    "legacy": 209.031560942,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-56.584232445369,</a:t>
            </a:r>
          </a:p>
          <a:p xmlns:a="http://schemas.openxmlformats.org/drawingml/2006/main">
            <a:r>
              <a:t>    "absolute_difference": 56.584232445369,</a:t>
            </a:r>
          </a:p>
          <a:p xmlns:a="http://schemas.openxmlformats.org/drawingml/2006/main">
            <a:r>
              <a:t>    "relative_percent": -27.069707651022817,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14.327485393495275,</a:t>
            </a:r>
          </a:p>
          <a:p xmlns:a="http://schemas.openxmlformats.org/drawingml/2006/main">
            <a:r>
              <a:t>    "legacy": 17.210813999,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-2.8833286055047243,</a:t>
            </a:r>
          </a:p>
          <a:p xmlns:a="http://schemas.openxmlformats.org/drawingml/2006/main">
            <a:r>
              <a:t>    "absolute_difference": 2.8833286055047243,</a:t>
            </a:r>
          </a:p>
          <a:p xmlns:a="http://schemas.openxmlformats.org/drawingml/2006/main">
            <a:r>
              <a:t>    "relative_percent": -16.75300543990688,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demand: Reported driver: the large change in marine energy use between CEUD editions.</a:t>
            </a:r>
          </a:p>
          <a:p xmlns:a="http://schemas.openxmlformats.org/drawingml/2006/main">
            <a:r>
              <a:t>Comparison: Paired native bars in bn tonne-km.</a:t>
            </a:r>
          </a:p>
          <a:p xmlns:a="http://schemas.openxmlformats.org/drawingml/2006/main">
            <a:r>
              <a:t>Interpretation: 2025 model-period demand; labels must say model period. Snapshot maps this model period to the 2030 demand input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demand: Reported driver: future demand is indexed to 2023 rather than the legacy 2019 demand baseline.</a:t>
            </a:r>
          </a:p>
          <a:p xmlns:a="http://schemas.openxmlformats.org/drawingml/2006/main">
            <a:r>
              <a:t>Comparison: Choose a small explicit set (e.g. cars, passenger light trucks, school buses; heavy trucks, rail freight, medium trucks) and separate passenger/freight panels. Unselected modes need no added driver.</a:t>
            </a:r>
          </a:p>
          <a:p xmlns:a="http://schemas.openxmlformats.org/drawingml/2006/main">
            <a:r>
              <a:t>Interpretation: Different changes across modes do not imply different named drivers. Do not label 2025 modeled demand as an observed 2025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"T_D_tkm_hdv_wt",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8.639266635416043,</a:t>
            </a:r>
          </a:p>
          <a:p xmlns:a="http://schemas.openxmlformats.org/drawingml/2006/main">
            <a:r>
              <a:t>    "legacy": 57.560754858,</a:t>
            </a:r>
          </a:p>
          <a:p xmlns:a="http://schemas.openxmlformats.org/drawingml/2006/main">
            <a:r>
              <a:t>    "candidate_units": "bn tonne-km",</a:t>
            </a:r>
          </a:p>
          <a:p xmlns:a="http://schemas.openxmlformats.org/drawingml/2006/main">
            <a:r>
              <a:t>    "legacy_units": "bn tonne-km",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-48.92148822258396,</a:t>
            </a:r>
          </a:p>
          <a:p xmlns:a="http://schemas.openxmlformats.org/drawingml/2006/main">
            <a:r>
              <a:t>    "absolute_difference": 48.92148822258396,</a:t>
            </a:r>
          </a:p>
          <a:p xmlns:a="http://schemas.openxmlformats.org/drawingml/2006/main">
            <a:r>
              <a:t>    "relative_percent": -84.99104701331878,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"T_D_tkm_hdv_wt",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"Intercity bus",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"T_D_pkm_hdv_bic",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0.819704110801976,</a:t>
            </a:r>
          </a:p>
          <a:p xmlns:a="http://schemas.openxmlformats.org/drawingml/2006/main">
            <a:r>
              <a:t>    "legacy": 1.976604143,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-1.156900032198024,</a:t>
            </a:r>
          </a:p>
          <a:p xmlns:a="http://schemas.openxmlformats.org/drawingml/2006/main">
            <a:r>
              <a:t>    "absolute_difference": 1.156900032198024,</a:t>
            </a:r>
          </a:p>
          <a:p xmlns:a="http://schemas.openxmlformats.org/drawingml/2006/main">
            <a:r>
              <a:t>    "relative_percent": -58.52967759351823,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"T_D_pkm_hdv_bic",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"T_D_pkm_ldv_c",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93.64133663017184,</a:t>
            </a:r>
          </a:p>
          <a:p xmlns:a="http://schemas.openxmlformats.org/drawingml/2006/main">
            <a:r>
              <a:t>    "legacy": 131.348452969,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-37.70711633882816,</a:t>
            </a:r>
          </a:p>
          <a:p xmlns:a="http://schemas.openxmlformats.org/drawingml/2006/main">
            <a:r>
              <a:t>    "absolute_difference": 37.70711633882816,</a:t>
            </a:r>
          </a:p>
          <a:p xmlns:a="http://schemas.openxmlformats.org/drawingml/2006/main">
            <a:r>
              <a:t>    "relative_percent": -28.707697339783323,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"T_D_pkm_ldv_c",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"T_D_pkm_ldv_t",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135.5185829981731,</a:t>
            </a:r>
          </a:p>
          <a:p xmlns:a="http://schemas.openxmlformats.org/drawingml/2006/main">
            <a:r>
              <a:t>    "legacy": 133.044195247,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2.474387751173083,</a:t>
            </a:r>
          </a:p>
          <a:p xmlns:a="http://schemas.openxmlformats.org/drawingml/2006/main">
            <a:r>
              <a:t>    "absolute_difference": 2.474387751173083,</a:t>
            </a:r>
          </a:p>
          <a:p xmlns:a="http://schemas.openxmlformats.org/drawingml/2006/main">
            <a:r>
              <a:t>    "relative_percent": 1.859823907821997,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"T_D_pkm_ldv_t",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"T_D_tkm_hdv_t",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103.19632643574776,</a:t>
            </a:r>
          </a:p>
          <a:p xmlns:a="http://schemas.openxmlformats.org/drawingml/2006/main">
            <a:r>
              <a:t>    "legacy": 98.864968731,</a:t>
            </a:r>
          </a:p>
          <a:p xmlns:a="http://schemas.openxmlformats.org/drawingml/2006/main">
            <a:r>
              <a:t>    "candidate_units": "bn tonne-km",</a:t>
            </a:r>
          </a:p>
          <a:p xmlns:a="http://schemas.openxmlformats.org/drawingml/2006/main">
            <a:r>
              <a:t>    "legacy_units": "bn tonne-km",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4.331357704747759,</a:t>
            </a:r>
          </a:p>
          <a:p xmlns:a="http://schemas.openxmlformats.org/drawingml/2006/main">
            <a:r>
              <a:t>    "absolute_difference": 4.331357704747759,</a:t>
            </a:r>
          </a:p>
          <a:p xmlns:a="http://schemas.openxmlformats.org/drawingml/2006/main">
            <a:r>
              <a:t>    "relative_percent": 4.381084382409381,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"T_D_tkm_hdv_t",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air",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"T_D_pkm_hdv_aj",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82.69772409009096,</a:t>
            </a:r>
          </a:p>
          <a:p xmlns:a="http://schemas.openxmlformats.org/drawingml/2006/main">
            <a:r>
              <a:t>    "legacy": 76.344121324,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6.353602766090958,</a:t>
            </a:r>
          </a:p>
          <a:p xmlns:a="http://schemas.openxmlformats.org/drawingml/2006/main">
            <a:r>
              <a:t>    "absolute_difference": 6.353602766090958,</a:t>
            </a:r>
          </a:p>
          <a:p xmlns:a="http://schemas.openxmlformats.org/drawingml/2006/main">
            <a:r>
              <a:t>    "relative_percent": 8.322320901601104,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"T_D_pkm_hdv_aj",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efficiency: Reported bus driver: CEUD intensities now backcast ATB values for existing stocks, replacing GREET gasoline/diesel and CNG/diesel scaling with ATB-indexed improvement. Reported marine driver: CEUD intensities and REGEN improvement assumptions replace regional-report values.</a:t>
            </a:r>
          </a:p>
          <a:p xmlns:a="http://schemas.openxmlformats.org/drawingml/2006/main">
            <a:r>
              <a:t>Comparison: Two panels: existing bus vintage 2020 in bn passenger-km/PJ, new marine vintage 2025 in bn tonne-km/PJ. Larger values mean more service output per unit energy.</a:t>
            </a:r>
          </a:p>
          <a:p xmlns:a="http://schemas.openxmlformats.org/drawingml/2006/main">
            <a:r>
              <a:t>Interpretation: The panels intentionally use different vintage slices to illustrate the two listed observations; show both years in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"School bus, diesel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"T_HDV_BS_DSL_EX",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"T_dsl",</a:t>
            </a:r>
          </a:p>
          <a:p xmlns:a="http://schemas.openxmlformats.org/drawingml/2006/main">
            <a:r>
              <a:t>      "output_comm": "T_D_pkm_hdv_bs",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"T_HDV_BS_DSL_EX",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3.5629511057368903,</a:t>
            </a:r>
          </a:p>
          <a:p xmlns:a="http://schemas.openxmlformats.org/drawingml/2006/main">
            <a:r>
              <a:t>    "legacy": 2.234966498,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1.3279846077368904,</a:t>
            </a:r>
          </a:p>
          <a:p xmlns:a="http://schemas.openxmlformats.org/drawingml/2006/main">
            <a:r>
              <a:t>    "absolute_difference": 1.3279846077368904,</a:t>
            </a:r>
          </a:p>
          <a:p xmlns:a="http://schemas.openxmlformats.org/drawingml/2006/main">
            <a:r>
              <a:t>    "relative_percent": 59.418546493885316,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"T_dsl",</a:t>
            </a:r>
          </a:p>
          <a:p xmlns:a="http://schemas.openxmlformats.org/drawingml/2006/main">
            <a:r>
              <a:t>    "output_comm": "T_D_pkm_hdv_bs"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"School bus, gasoline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"T_HDV_BS_GSL_EX",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"T_gsl",</a:t>
            </a:r>
          </a:p>
          <a:p xmlns:a="http://schemas.openxmlformats.org/drawingml/2006/main">
            <a:r>
              <a:t>      "output_comm": "T_D_pkm_hdv_bs",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"T_HDV_BS_GSL_EX",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3.5629511057368903,</a:t>
            </a:r>
          </a:p>
          <a:p xmlns:a="http://schemas.openxmlformats.org/drawingml/2006/main">
            <a:r>
              <a:t>    "legacy": 1.862472082,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1.7004790237368903,</a:t>
            </a:r>
          </a:p>
          <a:p xmlns:a="http://schemas.openxmlformats.org/drawingml/2006/main">
            <a:r>
              <a:t>    "absolute_difference": 1.7004790237368903,</a:t>
            </a:r>
          </a:p>
          <a:p xmlns:a="http://schemas.openxmlformats.org/drawingml/2006/main">
            <a:r>
              <a:t>    "relative_percent": 91.30225575842431,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"T_gsl",</a:t>
            </a:r>
          </a:p>
          <a:p xmlns:a="http://schemas.openxmlformats.org/drawingml/2006/main">
            <a:r>
              <a:t>    "output_comm": "T_D_pkm_hdv_bs"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"Transit bus, diesel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"T_HDV_BT_DSL_EX",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"T_dsl",</a:t>
            </a:r>
          </a:p>
          <a:p xmlns:a="http://schemas.openxmlformats.org/drawingml/2006/main">
            <a:r>
              <a:t>      "output_comm": "T_D_pkm_hdv_bt",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"T_HDV_BT_DSL_EX",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1.1881244472551553,</a:t>
            </a:r>
          </a:p>
          <a:p xmlns:a="http://schemas.openxmlformats.org/drawingml/2006/main">
            <a:r>
              <a:t>    "legacy": 0.539757746,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0.6483667012551553,</a:t>
            </a:r>
          </a:p>
          <a:p xmlns:a="http://schemas.openxmlformats.org/drawingml/2006/main">
            <a:r>
              <a:t>    "absolute_difference": 0.6483667012551553,</a:t>
            </a:r>
          </a:p>
          <a:p xmlns:a="http://schemas.openxmlformats.org/drawingml/2006/main">
            <a:r>
              <a:t>    "relative_percent": 120.12179650223217,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"T_dsl",</a:t>
            </a:r>
          </a:p>
          <a:p xmlns:a="http://schemas.openxmlformats.org/drawingml/2006/main">
            <a:r>
              <a:t>    "output_comm": "T_D_pkm_hdv_bt"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"Transit bus, CNG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"T_HDV_BT_CNG_EX",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"T_cng",</a:t>
            </a:r>
          </a:p>
          <a:p xmlns:a="http://schemas.openxmlformats.org/drawingml/2006/main">
            <a:r>
              <a:t>      "output_comm": "T_D_pkm_hdv_bt",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"T_HDV_BT_CNG_EX",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1.1881244472551553,</a:t>
            </a:r>
          </a:p>
          <a:p xmlns:a="http://schemas.openxmlformats.org/drawingml/2006/main">
            <a:r>
              <a:t>    "legacy": 0.458794084,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0.7293303632551553,</a:t>
            </a:r>
          </a:p>
          <a:p xmlns:a="http://schemas.openxmlformats.org/drawingml/2006/main">
            <a:r>
              <a:t>    "absolute_difference": 0.7293303632551553,</a:t>
            </a:r>
          </a:p>
          <a:p xmlns:a="http://schemas.openxmlformats.org/drawingml/2006/main">
            <a:r>
              <a:t>    "relative_percent": 158.96681947083593,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"T_cng",</a:t>
            </a:r>
          </a:p>
          <a:p xmlns:a="http://schemas.openxmlformats.org/drawingml/2006/main">
            <a:r>
              <a:t>    "output_comm": "T_D_pkm_hdv_bt"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efficiency: Reported bus driver: CEUD intensities now backcast ATB values for existing stocks, replacing GREET gasoline/diesel and CNG/diesel scaling with ATB-indexed improvement. Reported marine driver: CEUD intensities and REGEN improvement assumptions replace regional-report values.</a:t>
            </a:r>
          </a:p>
          <a:p xmlns:a="http://schemas.openxmlformats.org/drawingml/2006/main">
            <a:r>
              <a:t>Comparison: Two panels: existing bus vintage 2020 in bn passenger-km/PJ, new marine vintage 2025 in bn tonne-km/PJ. Larger values mean more service output per unit energy.</a:t>
            </a:r>
          </a:p>
          <a:p xmlns:a="http://schemas.openxmlformats.org/drawingml/2006/main">
            <a:r>
              <a:t>Interpretation: The panels intentionally use different vintage slices to illustrate the two listed observations; show both years in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HFO (2025)",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"T_HDV_WTF_HFO_N",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"T_hfo",</a:t>
            </a:r>
          </a:p>
          <a:p xmlns:a="http://schemas.openxmlformats.org/drawingml/2006/main">
            <a:r>
              <a:t>      "output_comm": "T_D_tkm_hdv_wt",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"T_HDV_WTF_HFO_N",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3.7358698473783414,</a:t>
            </a:r>
          </a:p>
          <a:p xmlns:a="http://schemas.openxmlformats.org/drawingml/2006/main">
            <a:r>
              <a:t>    "legacy": 6.667421446,</a:t>
            </a:r>
          </a:p>
          <a:p xmlns:a="http://schemas.openxmlformats.org/drawingml/2006/main">
            <a:r>
              <a:t>    "candidate_units": "bn tonne-km/PJ",</a:t>
            </a:r>
          </a:p>
          <a:p xmlns:a="http://schemas.openxmlformats.org/drawingml/2006/main">
            <a:r>
              <a:t>    "legacy_units": "bn tonne-km/PJ",</a:t>
            </a:r>
          </a:p>
          <a:p xmlns:a="http://schemas.openxmlformats.org/drawingml/2006/main">
            <a:r>
              <a:t>    "units": "bn tonne-km/PJ",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-2.9315515986216583,</a:t>
            </a:r>
          </a:p>
          <a:p xmlns:a="http://schemas.openxmlformats.org/drawingml/2006/main">
            <a:r>
              <a:t>    "absolute_difference": 2.9315515986216583,</a:t>
            </a:r>
          </a:p>
          <a:p xmlns:a="http://schemas.openxmlformats.org/drawingml/2006/main">
            <a:r>
              <a:t>    "relative_percent": -43.96829602515062,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"T_hfo",</a:t>
            </a:r>
          </a:p>
          <a:p xmlns:a="http://schemas.openxmlformats.org/drawingml/2006/main">
            <a:r>
              <a:t>    "output_comm": "T_D_tkm_hdv_wt"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 (2025)",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"T_HDV_WTF_MDO_N",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"T_mdo",</a:t>
            </a:r>
          </a:p>
          <a:p xmlns:a="http://schemas.openxmlformats.org/drawingml/2006/main">
            <a:r>
              <a:t>      "output_comm": "T_D_tkm_hdv_wt",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"T_HDV_WTF_MDO_N",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3.8135462101515656,</a:t>
            </a:r>
          </a:p>
          <a:p xmlns:a="http://schemas.openxmlformats.org/drawingml/2006/main">
            <a:r>
              <a:t>    "legacy": 6.384609746,</a:t>
            </a:r>
          </a:p>
          <a:p xmlns:a="http://schemas.openxmlformats.org/drawingml/2006/main">
            <a:r>
              <a:t>    "candidate_units": "bn tonne-km/PJ",</a:t>
            </a:r>
          </a:p>
          <a:p xmlns:a="http://schemas.openxmlformats.org/drawingml/2006/main">
            <a:r>
              <a:t>    "legacy_units": "bn tonne-km/PJ",</a:t>
            </a:r>
          </a:p>
          <a:p xmlns:a="http://schemas.openxmlformats.org/drawingml/2006/main">
            <a:r>
              <a:t>    "units": "bn tonne-km/PJ",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-2.571063535848434,</a:t>
            </a:r>
          </a:p>
          <a:p xmlns:a="http://schemas.openxmlformats.org/drawingml/2006/main">
            <a:r>
              <a:t>    "absolute_difference": 2.571063535848434,</a:t>
            </a:r>
          </a:p>
          <a:p xmlns:a="http://schemas.openxmlformats.org/drawingml/2006/main">
            <a:r>
              <a:t>    "relative_percent": -40.26970540304711,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"T_mdo",</a:t>
            </a:r>
          </a:p>
          <a:p xmlns:a="http://schemas.openxmlformats.org/drawingml/2006/main">
            <a:r>
              <a:t>    "output_comm": "T_D_tkm_hdv_wt"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efficiency: Reported driver: merged BEV/PHEV archetypes now aggregate OMEGA vehicle-sales evidence instead of retaining a fixed range class.</a:t>
            </a:r>
          </a:p>
          <a:p xmlns:a="http://schemas.openxmlformats.org/drawingml/2006/main">
            <a:r>
              <a:t>Comparison: Paired native bars, bn passenger-km/PJ, four explicit representation bridges at vintage 2020.</a:t>
            </a:r>
          </a:p>
          <a:p xmlns:a="http://schemas.openxmlformats.org/drawingml/2006/main">
            <a:r>
              <a:t>Interpretation: These are representation bridges, not equal SQLite technology/input/output keys. Keep legacy range-specific IDs in speaker notes. Legacy passenger-truck BEV identifier is BEV300 but its row note says 150-mile. Use the identifier for the exact record; do not infer that every legacy BEV used one range. Legacy BEV service output is T_annual_pkm_*; a verified 1.0 dummy efficiency maps it to the same T_D_pkm_* service. No scaling is applied. No legacy freight light-truck BEV row exists; exclude rather than plot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BEV",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"T_LDV_C_BEV_EX",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"T_elc_ldv_chrg",</a:t>
            </a:r>
          </a:p>
          <a:p xmlns:a="http://schemas.openxmlformats.org/drawingml/2006/main">
            <a:r>
              <a:t>      "output_comm": "T_D_pkm_ldv_c",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"T_LDV_C_BEV_EX",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2.3994578223460077,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"T_elc_ldv_chrg",</a:t>
            </a:r>
          </a:p>
          <a:p xmlns:a="http://schemas.openxmlformats.org/drawingml/2006/main">
            <a:r>
              <a:t>    "output_comm": "T_D_pkm_ldv_c",</a:t>
            </a:r>
          </a:p>
          <a:p xmlns:a="http://schemas.openxmlformats.org/drawingml/2006/main">
            <a:r>
              <a:t>    "legacy": 2.324932649,</a:t>
            </a:r>
          </a:p>
          <a:p xmlns:a="http://schemas.openxmlformats.org/drawingml/2006/main">
            <a:r>
              <a:t>    "delta": 0.07452517334600772,</a:t>
            </a:r>
          </a:p>
          <a:p xmlns:a="http://schemas.openxmlformats.org/drawingml/2006/main">
            <a:r>
              <a:t>    "relative_percent": 3.2054766566275594,</a:t>
            </a:r>
          </a:p>
          <a:p xmlns:a="http://schemas.openxmlformats.org/drawingml/2006/main">
            <a:r>
              <a:t>    "legacy_tech": "T_LDV_C_BEV150_EX",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"T_elc_ldv_bev_chrg",</a:t>
            </a:r>
          </a:p>
          <a:p xmlns:a="http://schemas.openxmlformats.org/drawingml/2006/main">
            <a:r>
              <a:t>      "tech": "T_LDV_C_BEV150_EX",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"T_annual_pkm_ldv_c"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BEV ratings were grouped into range classes, 150-mile range class values were used.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BEV",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"T_LDV_LTP_BEV_EX",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"T_elc_ldv_chrg",</a:t>
            </a:r>
          </a:p>
          <a:p xmlns:a="http://schemas.openxmlformats.org/drawingml/2006/main">
            <a:r>
              <a:t>      "output_comm": "T_D_pkm_ldv_t",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"T_LDV_LTP_BEV_EX",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2.201357889341348,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"T_elc_ldv_chrg",</a:t>
            </a:r>
          </a:p>
          <a:p xmlns:a="http://schemas.openxmlformats.org/drawingml/2006/main">
            <a:r>
              <a:t>    "output_comm": "T_D_pkm_ldv_t",</a:t>
            </a:r>
          </a:p>
          <a:p xmlns:a="http://schemas.openxmlformats.org/drawingml/2006/main">
            <a:r>
              <a:t>    "legacy": 1.910662653,</a:t>
            </a:r>
          </a:p>
          <a:p xmlns:a="http://schemas.openxmlformats.org/drawingml/2006/main">
            <a:r>
              <a:t>    "delta": 0.290695236341348,</a:t>
            </a:r>
          </a:p>
          <a:p xmlns:a="http://schemas.openxmlformats.org/drawingml/2006/main">
            <a:r>
              <a:t>    "relative_percent": 15.214367428227948,</a:t>
            </a:r>
          </a:p>
          <a:p xmlns:a="http://schemas.openxmlformats.org/drawingml/2006/main">
            <a:r>
              <a:t>    "legacy_tech": "T_LDV_LTP_BEV300_EX",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"T_elc_ldv_bev_chrg",</a:t>
            </a:r>
          </a:p>
          <a:p xmlns:a="http://schemas.openxmlformats.org/drawingml/2006/main">
            <a:r>
              <a:t>      "tech": "T_LDV_LTP_BEV300_EX",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"T_annual_pkm_ldv_t"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BEV ratings were grouped into range classes, 150-mile range class values were used.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PHEV",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"T_LDV_C_GSL_PHEV_EX",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"T_gsl_elc_phev_c_ex",</a:t>
            </a:r>
          </a:p>
          <a:p xmlns:a="http://schemas.openxmlformats.org/drawingml/2006/main">
            <a:r>
              <a:t>      "output_comm": "T_D_pkm_ldv_c",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"T_LDV_C_GSL_PHEV_EX",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1.8150405851105467,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"T_gsl_elc_phev_c_ex",</a:t>
            </a:r>
          </a:p>
          <a:p xmlns:a="http://schemas.openxmlformats.org/drawingml/2006/main">
            <a:r>
              <a:t>    "output_comm": "T_D_pkm_ldv_c",</a:t>
            </a:r>
          </a:p>
          <a:p xmlns:a="http://schemas.openxmlformats.org/drawingml/2006/main">
            <a:r>
              <a:t>    "legacy": 1.493019906,</a:t>
            </a:r>
          </a:p>
          <a:p xmlns:a="http://schemas.openxmlformats.org/drawingml/2006/main">
            <a:r>
              <a:t>    "delta": 0.32202067911054666,</a:t>
            </a:r>
          </a:p>
          <a:p xmlns:a="http://schemas.openxmlformats.org/drawingml/2006/main">
            <a:r>
              <a:t>    "relative_percent": 21.568411634462613,</a:t>
            </a:r>
          </a:p>
          <a:p xmlns:a="http://schemas.openxmlformats.org/drawingml/2006/main">
            <a:r>
              <a:t>    "legacy_tech": "T_LDV_C_GSL_PHEV35_EX",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"T_gsl_elc_phev35",</a:t>
            </a:r>
          </a:p>
          <a:p xmlns:a="http://schemas.openxmlformats.org/drawingml/2006/main">
            <a:r>
              <a:t>      "tech": "T_LDV_C_GSL_PHEV35_EX",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"T_D_pkm_ldv_c"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only the charge-depletion mode efficiencies were used as the utility-weighted values where disproportionately high when compared to the utility weighted efficiency projections.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PHEV",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"T_LDV_LTP_GSL_PHEV_EX",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"T_gsl_elc_phev_ltp_ex",</a:t>
            </a:r>
          </a:p>
          <a:p xmlns:a="http://schemas.openxmlformats.org/drawingml/2006/main">
            <a:r>
              <a:t>      "output_comm": "T_D_pkm_ldv_t",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"T_LDV_LTP_GSL_PHEV_EX",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1.1613591430769286,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"T_gsl_elc_phev_ltp_ex",</a:t>
            </a:r>
          </a:p>
          <a:p xmlns:a="http://schemas.openxmlformats.org/drawingml/2006/main">
            <a:r>
              <a:t>    "output_comm": "T_D_pkm_ldv_t",</a:t>
            </a:r>
          </a:p>
          <a:p xmlns:a="http://schemas.openxmlformats.org/drawingml/2006/main">
            <a:r>
              <a:t>    "legacy": 1.378083008,</a:t>
            </a:r>
          </a:p>
          <a:p xmlns:a="http://schemas.openxmlformats.org/drawingml/2006/main">
            <a:r>
              <a:t>    "delta": -0.21672386492307139,</a:t>
            </a:r>
          </a:p>
          <a:p xmlns:a="http://schemas.openxmlformats.org/drawingml/2006/main">
            <a:r>
              <a:t>    "relative_percent": -15.726473925369767,</a:t>
            </a:r>
          </a:p>
          <a:p xmlns:a="http://schemas.openxmlformats.org/drawingml/2006/main">
            <a:r>
              <a:t>    "legacy_tech": "T_LDV_LTP_GSL_PHEV35_EX",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"T_gsl_elc_phev35",</a:t>
            </a:r>
          </a:p>
          <a:p xmlns:a="http://schemas.openxmlformats.org/drawingml/2006/main">
            <a:r>
              <a:t>      "tech": "T_LDV_LTP_GSL_PHEV35_EX",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"T_D_pkm_ldv_t"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only the charge-depletion mode efficiencies were used as the utility-weighted values where disproportionately high when compared to the utility weighted efficiency projections.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existing_capacity: Reported drivers: marine fuel-consumption differences between CEUD editions; road-stock baselines move from 2021 to 2023.</a:t>
            </a:r>
          </a:p>
          <a:p xmlns:a="http://schemas.openxmlformats.org/drawingml/2006/main">
            <a:r>
              <a:t>Comparison: Percentage-change bars across explicitly summed class inventory, or native paired bars with separate marine (bn tonne-km) and road (thousand vehicles) panels. Compare all existing stock at each version baseline.</a:t>
            </a:r>
          </a:p>
          <a:p xmlns:a="http://schemas.openxmlformats.org/drawingml/2006/main">
            <a:r>
              <a:t>Interpretation: Baseline inventory comparison: legacy 2021 versus new 2023, summing each version existing cohorts; not equal-vintage keys. Road labels explicitly cover all powertrains present within that class; merged BEV/PHEV technologies are included in their class totals. No missing output is substituted with zero. Marine units are service-output capacity; road units are vehicles. Never share a raw-value axis across these units. Original 2020 cohort examples remain available in common_2020_cohort_alternative.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HFO",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"T_HDV_WTF_HFO_EX",</a:t>
            </a:r>
          </a:p>
          <a:p xmlns:a="http://schemas.openxmlformats.org/drawingml/2006/main">
            <a:r>
              <a:t>    "candidate": 6.587017699388717,</a:t>
            </a:r>
          </a:p>
          <a:p xmlns:a="http://schemas.openxmlformats.org/drawingml/2006/main">
            <a:r>
              <a:t>    "legacy": 41.34476869,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"delta": -34.757750990611285,</a:t>
            </a:r>
          </a:p>
          <a:p xmlns:a="http://schemas.openxmlformats.org/drawingml/2006/main">
            <a:r>
              <a:t>    "relative_percent": -84.06807461234652,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1.0214032563537419,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0.34909267576826447,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0.8317720334237386,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2.042941285328911,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1.7123717437893662,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0.6294367047246946,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2.131662058,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8.653369733,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22.398071163,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8.161665736,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"T_HDV_WTF_MDO_EX",</a:t>
            </a:r>
          </a:p>
          <a:p xmlns:a="http://schemas.openxmlformats.org/drawingml/2006/main">
            <a:r>
              <a:t>    "candidate": 1.1820209121490446,</a:t>
            </a:r>
          </a:p>
          <a:p xmlns:a="http://schemas.openxmlformats.org/drawingml/2006/main">
            <a:r>
              <a:t>    "legacy": 7.618054945,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"delta": -6.436034032850955,</a:t>
            </a:r>
          </a:p>
          <a:p xmlns:a="http://schemas.openxmlformats.org/drawingml/2006/main">
            <a:r>
              <a:t>    "relative_percent": -84.48395396616499,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0.18328780395706165,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0.06264365178105528,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0.14925903990493797,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0.36659979246382124,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0.30728006252662593,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0.11295056151554247,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1.702811321,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1.779041743,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2.876054141,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1.26014774,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"T_LDV_C_%",</a:t>
            </a:r>
          </a:p>
          <a:p xmlns:a="http://schemas.openxmlformats.org/drawingml/2006/main">
            <a:r>
              <a:t>    "candidate": 3605.2670000000003,</a:t>
            </a:r>
          </a:p>
          <a:p xmlns:a="http://schemas.openxmlformats.org/drawingml/2006/main">
            <a:r>
              <a:t>    "legacy": 3815.525682179,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-210.2586821789996,</a:t>
            </a:r>
          </a:p>
          <a:p xmlns:a="http://schemas.openxmlformats.org/drawingml/2006/main">
            <a:r>
              <a:t>    "relative_percent": -5.510608489966273,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"T_LDV_C_BEV_EX",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2.674683469899783,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"T_LDV_C_BEV_EX",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19.52738470420391,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"T_LDV_C_BEV_EX",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45.982086155749144,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0.7089840682683646,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8.158799630025849,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16.69728627212287,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30.335333581273563,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2.4620661398394668,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0.0014101418345185356,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25.68706314079679,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295.5998740020417,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604.9561138934238,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1020.4527312692699,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977.3758872162092,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447.7894134429091,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23.506684337953555,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26.442117188035546,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37.85033676139163,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"T_LDV_C_GSL_PHEV_EX",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2.012131779031724,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"T_LDV_C_GSL_PHEV_EX",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12.987087213784934,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"T_LDV_C_GSL_PHEV_EX",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4.059525591935191,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"T_LDV_C_BEV150_EX",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3.636121987,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"T_LDV_C_BEV150_EX",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37.180792833,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18.353157575,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40.14663236,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3.81484961,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593.418761607,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1357.132043612,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1658.203203455,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30.611956268,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47.605437559,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"T_LDV_C_GSL_PHEV35_EX",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2.680419337,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"T_LDV_C_GSL_PHEV35_EX",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22.742305976,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"T_LDV_LTP_%",</a:t>
            </a:r>
          </a:p>
          <a:p xmlns:a="http://schemas.openxmlformats.org/drawingml/2006/main">
            <a:r>
              <a:t>    "candidate": 4355.4580000000005,</a:t>
            </a:r>
          </a:p>
          <a:p xmlns:a="http://schemas.openxmlformats.org/drawingml/2006/main">
            <a:r>
              <a:t>    "legacy": 3811.315528404,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544.1424715960006,</a:t>
            </a:r>
          </a:p>
          <a:p xmlns:a="http://schemas.openxmlformats.org/drawingml/2006/main">
            <a:r>
              <a:t>    "relative_percent": 14.277025020383505,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"T_LDV_LTP_BEV_EX",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0.06986625974411856,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"T_LDV_LTP_BEV_EX",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3.6232945990152805,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"T_LDV_LTP_BEV_EX",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35.617003366213716,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0.42757932874010374,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5.6681780057529085,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18.248362131254495,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53.0845403220947,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48.87883776105934,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39.01080503868643,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13.471559930484917,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178.58487201931672,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574.9433790654834,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1187.1348069338435,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1309.1857462543965,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789.0053799756374,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3.0194909149354006,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14.798811008240282,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65.1340683704586,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"T_LDV_LTP_GSL_PHEV_EX",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0.08367493022246078,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"T_LDV_LTP_GSL_PHEV_EX",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3.427231696864431,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"T_LDV_LTP_GSL_PHEV_EX",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12.040512087555708,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"T_LDV_LTP_BEV300_EX",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0.07185589,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"T_LDV_LTP_BEV300_EX",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4.376519583,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24.959817936,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56.380804259,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58.095394415,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790.394234638,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1281.35795142,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1570.01071173,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3.293447957,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17.865808047,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"T_LDV_LTP_GSL_PHEV35_EX",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0.081861184,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"T_LDV_LTP_GSL_PHEV35_EX",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4.427121345,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"T_MDV_T_%",</a:t>
            </a:r>
          </a:p>
          <a:p xmlns:a="http://schemas.openxmlformats.org/drawingml/2006/main">
            <a:r>
              <a:t>    "candidate": 421.755,</a:t>
            </a:r>
          </a:p>
          <a:p xmlns:a="http://schemas.openxmlformats.org/drawingml/2006/main">
            <a:r>
              <a:t>    "legacy": 383.203392067,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38.551607933000014,</a:t>
            </a:r>
          </a:p>
          <a:p xmlns:a="http://schemas.openxmlformats.org/drawingml/2006/main">
            <a:r>
              <a:t>    "relative_percent": 10.060351429837965,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"T_MDV_T_BEV_EX",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2.8884338877093185,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2.1207985447577116,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22.314117579570503,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39.59979835677203,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66.19286990385817,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92.13810574459319,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58.727693525301454,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0.9962799441234763,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10.482423175124797,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18.60265558541911,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31.09518765570558,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45.03747680977485,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31.559159287289816,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12.076213323,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46.70432986,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62.239785979,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112.52878599,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8.050808882,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31.136219907,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41.493190653,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68.974057473,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"T_HDV_T_%",</a:t>
            </a:r>
          </a:p>
          <a:p xmlns:a="http://schemas.openxmlformats.org/drawingml/2006/main">
            <a:r>
              <a:t>    "candidate": 143.136,</a:t>
            </a:r>
          </a:p>
          <a:p xmlns:a="http://schemas.openxmlformats.org/drawingml/2006/main">
            <a:r>
              <a:t>    "legacy": 134.550087303,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8.585912696999998,</a:t>
            </a:r>
          </a:p>
          <a:p xmlns:a="http://schemas.openxmlformats.org/drawingml/2006/main">
            <a:r>
              <a:t>    "relative_percent": 6.381201877383358,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1.0578799221929738,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11.130551285613842,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19.752857577194035,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33.01780276901451,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46.554905536394415,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31.622002909590226,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9.730347327,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26.759889658,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35.661143412,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62.398706906,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existing_capacity: Reported driver: public port counts and EV-to-port ratios replace legacy energy-based capacity calibration.</a:t>
            </a:r>
          </a:p>
          <a:p xmlns:a="http://schemas.openxmlformats.org/drawingml/2006/main">
            <a:r>
              <a:t>Comparison: Paired native bars in GW, each version at its own baseline; use the label Legacy inventory and New 2023 inventory.</a:t>
            </a:r>
          </a:p>
          <a:p xmlns:a="http://schemas.openxmlformats.org/drawingml/2006/main">
            <a:r>
              <a:t>Interpretation: This is a group inventory comparison across different baseline/cohort representations, not a same-vintage key match. Legacy MHDV inventory consists only of HDV charger rows; no MDV existing charger rows are present. Label this coverage difference. Legacy LDV sum=0.092827452 BEV + 0.160443259 PHEV=0.253270711 GW. Legacy HDV sum=0.244281279 GW. New LDV=0.8870326014006562 GW, new MHDV=0.2118184850986834 GW.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"LDV chargers",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"T_LDV_CHRG_EX",</a:t>
            </a:r>
          </a:p>
          <a:p xmlns:a="http://schemas.openxmlformats.org/drawingml/2006/main">
            <a:r>
              <a:t>    "vintage": 2023,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"T_LDV_CHRG_EX",</a:t>
            </a:r>
          </a:p>
          <a:p xmlns:a="http://schemas.openxmlformats.org/drawingml/2006/main">
            <a:r>
              <a:t>      "vintage": 2023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0.8870326014006562,</a:t>
            </a:r>
          </a:p>
          <a:p xmlns:a="http://schemas.openxmlformats.org/drawingml/2006/main">
            <a:r>
              <a:t>    "candidate_units": "GW",</a:t>
            </a:r>
          </a:p>
          <a:p xmlns:a="http://schemas.openxmlformats.org/drawingml/2006/main">
            <a:r>
              <a:t>    "units": "GW",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"Sum all existing legacy charger cohorts by demand class; compare with new combined 2023 stock. No retirement adjustment applied.",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"legacy": 0.253270711,</a:t>
            </a:r>
          </a:p>
          <a:p xmlns:a="http://schemas.openxmlformats.org/drawingml/2006/main">
            <a:r>
              <a:t>    "delta": 0.6337618904006562,</a:t>
            </a:r>
          </a:p>
          <a:p xmlns:a="http://schemas.openxmlformats.org/drawingml/2006/main">
            <a:r>
              <a:t>    "relative_percent": 250.23102272597808,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"T_LDV_BEV_CHRG",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0.007375338,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"T_LDV_BEV_CHRG",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0.085452114,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"T_LDV_PHEV_CHRG",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0.011714196,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PHEV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"T_LDV_PHEV_CHRG",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0.148729063,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PHEV classes."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"MHDV chargers",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"T_MHDV_CHRG_EX",</a:t>
            </a:r>
          </a:p>
          <a:p xmlns:a="http://schemas.openxmlformats.org/drawingml/2006/main">
            <a:r>
              <a:t>    "vintage": 2023,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"T_MHDV_CHRG_EX",</a:t>
            </a:r>
          </a:p>
          <a:p xmlns:a="http://schemas.openxmlformats.org/drawingml/2006/main">
            <a:r>
              <a:t>      "vintage": 2023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0.2118184850986834,</a:t>
            </a:r>
          </a:p>
          <a:p xmlns:a="http://schemas.openxmlformats.org/drawingml/2006/main">
            <a:r>
              <a:t>    "candidate_units": "GW",</a:t>
            </a:r>
          </a:p>
          <a:p xmlns:a="http://schemas.openxmlformats.org/drawingml/2006/main">
            <a:r>
              <a:t>    "units": "GW",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"Sum all existing legacy charger cohorts by demand class; compare with new combined 2023 stock. No retirement adjustment applied.",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"legacy": 0.24428127900000002,</a:t>
            </a:r>
          </a:p>
          <a:p xmlns:a="http://schemas.openxmlformats.org/drawingml/2006/main">
            <a:r>
              <a:t>    "delta": -0.03246279390131662,</a:t>
            </a:r>
          </a:p>
          <a:p xmlns:a="http://schemas.openxmlformats.org/drawingml/2006/main">
            <a:r>
              <a:t>    "relative_percent": -13.289104279381403,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0.024583233,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0.086878136,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0.13281991,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limit_annual_capacity_factor: Reported driver: changed CEUD activity-to-stock averages, using the latest five eligible periods and excluding 2020-2021.</a:t>
            </a:r>
          </a:p>
          <a:p xmlns:a="http://schemas.openxmlformats.org/drawingml/2006/main">
            <a:r>
              <a:t>Comparison: Three native bar series: legacy minimum, legacy maximum, new equality. Scale fractions by 100 to show capacity-factor percent. Table legacy interval and new equality; never treat a bound or midpoint as a legacy observation.</a:t>
            </a:r>
          </a:p>
          <a:p xmlns:a="http://schemas.openxmlformats.org/drawingml/2006/main">
            <a:r>
              <a:t>Interpretation: Rows compare future cohort at installation period: vintage 2025, comparison_period 2025. All listed class powertrains share the same new value and the same legacy interval; select one explicit technology per class instead of duplicating bars. The diagnostic legacy field is the nearest bound used for distance-outside-interval ranking, not a point estimate. Use legacy_lower and legacy_upper. Do not attribute the entire output difference quantitatively to the averaging window based on these final rows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"T_D_pkm_ldv_c",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"T_LDV_C_GSL_N",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0.020756891109511903,</a:t>
            </a:r>
          </a:p>
          <a:p xmlns:a="http://schemas.openxmlformats.org/drawingml/2006/main">
            <a:r>
              <a:t>    "legacy": 0.018861811,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0.0018950801095119034,</a:t>
            </a:r>
          </a:p>
          <a:p xmlns:a="http://schemas.openxmlformats.org/drawingml/2006/main">
            <a:r>
              <a:t>    "absolute_difference": 0.0018950801095119034,</a:t>
            </a:r>
          </a:p>
          <a:p xmlns:a="http://schemas.openxmlformats.org/drawingml/2006/main">
            <a:r>
              <a:t>    "relative_percent": 10.047180037547315,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0.018842949189,</a:t>
            </a:r>
          </a:p>
          <a:p xmlns:a="http://schemas.openxmlformats.org/drawingml/2006/main">
            <a:r>
              <a:t>    "legacy_upper": 0.018861811,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"T_D_pkm_ldv_c",</a:t>
            </a:r>
          </a:p>
          <a:p xmlns:a="http://schemas.openxmlformats.org/drawingml/2006/main">
            <a:r>
              <a:t>    "tech_or_group": "T_LDV_C_GSL_N",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0.018842949189,</a:t>
            </a:r>
          </a:p>
          <a:p xmlns:a="http://schemas.openxmlformats.org/drawingml/2006/main">
            <a:r>
              <a:t>    "legacy_bar_upper": 0.018861811,</a:t>
            </a:r>
          </a:p>
          <a:p xmlns:a="http://schemas.openxmlformats.org/drawingml/2006/main">
            <a:r>
              <a:t>    "new_equality": 0.020756891109511903,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0.18950801095119035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"T_D_tkm_mdv_t",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"T_MDV_T_DSL_N",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0.028953754237791396,</a:t>
            </a:r>
          </a:p>
          <a:p xmlns:a="http://schemas.openxmlformats.org/drawingml/2006/main">
            <a:r>
              <a:t>    "legacy": 0.026242254,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0.0027115002377913963,</a:t>
            </a:r>
          </a:p>
          <a:p xmlns:a="http://schemas.openxmlformats.org/drawingml/2006/main">
            <a:r>
              <a:t>    "absolute_difference": 0.0027115002377913963,</a:t>
            </a:r>
          </a:p>
          <a:p xmlns:a="http://schemas.openxmlformats.org/drawingml/2006/main">
            <a:r>
              <a:t>    "relative_percent": 10.332573710289507,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0.026216011746,</a:t>
            </a:r>
          </a:p>
          <a:p xmlns:a="http://schemas.openxmlformats.org/drawingml/2006/main">
            <a:r>
              <a:t>    "legacy_upper": 0.026242254,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"T_D_tkm_mdv_t",</a:t>
            </a:r>
          </a:p>
          <a:p xmlns:a="http://schemas.openxmlformats.org/drawingml/2006/main">
            <a:r>
              <a:t>    "tech_or_group": "T_MDV_T_DSL_N",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0.026216011746,</a:t>
            </a:r>
          </a:p>
          <a:p xmlns:a="http://schemas.openxmlformats.org/drawingml/2006/main">
            <a:r>
              <a:t>    "legacy_bar_upper": 0.026242254,</a:t>
            </a:r>
          </a:p>
          <a:p xmlns:a="http://schemas.openxmlformats.org/drawingml/2006/main">
            <a:r>
              <a:t>    "new_equality": 0.028953754237791396,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0.27115002377913966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"T_D_tkm_hdv_t",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"T_HDV_T_DSL_N",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0.2366269659840278,</a:t>
            </a:r>
          </a:p>
          <a:p xmlns:a="http://schemas.openxmlformats.org/drawingml/2006/main">
            <a:r>
              <a:t>    "legacy": 0.207244942,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0.02938202398402781,</a:t>
            </a:r>
          </a:p>
          <a:p xmlns:a="http://schemas.openxmlformats.org/drawingml/2006/main">
            <a:r>
              <a:t>    "absolute_difference": 0.02938202398402781,</a:t>
            </a:r>
          </a:p>
          <a:p xmlns:a="http://schemas.openxmlformats.org/drawingml/2006/main">
            <a:r>
              <a:t>    "relative_percent": 14.177438397520849,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0.207037697058,</a:t>
            </a:r>
          </a:p>
          <a:p xmlns:a="http://schemas.openxmlformats.org/drawingml/2006/main">
            <a:r>
              <a:t>    "legacy_upper": 0.207244942,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"T_D_tkm_hdv_t",</a:t>
            </a:r>
          </a:p>
          <a:p xmlns:a="http://schemas.openxmlformats.org/drawingml/2006/main">
            <a:r>
              <a:t>    "tech_or_group": "T_HDV_T_DSL_N",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0.207037697058,</a:t>
            </a:r>
          </a:p>
          <a:p xmlns:a="http://schemas.openxmlformats.org/drawingml/2006/main">
            <a:r>
              <a:t>    "legacy_bar_upper": 0.207244942,</a:t>
            </a:r>
          </a:p>
          <a:p xmlns:a="http://schemas.openxmlformats.org/drawingml/2006/main">
            <a:r>
              <a:t>    "new_equality": 0.2366269659840278,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2.938202398402781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"Intercity buses",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"T_D_pkm_hdv_bic",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"T_HDV_BIC_DSL_N",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0.052633521939548886,</a:t>
            </a:r>
          </a:p>
          <a:p xmlns:a="http://schemas.openxmlformats.org/drawingml/2006/main">
            <a:r>
              <a:t>    "legacy": 0.041296921,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0.011336600939548885,</a:t>
            </a:r>
          </a:p>
          <a:p xmlns:a="http://schemas.openxmlformats.org/drawingml/2006/main">
            <a:r>
              <a:t>    "absolute_difference": 0.011336600939548885,</a:t>
            </a:r>
          </a:p>
          <a:p xmlns:a="http://schemas.openxmlformats.org/drawingml/2006/main">
            <a:r>
              <a:t>    "relative_percent": 27.451443509672032,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0.041255624079,</a:t>
            </a:r>
          </a:p>
          <a:p xmlns:a="http://schemas.openxmlformats.org/drawingml/2006/main">
            <a:r>
              <a:t>    "legacy_upper": 0.041296921,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"T_D_pkm_hdv_bic",</a:t>
            </a:r>
          </a:p>
          <a:p xmlns:a="http://schemas.openxmlformats.org/drawingml/2006/main">
            <a:r>
              <a:t>    "tech_or_group": "T_HDV_BIC_DSL_N",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0.041255624079,</a:t>
            </a:r>
          </a:p>
          <a:p xmlns:a="http://schemas.openxmlformats.org/drawingml/2006/main">
            <a:r>
              <a:t>    "legacy_bar_upper": 0.041296921,</a:t>
            </a:r>
          </a:p>
          <a:p xmlns:a="http://schemas.openxmlformats.org/drawingml/2006/main">
            <a:r>
              <a:t>    "new_equality": 0.052633521939548886,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1.1336600939548886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b7195d8934b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5c31d7a6847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7a5eb1ac74c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69c789c4946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7c509aced4e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455ad434540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EB3D7C-F15F-459A-943F-6B4DCD786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821251-4EF8-4DC2-86F0-C8FDEF8C21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357A50-3B41-4042-967C-7F4C0F081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918F8E-AB13-4E3B-BC50-D9AA3095CC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04B127-54AA-42C7-9097-BA3C3B8EA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D66DB3-2858-4AA7-B015-6B9CBEE3D3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9B89EF-2823-48C3-ACBE-E24F6C8A2B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CEA760-D801-4A91-B157-549CB412F0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E9B112-921D-4D43-80D2-3D8D626F9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53178A-0E75-4024-B8B0-F6E8223C3E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7a9c2736fb4ec1" /><Relationship Type="http://schemas.openxmlformats.org/officeDocument/2006/relationships/slideLayout" Target="/ppt/slideLayouts/slideLayout1.xml" Id="R817f9d1c028a4b3b" /><Relationship Type="http://schemas.openxmlformats.org/officeDocument/2006/relationships/slideLayout" Target="/ppt/slideLayouts/slideLayout2.xml" Id="R2fe68d527b894d87" /><Relationship Type="http://schemas.openxmlformats.org/officeDocument/2006/relationships/slideLayout" Target="/ppt/slideLayouts/slideLayout3.xml" Id="R4c945724716b4cd8" /><Relationship Type="http://schemas.openxmlformats.org/officeDocument/2006/relationships/slideLayout" Target="/ppt/slideLayouts/slideLayout4.xml" Id="R53e307e564af4c41" /><Relationship Type="http://schemas.openxmlformats.org/officeDocument/2006/relationships/slideLayout" Target="/ppt/slideLayouts/slideLayout5.xml" Id="R2cb5aa29e3de41ca" /><Relationship Type="http://schemas.openxmlformats.org/officeDocument/2006/relationships/slideLayout" Target="/ppt/slideLayouts/slideLayout6.xml" Id="R2c0333064f2e4e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7f9d1c028a4b3b"/>
    <p:sldLayoutId xmlns:r="http://schemas.openxmlformats.org/officeDocument/2006/relationships" id="2147483650" r:id="R2fe68d527b894d87"/>
    <p:sldLayoutId xmlns:r="http://schemas.openxmlformats.org/officeDocument/2006/relationships" id="2147483651" r:id="R4c945724716b4cd8"/>
    <p:sldLayoutId xmlns:r="http://schemas.openxmlformats.org/officeDocument/2006/relationships" id="2147483652" r:id="R53e307e564af4c41"/>
    <p:sldLayoutId xmlns:r="http://schemas.openxmlformats.org/officeDocument/2006/relationships" id="2147483653" r:id="R2cb5aa29e3de41ca"/>
    <p:sldLayoutId xmlns:r="http://schemas.openxmlformats.org/officeDocument/2006/relationships" id="2147483654" r:id="R2c0333064f2e4e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07b94c6b44fb2" /><Relationship Type="http://schemas.openxmlformats.org/officeDocument/2006/relationships/notesSlide" Target="/ppt/notesSlides/notesSlide1.xml" Id="Rb55c44eef6cf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6055274c6481d" /><Relationship Type="http://schemas.openxmlformats.org/officeDocument/2006/relationships/chart" Target="/ppt/slides/charts/chart1.xml" Id="R7eac7423a3e649a5" /><Relationship Type="http://schemas.openxmlformats.org/officeDocument/2006/relationships/notesSlide" Target="/ppt/notesSlides/notesSlide2.xml" Id="R1e2e79a4242148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2da90f26c4654" /><Relationship Type="http://schemas.openxmlformats.org/officeDocument/2006/relationships/chart" Target="/ppt/slides/charts/chart2.xml" Id="Rfc42424635254721" /><Relationship Type="http://schemas.openxmlformats.org/officeDocument/2006/relationships/notesSlide" Target="/ppt/notesSlides/notesSlide3.xml" Id="Rb50812ff554a49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bf6c17c6146de" /><Relationship Type="http://schemas.openxmlformats.org/officeDocument/2006/relationships/chart" Target="/ppt/slides/charts/chart3.xml" Id="Rad34c49b02164240" /><Relationship Type="http://schemas.openxmlformats.org/officeDocument/2006/relationships/notesSlide" Target="/ppt/notesSlides/notesSlide4.xml" Id="Rfc5e23c218b84f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36c99e3114340" /><Relationship Type="http://schemas.openxmlformats.org/officeDocument/2006/relationships/chart" Target="/ppt/slides/charts/chart4.xml" Id="Rc244c3a0a1fb4fe0" /><Relationship Type="http://schemas.openxmlformats.org/officeDocument/2006/relationships/chart" Target="/ppt/slides/charts/chart5.xml" Id="R23974bcaee694979" /><Relationship Type="http://schemas.openxmlformats.org/officeDocument/2006/relationships/notesSlide" Target="/ppt/notesSlides/notesSlide5.xml" Id="R20ea32fd673e4d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6dbf69acb4407" /><Relationship Type="http://schemas.openxmlformats.org/officeDocument/2006/relationships/chart" Target="/ppt/slides/charts/chart6.xml" Id="R40ff5e7c7b4e4459" /><Relationship Type="http://schemas.openxmlformats.org/officeDocument/2006/relationships/notesSlide" Target="/ppt/notesSlides/notesSlide6.xml" Id="R7f5112aa475b42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29a4681c7416d" /><Relationship Type="http://schemas.openxmlformats.org/officeDocument/2006/relationships/chart" Target="/ppt/slides/charts/chart7.xml" Id="R354a7185a75e4727" /><Relationship Type="http://schemas.openxmlformats.org/officeDocument/2006/relationships/notesSlide" Target="/ppt/notesSlides/notesSlide7.xml" Id="Rbd29e6665cee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5557da5ac47a2" /><Relationship Type="http://schemas.openxmlformats.org/officeDocument/2006/relationships/chart" Target="/ppt/slides/charts/chart8.xml" Id="R8fec6bbc9d934a1a" /><Relationship Type="http://schemas.openxmlformats.org/officeDocument/2006/relationships/notesSlide" Target="/ppt/notesSlides/notesSlide8.xml" Id="Rd092f1f5b1c64e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9db47e8e442cd" /><Relationship Type="http://schemas.openxmlformats.org/officeDocument/2006/relationships/chart" Target="/ppt/slides/charts/chart9.xml" Id="R5a66fd7831d14c74" /><Relationship Type="http://schemas.openxmlformats.org/officeDocument/2006/relationships/notesSlide" Target="/ppt/notesSlides/notesSlide9.xml" Id="Ra5011ecf184740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8267b589445ce" /><Relationship Type="http://schemas.openxmlformats.org/officeDocument/2006/relationships/chart" Target="/ppt/slides/charts/chart10.xml" Id="Rbce5356bc2994044" /><Relationship Type="http://schemas.openxmlformats.org/officeDocument/2006/relationships/notesSlide" Target="/ppt/notesSlides/notesSlide10.xml" Id="Rff1c1fc3585c43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f3715f49b4ed9" /><Relationship Type="http://schemas.openxmlformats.org/officeDocument/2006/relationships/chart" Target="/ppt/slides/charts/chart11.xml" Id="R442d6269fc5d49f0" /><Relationship Type="http://schemas.openxmlformats.org/officeDocument/2006/relationships/notesSlide" Target="/ppt/notesSlides/notesSlide11.xml" Id="R689ce9ceadd149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97e6797a674124" /><Relationship Type="http://schemas.openxmlformats.org/officeDocument/2006/relationships/chart" Target="/ppt/slides/charts/chart12.xml" Id="Rf7f83fa9cc1740d5" /><Relationship Type="http://schemas.openxmlformats.org/officeDocument/2006/relationships/notesSlide" Target="/ppt/notesSlides/notesSlide12.xml" Id="Ra35deeafaf7741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4d11b6a6f480d" /><Relationship Type="http://schemas.openxmlformats.org/officeDocument/2006/relationships/chart" Target="/ppt/slides/charts/chart13.xml" Id="R10300e6046784981" /><Relationship Type="http://schemas.openxmlformats.org/officeDocument/2006/relationships/notesSlide" Target="/ppt/notesSlides/notesSlide13.xml" Id="Rb147817e5a7e49d5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2"/>
              <c:pt idx="0">
                <c:v>MHDV chargers</c:v>
              </c:pt>
              <c:pt idx="1">
                <c:v>LDV chargers</c:v>
              </c:pt>
            </c:strLit>
          </c:cat>
          <c:val>
            <c:numLit>
              <c:formatCode>0.0%</c:formatCode>
              <c:ptCount val="2"/>
              <c:pt idx="0">
                <c:v>0.006289383505</c:v>
              </c:pt>
              <c:pt idx="1">
                <c:v>0.00876716222</c:v>
              </c:pt>
            </c:numLit>
          </c:val>
        </c:ser>
        <c:dLbls>
          <c:numFmt formatCode="+0.00%;-0.00%;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12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5"/>
              <c:pt idx="0">
                <c:v>Passenger air, jet fuel</c:v>
              </c:pt>
              <c:pt idx="1">
                <c:v>Passenger rail, diesel</c:v>
              </c:pt>
              <c:pt idx="2">
                <c:v>Air freight, jet fuel</c:v>
              </c:pt>
              <c:pt idx="3">
                <c:v>Rail freight, diesel</c:v>
              </c:pt>
              <c:pt idx="4">
                <c:v>Marine freight, MDO</c:v>
              </c:pt>
            </c:strLit>
          </c:cat>
          <c:val>
            <c:numLit>
              <c:formatCode>0%</c:formatCode>
              <c:ptCount val="5"/>
              <c:pt idx="0">
                <c:v>0.5250576336</c:v>
              </c:pt>
              <c:pt idx="1">
                <c:v>2.490571153</c:v>
              </c:pt>
              <c:pt idx="2">
                <c:v>1.252294725</c:v>
              </c:pt>
              <c:pt idx="3">
                <c:v>0.4369542044</c:v>
              </c:pt>
              <c:pt idx="4">
                <c:v>6.565467214</c:v>
              </c:pt>
            </c:numLit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6"/>
              <c:pt idx="0">
                <c:v>Heavy truck, BEV</c:v>
              </c:pt>
              <c:pt idx="1">
                <c:v>Heavy truck, diesel</c:v>
              </c:pt>
              <c:pt idx="2">
                <c:v>Medium truck, gasoline</c:v>
              </c:pt>
              <c:pt idx="3">
                <c:v>Medium truck, diesel</c:v>
              </c:pt>
              <c:pt idx="4">
                <c:v>Light truck, gasoline</c:v>
              </c:pt>
              <c:pt idx="5">
                <c:v>Car, gasoline</c:v>
              </c:pt>
            </c:strLit>
          </c:cat>
          <c:val>
            <c:numLit>
              <c:formatCode>0%</c:formatCode>
              <c:ptCount val="6"/>
              <c:pt idx="0">
                <c:v>-0.2869441773</c:v>
              </c:pt>
              <c:pt idx="1">
                <c:v>-0.2639054799</c:v>
              </c:pt>
              <c:pt idx="2">
                <c:v>-0.2554183138</c:v>
              </c:pt>
              <c:pt idx="3">
                <c:v>-0.2447532241</c:v>
              </c:pt>
              <c:pt idx="4">
                <c:v>-0.07641558958</c:v>
              </c:pt>
              <c:pt idx="5">
                <c:v>-0.06397630681</c:v>
              </c:pt>
            </c:numLit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25"/>
          <c:min val="-0.4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Million 2020 CAD / billion tonne-km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Lit>
              <c:ptCount val="1"/>
              <c:pt idx="0">
                <c:v>Marine diesel oil</c:v>
              </c:pt>
            </c:strLit>
          </c:cat>
          <c:val>
            <c:numLit>
              <c:formatCode>0.00</c:formatCode>
              <c:ptCount val="1"/>
              <c:pt idx="0">
                <c:v>0.035749317</c:v>
              </c:pt>
            </c:numLit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1"/>
              <c:pt idx="0">
                <c:v>Marine diesel oil</c:v>
              </c:pt>
            </c:strLit>
          </c:cat>
          <c:val>
            <c:numLit>
              <c:formatCode>0.00</c:formatCode>
              <c:ptCount val="1"/>
              <c:pt idx="0">
                <c:v>7.985748962</c:v>
              </c:pt>
            </c:numLit>
          </c:val>
        </c:ser>
        <c:dLbls>
          <c:numFmt formatCode="#,##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Other modes: 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4"/>
              <c:pt idx="0">
                <c:v>Passenger air</c:v>
              </c:pt>
              <c:pt idx="1">
                <c:v>Passenger rail</c:v>
              </c:pt>
              <c:pt idx="2">
                <c:v>Air freight</c:v>
              </c:pt>
              <c:pt idx="3">
                <c:v>Rail freight</c:v>
              </c:pt>
            </c:strLit>
          </c:cat>
          <c:val>
            <c:numLit>
              <c:formatCode>0%</c:formatCode>
              <c:ptCount val="4"/>
              <c:pt idx="0">
                <c:v>1.219003298</c:v>
              </c:pt>
              <c:pt idx="1">
                <c:v>2.490571153</c:v>
              </c:pt>
              <c:pt idx="2">
                <c:v>4.144166209</c:v>
              </c:pt>
              <c:pt idx="3">
                <c:v>0.4369542044</c:v>
              </c:pt>
            </c:numLit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.5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6"/>
              <c:pt idx="0">
                <c:v>Heavy truck, diesel</c:v>
              </c:pt>
              <c:pt idx="1">
                <c:v>Medium truck, diesel</c:v>
              </c:pt>
              <c:pt idx="2">
                <c:v>Transit bus, diesel</c:v>
              </c:pt>
              <c:pt idx="3">
                <c:v>School bus, diesel</c:v>
              </c:pt>
              <c:pt idx="4">
                <c:v>Light truck, gasoline</c:v>
              </c:pt>
              <c:pt idx="5">
                <c:v>Car, gasoline</c:v>
              </c:pt>
            </c:strLit>
          </c:cat>
          <c:val>
            <c:numLit>
              <c:formatCode>0%</c:formatCode>
              <c:ptCount val="6"/>
              <c:pt idx="0">
                <c:v>-0.1675300544</c:v>
              </c:pt>
              <c:pt idx="1">
                <c:v>-0.2706970765</c:v>
              </c:pt>
              <c:pt idx="2">
                <c:v>-0.284192278</c:v>
              </c:pt>
              <c:pt idx="3">
                <c:v>-0.8653328364</c:v>
              </c:pt>
              <c:pt idx="4">
                <c:v>0.8628758454</c:v>
              </c:pt>
              <c:pt idx="5">
                <c:v>0.9291041718</c:v>
              </c:pt>
            </c:numLit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-1.2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6"/>
              <c:pt idx="0">
                <c:v>Passenger air</c:v>
              </c:pt>
              <c:pt idx="1">
                <c:v>Heavy trucks</c:v>
              </c:pt>
              <c:pt idx="2">
                <c:v>Passenger light trucks</c:v>
              </c:pt>
              <c:pt idx="3">
                <c:v>Cars</c:v>
              </c:pt>
              <c:pt idx="4">
                <c:v>Intercity bus</c:v>
              </c:pt>
              <c:pt idx="5">
                <c:v>Marine freight</c:v>
              </c:pt>
            </c:strLit>
          </c:cat>
          <c:val>
            <c:numLit>
              <c:formatCode>0%</c:formatCode>
              <c:ptCount val="6"/>
              <c:pt idx="0">
                <c:v>0.08322320902</c:v>
              </c:pt>
              <c:pt idx="1">
                <c:v>0.04381084382</c:v>
              </c:pt>
              <c:pt idx="2">
                <c:v>0.01859823908</c:v>
              </c:pt>
              <c:pt idx="3">
                <c:v>-0.2870769734</c:v>
              </c:pt>
              <c:pt idx="4">
                <c:v>-0.5852967759</c:v>
              </c:pt>
              <c:pt idx="5">
                <c:v>-0.8499104701</c:v>
              </c:pt>
            </c:numLit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1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passenger-km / PJ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Lit>
              <c:ptCount val="4"/>
              <c:pt idx="0">
                <c:v>Transit bus, CNG</c:v>
              </c:pt>
              <c:pt idx="1">
                <c:v>Transit bus, diesel</c:v>
              </c:pt>
              <c:pt idx="2">
                <c:v>School bus, gasoline</c:v>
              </c:pt>
              <c:pt idx="3">
                <c:v>School bus, diesel</c:v>
              </c:pt>
            </c:strLit>
          </c:cat>
          <c:val>
            <c:numLit>
              <c:formatCode>0.00</c:formatCode>
              <c:ptCount val="4"/>
              <c:pt idx="0">
                <c:v>0.458794084</c:v>
              </c:pt>
              <c:pt idx="1">
                <c:v>0.539757746</c:v>
              </c:pt>
              <c:pt idx="2">
                <c:v>1.862472082</c:v>
              </c:pt>
              <c:pt idx="3">
                <c:v>2.234966498</c:v>
              </c:pt>
            </c:numLit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4"/>
              <c:pt idx="0">
                <c:v>Transit bus, CNG</c:v>
              </c:pt>
              <c:pt idx="1">
                <c:v>Transit bus, diesel</c:v>
              </c:pt>
              <c:pt idx="2">
                <c:v>School bus, gasoline</c:v>
              </c:pt>
              <c:pt idx="3">
                <c:v>School bus, diesel</c:v>
              </c:pt>
            </c:strLit>
          </c:cat>
          <c:val>
            <c:numLit>
              <c:formatCode>0.00</c:formatCode>
              <c:ptCount val="4"/>
              <c:pt idx="0">
                <c:v>1.188124447</c:v>
              </c:pt>
              <c:pt idx="1">
                <c:v>1.188124447</c:v>
              </c:pt>
              <c:pt idx="2">
                <c:v>3.562951106</c:v>
              </c:pt>
              <c:pt idx="3">
                <c:v>3.562951106</c:v>
              </c:pt>
            </c:numLit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.5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tonne-km / PJ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Lit>
              <c:ptCount val="2"/>
              <c:pt idx="0">
                <c:v>Marine diesel oil</c:v>
              </c:pt>
              <c:pt idx="1">
                <c:v>Heavy fuel oil</c:v>
              </c:pt>
            </c:strLit>
          </c:cat>
          <c:val>
            <c:numLit>
              <c:formatCode>0.00</c:formatCode>
              <c:ptCount val="2"/>
              <c:pt idx="0">
                <c:v>6.384609746</c:v>
              </c:pt>
              <c:pt idx="1">
                <c:v>6.667421446</c:v>
              </c:pt>
            </c:numLit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2"/>
              <c:pt idx="0">
                <c:v>Marine diesel oil</c:v>
              </c:pt>
              <c:pt idx="1">
                <c:v>Heavy fuel oil</c:v>
              </c:pt>
            </c:strLit>
          </c:cat>
          <c:val>
            <c:numLit>
              <c:formatCode>0.00</c:formatCode>
              <c:ptCount val="2"/>
              <c:pt idx="0">
                <c:v>3.81354621</c:v>
              </c:pt>
              <c:pt idx="1">
                <c:v>3.735869847</c:v>
              </c:pt>
            </c:numLit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.3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passenger-km / PJ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Lit>
              <c:ptCount val="4"/>
              <c:pt idx="0">
                <c:v>Passenger light truck, PHEV</c:v>
              </c:pt>
              <c:pt idx="1">
                <c:v>Car, PHEV</c:v>
              </c:pt>
              <c:pt idx="2">
                <c:v>Passenger light truck, BEV</c:v>
              </c:pt>
              <c:pt idx="3">
                <c:v>Car, BEV</c:v>
              </c:pt>
            </c:strLit>
          </c:cat>
          <c:val>
            <c:numLit>
              <c:formatCode>0.00</c:formatCode>
              <c:ptCount val="4"/>
              <c:pt idx="0">
                <c:v>1.378083008</c:v>
              </c:pt>
              <c:pt idx="1">
                <c:v>1.493019906</c:v>
              </c:pt>
              <c:pt idx="2">
                <c:v>1.910662653</c:v>
              </c:pt>
              <c:pt idx="3">
                <c:v>2.324932649</c:v>
              </c:pt>
            </c:numLit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4"/>
              <c:pt idx="0">
                <c:v>Passenger light truck, PHEV</c:v>
              </c:pt>
              <c:pt idx="1">
                <c:v>Car, PHEV</c:v>
              </c:pt>
              <c:pt idx="2">
                <c:v>Passenger light truck, BEV</c:v>
              </c:pt>
              <c:pt idx="3">
                <c:v>Car, BEV</c:v>
              </c:pt>
            </c:strLit>
          </c:cat>
          <c:val>
            <c:numLit>
              <c:formatCode>0.00</c:formatCode>
              <c:ptCount val="4"/>
              <c:pt idx="0">
                <c:v>1.161359143</c:v>
              </c:pt>
              <c:pt idx="1">
                <c:v>1.815040585</c:v>
              </c:pt>
              <c:pt idx="2">
                <c:v>2.201357889</c:v>
              </c:pt>
              <c:pt idx="3">
                <c:v>2.399457822</c:v>
              </c:pt>
            </c:numLit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6"/>
              <c:pt idx="0">
                <c:v>Heavy trucks, all powertrains</c:v>
              </c:pt>
              <c:pt idx="1">
                <c:v>Medium trucks, all powertrains</c:v>
              </c:pt>
              <c:pt idx="2">
                <c:v>Passenger light trucks, all powertrains</c:v>
              </c:pt>
              <c:pt idx="3">
                <c:v>Cars, all powertrains</c:v>
              </c:pt>
              <c:pt idx="4">
                <c:v>Marine freight, MDO</c:v>
              </c:pt>
              <c:pt idx="5">
                <c:v>Marine freight, HFO</c:v>
              </c:pt>
            </c:strLit>
          </c:cat>
          <c:val>
            <c:numLit>
              <c:formatCode>0%</c:formatCode>
              <c:ptCount val="6"/>
              <c:pt idx="0">
                <c:v>0.06381201877</c:v>
              </c:pt>
              <c:pt idx="1">
                <c:v>0.1006035143</c:v>
              </c:pt>
              <c:pt idx="2">
                <c:v>0.1427702502</c:v>
              </c:pt>
              <c:pt idx="3">
                <c:v>-0.0551060849</c:v>
              </c:pt>
              <c:pt idx="4">
                <c:v>-0.8448395397</c:v>
              </c:pt>
              <c:pt idx="5">
                <c:v>-0.8406807461</c:v>
              </c:pt>
            </c:numLit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-1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Installed charger capacity (GW)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 inventory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Lit>
              <c:ptCount val="2"/>
              <c:pt idx="0">
                <c:v>MHDV chargers</c:v>
              </c:pt>
              <c:pt idx="1">
                <c:v>LDV chargers</c:v>
              </c:pt>
            </c:strLit>
          </c:cat>
          <c:val>
            <c:numLit>
              <c:formatCode>0.00</c:formatCode>
              <c:ptCount val="2"/>
              <c:pt idx="0">
                <c:v>0.244281279</c:v>
              </c:pt>
              <c:pt idx="1">
                <c:v>0.253270711</c:v>
              </c:pt>
            </c:numLit>
          </c:val>
        </c:ser>
        <c:ser>
          <c:idx val="1"/>
          <c:order val="1"/>
          <c:tx>
            <c:v>New 2023 inventory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2"/>
              <c:pt idx="0">
                <c:v>MHDV chargers</c:v>
              </c:pt>
              <c:pt idx="1">
                <c:v>LDV chargers</c:v>
              </c:pt>
            </c:strLit>
          </c:cat>
          <c:val>
            <c:numLit>
              <c:formatCode>0.00</c:formatCode>
              <c:ptCount val="2"/>
              <c:pt idx="0">
                <c:v>0.2118184851</c:v>
              </c:pt>
              <c:pt idx="1">
                <c:v>0.8870326014</c:v>
              </c:pt>
            </c:numLit>
          </c:val>
        </c:ser>
        <c:dLbls>
          <c:numFmt formatCode="#,##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Annual capacity factor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 upper limit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Lit>
              <c:ptCount val="4"/>
              <c:pt idx="0">
                <c:v>Intercity buses</c:v>
              </c:pt>
              <c:pt idx="1">
                <c:v>Heavy trucks</c:v>
              </c:pt>
              <c:pt idx="2">
                <c:v>Medium trucks</c:v>
              </c:pt>
              <c:pt idx="3">
                <c:v>Cars</c:v>
              </c:pt>
            </c:strLit>
          </c:cat>
          <c:val>
            <c:numLit>
              <c:formatCode>0.00</c:formatCode>
              <c:ptCount val="4"/>
              <c:pt idx="0">
                <c:v>4.1296921</c:v>
              </c:pt>
              <c:pt idx="1">
                <c:v>20.7244942</c:v>
              </c:pt>
              <c:pt idx="2">
                <c:v>2.6242254</c:v>
              </c:pt>
              <c:pt idx="3">
                <c:v>1.8861811</c:v>
              </c:pt>
            </c:numLit>
          </c:val>
        </c:ser>
        <c:ser>
          <c:idx val="1"/>
          <c:order val="1"/>
          <c:tx>
            <c:v>New fixed value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Lit>
              <c:ptCount val="4"/>
              <c:pt idx="0">
                <c:v>Intercity buses</c:v>
              </c:pt>
              <c:pt idx="1">
                <c:v>Heavy trucks</c:v>
              </c:pt>
              <c:pt idx="2">
                <c:v>Medium trucks</c:v>
              </c:pt>
              <c:pt idx="3">
                <c:v>Cars</c:v>
              </c:pt>
            </c:strLit>
          </c:cat>
          <c:val>
            <c:numLit>
              <c:formatCode>0.00</c:formatCode>
              <c:ptCount val="4"/>
              <c:pt idx="0">
                <c:v>5.263352194</c:v>
              </c:pt>
              <c:pt idx="1">
                <c:v>23.6626966</c:v>
              </c:pt>
              <c:pt idx="2">
                <c:v>2.895375424</c:v>
              </c:pt>
              <c:pt idx="3">
                <c:v>2.075689111</c:v>
              </c:pt>
            </c:numLit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ANOE TRANSPORTATION">
            <a:extLst xmlns:a="http://schemas.openxmlformats.org/drawingml/2006/main">
              <a:ext uri="{FF2B5EF4-FFF2-40B4-BE49-F238E27FC236}">
                <a16:creationId xmlns:a16="http://schemas.microsoft.com/office/drawing/2014/main" id="{A7630ADA-06F1-4900-80FD-C2AE14B1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6CE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6CEC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6CEC2"/>
                </a:solidFill>
                <a:latin typeface="Arial"/>
                <a:ea typeface="Arial"/>
                <a:cs typeface="Arial"/>
              </a:rPr>
              <a:t>CANOE TRANSPORTATION</a:t>
            </a:r>
          </a:p>
        </p:txBody>
      </p:sp>
      <p:sp>
        <p:nvSpPr>
          <p:cNvPr id="2" name="Legacy and new backend&#10;Observed differences">
            <a:extLst xmlns:a="http://schemas.openxmlformats.org/drawingml/2006/main">
              <a:ext uri="{FF2B5EF4-FFF2-40B4-BE49-F238E27FC236}">
                <a16:creationId xmlns:a16="http://schemas.microsoft.com/office/drawing/2014/main" id="{4F5A1340-1956-4D46-9601-264369BD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Legacy and new backend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differences</a:t>
            </a:r>
          </a:p>
        </p:txBody>
      </p:sp>
      <p:sp>
        <p:nvSpPr>
          <p:cNvPr id="3" name="Ontario comparison">
            <a:extLst xmlns:a="http://schemas.openxmlformats.org/drawingml/2006/main">
              <a:ext uri="{FF2B5EF4-FFF2-40B4-BE49-F238E27FC236}">
                <a16:creationId xmlns:a16="http://schemas.microsoft.com/office/drawing/2014/main" id="{99CB8806-10EB-4AA8-9E7E-EA6E7260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Ontario comparison</a:t>
            </a:r>
          </a:p>
        </p:txBody>
      </p:sp>
      <p:sp>
        <p:nvSpPr>
          <p:cNvPr id="4" name="Legacy: canoe_transport_baseline.sqlite&#10;New: leg">
            <a:extLst xmlns:a="http://schemas.openxmlformats.org/drawingml/2006/main">
              <a:ext uri="{FF2B5EF4-FFF2-40B4-BE49-F238E27FC236}">
                <a16:creationId xmlns:a16="http://schemas.microsoft.com/office/drawing/2014/main" id="{4F319803-9342-4915-BBF7-FCC38C4D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Legacy: canoe_transport_baseline.sqlite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New: legacy_reproduction.sqlite, generated 13 October 2026</a:t>
            </a:r>
          </a:p>
        </p:txBody>
      </p:sp>
      <p:sp>
        <p:nvSpPr>
          <p:cNvPr id="5" name="Seven parameters, grouped by affected technology">
            <a:extLst xmlns:a="http://schemas.openxmlformats.org/drawingml/2006/main">
              <a:ext uri="{FF2B5EF4-FFF2-40B4-BE49-F238E27FC236}">
                <a16:creationId xmlns:a16="http://schemas.microsoft.com/office/drawing/2014/main" id="{C25476A1-8215-4634-AD88-56AD370C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Seven parameters, grouped by affected technology and difference driver.</a:t>
            </a:r>
          </a:p>
          <a:p xmlns:a="http://schemas.openxmlformats.org/drawingml/2006/main"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Bars show selected class examples. Percentage changes use the legacy value as the base.</a:t>
            </a:r>
          </a:p>
          <a:p xmlns:a="http://schemas.openxmlformats.org/drawingml/2006/main"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Most future examples use 2025 model values. Each slide states its time slice.</a:t>
            </a:r>
          </a:p>
        </p:txBody>
      </p:sp>
    </p:spTree>
    <p:extLst>
      <p:ext uri="{BB962C8B-B14F-4D97-AF65-F5344CB8AC3E}">
        <p14:creationId xmlns:p14="http://schemas.microsoft.com/office/powerpoint/2010/main" val="152806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st_fixed">
            <a:extLst xmlns:a="http://schemas.openxmlformats.org/drawingml/2006/main">
              <a:ext uri="{FF2B5EF4-FFF2-40B4-BE49-F238E27FC236}">
                <a16:creationId xmlns:a16="http://schemas.microsoft.com/office/drawing/2014/main" id="{636BBD1A-6E13-43F7-8B53-F7034B12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cost_fixed</a:t>
            </a:r>
          </a:p>
        </p:txBody>
      </p:sp>
      <p:sp>
        <p:nvSpPr>
          <p:cNvPr id="2" name="Small differences in charger fixed costs">
            <a:extLst xmlns:a="http://schemas.openxmlformats.org/drawingml/2006/main">
              <a:ext uri="{FF2B5EF4-FFF2-40B4-BE49-F238E27FC236}">
                <a16:creationId xmlns:a16="http://schemas.microsoft.com/office/drawing/2014/main" id="{AF04BD1D-6A69-4709-8C0B-53EF22AD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Small differences in charger fixed costs</a:t>
            </a:r>
          </a:p>
        </p:txBody>
      </p:sp>
      <p:sp>
        <p:nvSpPr>
          <p:cNvPr id="3" name="2025 vintage and period. Both charger classes di">
            <a:extLst xmlns:a="http://schemas.openxmlformats.org/drawingml/2006/main">
              <a:ext uri="{FF2B5EF4-FFF2-40B4-BE49-F238E27FC236}">
                <a16:creationId xmlns:a16="http://schemas.microsoft.com/office/drawing/2014/main" id="{7FDC30A0-BDA5-4628-9459-3D195B31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Both charger classes differ by less than 1% in this example.</a:t>
            </a:r>
          </a:p>
        </p:txBody>
      </p:sp>
      <p:sp>
        <p:nvSpPr>
          <p:cNvPr id="4" name="Ontario. Matching legacy class rates bridge to t">
            <a:extLst xmlns:a="http://schemas.openxmlformats.org/drawingml/2006/main">
              <a:ext uri="{FF2B5EF4-FFF2-40B4-BE49-F238E27FC236}">
                <a16:creationId xmlns:a16="http://schemas.microsoft.com/office/drawing/2014/main" id="{FD90ACFD-BE75-475A-8044-37A1E3BC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Matching legacy class rates bridge to the new shared charger classes.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CBB6E417-E9CA-4487-A59F-CB841BB8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918ABCD-5D22-4AA4-965E-83D121F96E39}"/>
              </a:ext>
            </a:extLst>
          </p:cNvPr>
          <p:cNvGraphicFramePr/>
          <p:nvPr/>
        </p:nvGraphicFramePr>
        <p:xfrm>
          <a:off xmlns:a="http://schemas.openxmlformats.org/drawingml/2006/main" x="523875" y="1924050"/>
          <a:ext xmlns:a="http://schemas.openxmlformats.org/drawingml/2006/main" cx="6858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ac7423a3e649a5"/>
          </a:graphicData>
        </a:graphic>
      </p:graphicFrame>
      <p:sp>
        <p:nvSpPr>
          <p:cNvPr id="7" name="Rounded aggregation weights">
            <a:extLst xmlns:a="http://schemas.openxmlformats.org/drawingml/2006/main">
              <a:ext uri="{FF2B5EF4-FFF2-40B4-BE49-F238E27FC236}">
                <a16:creationId xmlns:a16="http://schemas.microsoft.com/office/drawing/2014/main" id="{B2ED6A22-4DA3-4890-97B9-804C31D3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43125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Rounded aggregation weights</a:t>
            </a:r>
          </a:p>
        </p:txBody>
      </p:sp>
      <p:sp>
        <p:nvSpPr>
          <p:cNvPr id="8" name="LDV and MHDV chargers share the same reported di">
            <a:extLst xmlns:a="http://schemas.openxmlformats.org/drawingml/2006/main">
              <a:ext uri="{FF2B5EF4-FFF2-40B4-BE49-F238E27FC236}">
                <a16:creationId xmlns:a16="http://schemas.microsoft.com/office/drawing/2014/main" id="{5362CF90-2892-425A-8A13-BCC09FCA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908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C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34"/>
                </a:solidFill>
                <a:latin typeface="Arial"/>
                <a:ea typeface="Arial"/>
                <a:cs typeface="Arial"/>
              </a:rPr>
              <a:t>LDV and MHDV chargers share the same reported difference driver.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B0310-BFA4-4C72-8590-18F0E5225FEF}"/>
              </a:ext>
            </a:extLst>
          </p:cNvPr>
          <p:cNvGraphicFramePr/>
          <p:nvPr/>
        </p:nvGraphicFramePr>
        <p:xfrm>
          <a:off xmlns:a="http://schemas.openxmlformats.org/drawingml/2006/main" x="514350" y="4972050"/>
          <a:ext xmlns:a="http://schemas.openxmlformats.org/drawingml/2006/main" cx="11163300" cy="1266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809750"/>
                <a:gridCol w="2000250"/>
                <a:gridCol w="49720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Cost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LDV chargers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16.064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16.205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Million 2020 CAD / GW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MHDV chargers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11.989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12.065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Million 2020 CAD / GW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05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st_invest">
            <a:extLst xmlns:a="http://schemas.openxmlformats.org/drawingml/2006/main">
              <a:ext uri="{FF2B5EF4-FFF2-40B4-BE49-F238E27FC236}">
                <a16:creationId xmlns:a16="http://schemas.microsoft.com/office/drawing/2014/main" id="{D9742D76-40CF-4248-B413-F1C05121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cost_invest</a:t>
            </a:r>
          </a:p>
        </p:txBody>
      </p:sp>
      <p:sp>
        <p:nvSpPr>
          <p:cNvPr id="2" name="Investment cost for heavy off-road modes">
            <a:extLst xmlns:a="http://schemas.openxmlformats.org/drawingml/2006/main">
              <a:ext uri="{FF2B5EF4-FFF2-40B4-BE49-F238E27FC236}">
                <a16:creationId xmlns:a16="http://schemas.microsoft.com/office/drawing/2014/main" id="{A10FE0CD-4D1A-48A4-9EED-BE8CC389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Investment cost for heavy off-road modes</a:t>
            </a:r>
          </a:p>
        </p:txBody>
      </p:sp>
      <p:sp>
        <p:nvSpPr>
          <p:cNvPr id="3" name="2025 vintage. Differences reflect capital costs ">
            <a:extLst xmlns:a="http://schemas.openxmlformats.org/drawingml/2006/main">
              <a:ext uri="{FF2B5EF4-FFF2-40B4-BE49-F238E27FC236}">
                <a16:creationId xmlns:a16="http://schemas.microsoft.com/office/drawing/2014/main" id="{B700DB53-150F-4779-B84C-13E6450B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Differences reflect capital costs per unit of transport service.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EFEF497F-9FA3-4D08-B034-5C70A980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921643BC-3A70-40A9-B1AE-70646171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7A5F79B-4316-4E2F-B63A-FA26736B815C}"/>
              </a:ext>
            </a:extLst>
          </p:cNvPr>
          <p:cNvGraphicFramePr/>
          <p:nvPr/>
        </p:nvGraphicFramePr>
        <p:xfrm>
          <a:off xmlns:a="http://schemas.openxmlformats.org/drawingml/2006/main" x="514350" y="1819275"/>
          <a:ext xmlns:a="http://schemas.openxmlformats.org/drawingml/2006/main" cx="111633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42424635254721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BCA5D-F5C4-4E4D-B2B0-85C0B86AD90A}"/>
              </a:ext>
            </a:extLst>
          </p:cNvPr>
          <p:cNvGraphicFramePr/>
          <p:nvPr/>
        </p:nvGraphicFramePr>
        <p:xfrm>
          <a:off xmlns:a="http://schemas.openxmlformats.org/drawingml/2006/main" x="514350" y="4933950"/>
          <a:ext xmlns:a="http://schemas.openxmlformats.org/drawingml/2006/main" cx="111633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63917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All heavy off-road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CIMS replaces OEO capital costs, normalized to demand-service units.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Aircraft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Service output comes from FAA operational data.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131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st_invest">
            <a:extLst xmlns:a="http://schemas.openxmlformats.org/drawingml/2006/main">
              <a:ext uri="{FF2B5EF4-FFF2-40B4-BE49-F238E27FC236}">
                <a16:creationId xmlns:a16="http://schemas.microsoft.com/office/drawing/2014/main" id="{45FED48B-9BC0-435D-BBE2-6BF0E379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cost_invest</a:t>
            </a:r>
          </a:p>
        </p:txBody>
      </p:sp>
      <p:sp>
        <p:nvSpPr>
          <p:cNvPr id="2" name="Investment cost for road vehicles">
            <a:extLst xmlns:a="http://schemas.openxmlformats.org/drawingml/2006/main">
              <a:ext uri="{FF2B5EF4-FFF2-40B4-BE49-F238E27FC236}">
                <a16:creationId xmlns:a16="http://schemas.microsoft.com/office/drawing/2014/main" id="{EC7A2B57-8006-46B7-A9FF-6BC4ED61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Investment cost for road vehicles</a:t>
            </a:r>
          </a:p>
        </p:txBody>
      </p:sp>
      <p:sp>
        <p:nvSpPr>
          <p:cNvPr id="3" name="2025 vintage. Truck examples show larger differe">
            <a:extLst xmlns:a="http://schemas.openxmlformats.org/drawingml/2006/main">
              <a:ext uri="{FF2B5EF4-FFF2-40B4-BE49-F238E27FC236}">
                <a16:creationId xmlns:a16="http://schemas.microsoft.com/office/drawing/2014/main" id="{DB462788-09C4-4E5F-9901-E4937932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Truck examples show larger differences than cars and light trucks.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C3949C1C-0B99-4609-997D-849D48A7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F82F24D3-9F6A-4365-B2DB-B69DC597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B0762B8-589A-4123-BF48-1BBBC77DEB0B}"/>
              </a:ext>
            </a:extLst>
          </p:cNvPr>
          <p:cNvGraphicFramePr/>
          <p:nvPr/>
        </p:nvGraphicFramePr>
        <p:xfrm>
          <a:off xmlns:a="http://schemas.openxmlformats.org/drawingml/2006/main" x="514350" y="1809750"/>
          <a:ext xmlns:a="http://schemas.openxmlformats.org/drawingml/2006/main" cx="6543675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34c49b02164240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ED1F0-AEEF-4DD7-B88D-44C07C888226}"/>
              </a:ext>
            </a:extLst>
          </p:cNvPr>
          <p:cNvGraphicFramePr/>
          <p:nvPr/>
        </p:nvGraphicFramePr>
        <p:xfrm>
          <a:off xmlns:a="http://schemas.openxmlformats.org/drawingml/2006/main" x="7381875" y="1952625"/>
          <a:ext xmlns:a="http://schemas.openxmlformats.org/drawingml/2006/main" cx="4295775" cy="4248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66825"/>
                <a:gridCol w="30289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NLR ATB retail price / 1.5 should preserve a similar cost basis. Aggregation weights are the expected main driver.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Heavy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Hypothesis: the changed regional / long-haul mix explains the larger gap.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Gasoline medium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ATB lacks the gasoline input included in legacy Islam et al. (2023) results.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38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st_variable">
            <a:extLst xmlns:a="http://schemas.openxmlformats.org/drawingml/2006/main">
              <a:ext uri="{FF2B5EF4-FFF2-40B4-BE49-F238E27FC236}">
                <a16:creationId xmlns:a16="http://schemas.microsoft.com/office/drawing/2014/main" id="{A7F001C7-2262-401B-BC21-A29DBEE8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cost_variable</a:t>
            </a:r>
          </a:p>
        </p:txBody>
      </p:sp>
      <p:sp>
        <p:nvSpPr>
          <p:cNvPr id="2" name="Operating cost for heavy off-road modes">
            <a:extLst xmlns:a="http://schemas.openxmlformats.org/drawingml/2006/main">
              <a:ext uri="{FF2B5EF4-FFF2-40B4-BE49-F238E27FC236}">
                <a16:creationId xmlns:a16="http://schemas.microsoft.com/office/drawing/2014/main" id="{C0EFC330-F1EE-42D6-B99E-069A592D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Operating cost for heavy off-road modes</a:t>
            </a:r>
          </a:p>
        </p:txBody>
      </p:sp>
      <p:sp>
        <p:nvSpPr>
          <p:cNvPr id="3" name="2025 vintage and period. Marine uses its own sca">
            <a:extLst xmlns:a="http://schemas.openxmlformats.org/drawingml/2006/main">
              <a:ext uri="{FF2B5EF4-FFF2-40B4-BE49-F238E27FC236}">
                <a16:creationId xmlns:a16="http://schemas.microsoft.com/office/drawing/2014/main" id="{2E5C6868-3E18-40A5-B8E2-119CC700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Marine uses its own scale so the other classes remain visible.</a:t>
            </a:r>
          </a:p>
        </p:txBody>
      </p:sp>
      <p:sp>
        <p:nvSpPr>
          <p:cNvPr id="4" name="Ontario. The listed methods do not quantify ever">
            <a:extLst xmlns:a="http://schemas.openxmlformats.org/drawingml/2006/main">
              <a:ext uri="{FF2B5EF4-FFF2-40B4-BE49-F238E27FC236}">
                <a16:creationId xmlns:a16="http://schemas.microsoft.com/office/drawing/2014/main" id="{17AAB24A-E05C-4851-BEBB-19EE9CB7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The listed methods do not quantify every part of the observed cost gap.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BD8F9F78-44E7-4BA9-A674-B8FD17AC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C86D78B-CDE9-47D0-BE17-25F1DE42424E}"/>
              </a:ext>
            </a:extLst>
          </p:cNvPr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5000625" cy="2733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44c3a0a1fb4fe0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C9E15B3-6AAE-4F04-9C8E-A3EB1C1FAD5E}"/>
              </a:ext>
            </a:extLst>
          </p:cNvPr>
          <p:cNvGraphicFramePr/>
          <p:nvPr/>
        </p:nvGraphicFramePr>
        <p:xfrm>
          <a:off xmlns:a="http://schemas.openxmlformats.org/drawingml/2006/main" x="5924550" y="1866900"/>
          <a:ext xmlns:a="http://schemas.openxmlformats.org/drawingml/2006/main" cx="5753100" cy="2733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974bcaee694979"/>
          </a:graphicData>
        </a:graphic>
      </p:graphicFrame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CBE06-DD3C-420D-AD55-23B71E5E5D8E}"/>
              </a:ext>
            </a:extLst>
          </p:cNvPr>
          <p:cNvGraphicFramePr/>
          <p:nvPr/>
        </p:nvGraphicFramePr>
        <p:xfrm>
          <a:off xmlns:a="http://schemas.openxmlformats.org/drawingml/2006/main" x="514350" y="4914900"/>
          <a:ext xmlns:a="http://schemas.openxmlformats.org/drawingml/2006/main" cx="111633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63917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and rail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Revised capital costs feed into OEO capital-to-operating cost ratios.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Aircraft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FAA operational data supplies operating costs.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931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st_variable">
            <a:extLst xmlns:a="http://schemas.openxmlformats.org/drawingml/2006/main">
              <a:ext uri="{FF2B5EF4-FFF2-40B4-BE49-F238E27FC236}">
                <a16:creationId xmlns:a16="http://schemas.microsoft.com/office/drawing/2014/main" id="{591DA3B6-9310-443B-9F40-581EAA78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cost_variable</a:t>
            </a:r>
          </a:p>
        </p:txBody>
      </p:sp>
      <p:sp>
        <p:nvSpPr>
          <p:cNvPr id="2" name="Road operating costs now use formulas">
            <a:extLst xmlns:a="http://schemas.openxmlformats.org/drawingml/2006/main">
              <a:ext uri="{FF2B5EF4-FFF2-40B4-BE49-F238E27FC236}">
                <a16:creationId xmlns:a16="http://schemas.microsoft.com/office/drawing/2014/main" id="{26FB41F4-9FAE-46C0-8B23-47905A3A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Road operating costs now use formulas</a:t>
            </a:r>
          </a:p>
        </p:txBody>
      </p:sp>
      <p:sp>
        <p:nvSpPr>
          <p:cNvPr id="3" name="2025 vintage and period. The direction of change">
            <a:extLst xmlns:a="http://schemas.openxmlformats.org/drawingml/2006/main">
              <a:ext uri="{FF2B5EF4-FFF2-40B4-BE49-F238E27FC236}">
                <a16:creationId xmlns:a16="http://schemas.microsoft.com/office/drawing/2014/main" id="{54F115A7-BEB3-4F2E-952E-BE1499D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The direction of change varies across vehicle classes.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A3FCEF16-9F92-4F0D-B82A-3831DEB1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C505FE3A-DE22-40AC-9683-213C9EF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F24CF13-D2D1-4757-9B9B-70490AE9029B}"/>
              </a:ext>
            </a:extLst>
          </p:cNvPr>
          <p:cNvGraphicFramePr/>
          <p:nvPr/>
        </p:nvGraphicFramePr>
        <p:xfrm>
          <a:off xmlns:a="http://schemas.openxmlformats.org/drawingml/2006/main" x="514350" y="1828800"/>
          <a:ext xmlns:a="http://schemas.openxmlformats.org/drawingml/2006/main" cx="11163300" cy="3057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ff5e7c7b4e4459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6DAA5-524F-4582-A72A-9E8CB571BDE0}"/>
              </a:ext>
            </a:extLst>
          </p:cNvPr>
          <p:cNvGraphicFramePr/>
          <p:nvPr/>
        </p:nvGraphicFramePr>
        <p:xfrm>
          <a:off xmlns:a="http://schemas.openxmlformats.org/drawingml/2006/main" x="514350" y="5114925"/>
          <a:ext xmlns:a="http://schemas.openxmlformats.org/drawingml/2006/main" cx="11163300" cy="1171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362450"/>
                <a:gridCol w="438150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Hard-coded costs fetched directly from the BEAN model.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Costs calculated with formulas.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650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mand">
            <a:extLst xmlns:a="http://schemas.openxmlformats.org/drawingml/2006/main">
              <a:ext uri="{FF2B5EF4-FFF2-40B4-BE49-F238E27FC236}">
                <a16:creationId xmlns:a16="http://schemas.microsoft.com/office/drawing/2014/main" id="{B991869B-7B7D-4E2F-B129-F559EC46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2" name="Demand changes with the edition and base year">
            <a:extLst xmlns:a="http://schemas.openxmlformats.org/drawingml/2006/main">
              <a:ext uri="{FF2B5EF4-FFF2-40B4-BE49-F238E27FC236}">
                <a16:creationId xmlns:a16="http://schemas.microsoft.com/office/drawing/2014/main" id="{BDD4A078-32CC-4A30-A1ED-B38BC474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Demand changes with the edition and base year</a:t>
            </a:r>
          </a:p>
        </p:txBody>
      </p:sp>
      <p:sp>
        <p:nvSpPr>
          <p:cNvPr id="3" name="2025 model period. Marine is shown alongside sel">
            <a:extLst xmlns:a="http://schemas.openxmlformats.org/drawingml/2006/main">
              <a:ext uri="{FF2B5EF4-FFF2-40B4-BE49-F238E27FC236}">
                <a16:creationId xmlns:a16="http://schemas.microsoft.com/office/drawing/2014/main" id="{E20D40FF-16E8-45EA-B05B-30415C73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model period. Marine is shown alongside selected examples of the other modes.</a:t>
            </a:r>
          </a:p>
        </p:txBody>
      </p:sp>
      <p:sp>
        <p:nvSpPr>
          <p:cNvPr id="4" name="Ontario. Model-period demand, not an observed 20">
            <a:extLst xmlns:a="http://schemas.openxmlformats.org/drawingml/2006/main">
              <a:ext uri="{FF2B5EF4-FFF2-40B4-BE49-F238E27FC236}">
                <a16:creationId xmlns:a16="http://schemas.microsoft.com/office/drawing/2014/main" id="{FDC0A7D3-58CC-46B5-A836-E54B4D12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Model-period demand, not an observed 2025 measurement.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1EF41FEB-3C01-4368-8B47-31FC58EE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430CB69-4BB3-48FA-B62D-E1B7FBA4ED07}"/>
              </a:ext>
            </a:extLst>
          </p:cNvPr>
          <p:cNvGraphicFramePr/>
          <p:nvPr/>
        </p:nvGraphicFramePr>
        <p:xfrm>
          <a:off xmlns:a="http://schemas.openxmlformats.org/drawingml/2006/main" x="514350" y="1838325"/>
          <a:ext xmlns:a="http://schemas.openxmlformats.org/drawingml/2006/main" cx="11163300" cy="3019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4a7185a75e4727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84AAB-7DEC-42F5-AC28-DB08C6991B65}"/>
              </a:ext>
            </a:extLst>
          </p:cNvPr>
          <p:cNvGraphicFramePr/>
          <p:nvPr/>
        </p:nvGraphicFramePr>
        <p:xfrm>
          <a:off xmlns:a="http://schemas.openxmlformats.org/drawingml/2006/main" x="514350" y="4991100"/>
          <a:ext xmlns:a="http://schemas.openxmlformats.org/drawingml/2006/main" cx="11163300" cy="1314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86296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modes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freight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The CEUD edition change substantially alters marine energy use.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All other modes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Future demand is indexed to 2023 demand instead of 2019.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494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fficiency">
            <a:extLst xmlns:a="http://schemas.openxmlformats.org/drawingml/2006/main">
              <a:ext uri="{FF2B5EF4-FFF2-40B4-BE49-F238E27FC236}">
                <a16:creationId xmlns:a16="http://schemas.microsoft.com/office/drawing/2014/main" id="{6A13DB89-BFC3-48F4-AC70-CEBFDBDD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Existing bus efficiency uses CEUD backcasting">
            <a:extLst xmlns:a="http://schemas.openxmlformats.org/drawingml/2006/main">
              <a:ext uri="{FF2B5EF4-FFF2-40B4-BE49-F238E27FC236}">
                <a16:creationId xmlns:a16="http://schemas.microsoft.com/office/drawing/2014/main" id="{31049B95-12BA-4F1E-8903-CCEE2FFB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bus efficiency uses CEUD backcasting</a:t>
            </a:r>
          </a:p>
        </p:txBody>
      </p:sp>
      <p:sp>
        <p:nvSpPr>
          <p:cNvPr id="3" name="2020 vintage. Values show transport service per ">
            <a:extLst xmlns:a="http://schemas.openxmlformats.org/drawingml/2006/main">
              <a:ext uri="{FF2B5EF4-FFF2-40B4-BE49-F238E27FC236}">
                <a16:creationId xmlns:a16="http://schemas.microsoft.com/office/drawing/2014/main" id="{09F2F582-1598-4399-9138-3F7678C9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2020 vintage. Values show transport service per unit of energy.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88D92F79-8AFA-4BC6-A0C4-455BAECF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1E45CD17-4051-4F76-B588-FF94CC0D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E0A6619-E8D1-4802-BD14-3AB60CC90BBC}"/>
              </a:ext>
            </a:extLst>
          </p:cNvPr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6810375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ec6bbc9d934a1a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19497-52BD-4CBA-A291-0F5DD993E32D}"/>
              </a:ext>
            </a:extLst>
          </p:cNvPr>
          <p:cNvGraphicFramePr/>
          <p:nvPr/>
        </p:nvGraphicFramePr>
        <p:xfrm>
          <a:off xmlns:a="http://schemas.openxmlformats.org/drawingml/2006/main" x="7600950" y="2133600"/>
          <a:ext xmlns:a="http://schemas.openxmlformats.org/drawingml/2006/main" cx="4076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8384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Existing-stock method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GREET gasoline-to-diesel and CNG-to-diesel scaling, with improvements indexed to ATB.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ATB values backcast using CEUD energy intensities.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836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fficiency">
            <a:extLst xmlns:a="http://schemas.openxmlformats.org/drawingml/2006/main">
              <a:ext uri="{FF2B5EF4-FFF2-40B4-BE49-F238E27FC236}">
                <a16:creationId xmlns:a16="http://schemas.microsoft.com/office/drawing/2014/main" id="{1F5AC931-1315-49E6-B1ED-D547025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Marine efficiency uses CEUD and REGEN">
            <a:extLst xmlns:a="http://schemas.openxmlformats.org/drawingml/2006/main">
              <a:ext uri="{FF2B5EF4-FFF2-40B4-BE49-F238E27FC236}">
                <a16:creationId xmlns:a16="http://schemas.microsoft.com/office/drawing/2014/main" id="{8C3FC15F-A087-4B7A-A8FD-12047632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Marine efficiency uses CEUD and REGEN</a:t>
            </a:r>
          </a:p>
        </p:txBody>
      </p:sp>
      <p:sp>
        <p:nvSpPr>
          <p:cNvPr id="3" name="2025 vintage. Marine freight efficiency is lower">
            <a:extLst xmlns:a="http://schemas.openxmlformats.org/drawingml/2006/main">
              <a:ext uri="{FF2B5EF4-FFF2-40B4-BE49-F238E27FC236}">
                <a16:creationId xmlns:a16="http://schemas.microsoft.com/office/drawing/2014/main" id="{EA2986B0-664E-4CB8-A88D-D39599C1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Marine freight efficiency is lower in both fuel examples.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11F4756F-F214-4842-979E-0C44BDE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557CD461-3D1B-46C7-B5B1-5DC6D3AD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8AAF905-B27D-48BA-AD79-44F1BF56F907}"/>
              </a:ext>
            </a:extLst>
          </p:cNvPr>
          <p:cNvGraphicFramePr/>
          <p:nvPr/>
        </p:nvGraphicFramePr>
        <p:xfrm>
          <a:off xmlns:a="http://schemas.openxmlformats.org/drawingml/2006/main" x="514350" y="1914525"/>
          <a:ext xmlns:a="http://schemas.openxmlformats.org/drawingml/2006/main" cx="669607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66fd7831d14c74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0D1D4-3DD8-45A0-8425-808AD3D7BE16}"/>
              </a:ext>
            </a:extLst>
          </p:cNvPr>
          <p:cNvGraphicFramePr/>
          <p:nvPr/>
        </p:nvGraphicFramePr>
        <p:xfrm>
          <a:off xmlns:a="http://schemas.openxmlformats.org/drawingml/2006/main" x="7600950" y="2152650"/>
          <a:ext xmlns:a="http://schemas.openxmlformats.org/drawingml/2006/main" cx="40767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9675"/>
                <a:gridCol w="286702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Efficiency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Values from a regional report.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CEUD energy intensities, with improvement indexed to REGEN assumptions.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Heavy fuel oil: -44.0%     Marine diesel oil: -4">
            <a:extLst xmlns:a="http://schemas.openxmlformats.org/drawingml/2006/main">
              <a:ext uri="{FF2B5EF4-FFF2-40B4-BE49-F238E27FC236}">
                <a16:creationId xmlns:a16="http://schemas.microsoft.com/office/drawing/2014/main" id="{1AA78B54-32FC-445D-BEB6-AC5E2009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Heavy fuel oil: -44.0%     Marine diesel oil: -40.3%</a:t>
            </a:r>
          </a:p>
        </p:txBody>
      </p:sp>
    </p:spTree>
    <p:extLst>
      <p:ext uri="{BB962C8B-B14F-4D97-AF65-F5344CB8AC3E}">
        <p14:creationId xmlns:p14="http://schemas.microsoft.com/office/powerpoint/2010/main" val="646109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fficiency">
            <a:extLst xmlns:a="http://schemas.openxmlformats.org/drawingml/2006/main">
              <a:ext uri="{FF2B5EF4-FFF2-40B4-BE49-F238E27FC236}">
                <a16:creationId xmlns:a16="http://schemas.microsoft.com/office/drawing/2014/main" id="{EABEF29A-FD9A-4E58-BBD7-5701982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Existing BEV and PHEV archetypes merge range evi">
            <a:extLst xmlns:a="http://schemas.openxmlformats.org/drawingml/2006/main">
              <a:ext uri="{FF2B5EF4-FFF2-40B4-BE49-F238E27FC236}">
                <a16:creationId xmlns:a16="http://schemas.microsoft.com/office/drawing/2014/main" id="{92E1BF63-6996-4B3A-9648-4522AA60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BEV and PHEV archetypes merge range evidence</a:t>
            </a:r>
          </a:p>
        </p:txBody>
      </p:sp>
      <p:sp>
        <p:nvSpPr>
          <p:cNvPr id="3" name="2020 vintage. Each legacy range-specific represe">
            <a:extLst xmlns:a="http://schemas.openxmlformats.org/drawingml/2006/main">
              <a:ext uri="{FF2B5EF4-FFF2-40B4-BE49-F238E27FC236}">
                <a16:creationId xmlns:a16="http://schemas.microsoft.com/office/drawing/2014/main" id="{60EB70B4-760C-4BD3-9872-BA83D8B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2020 vintage. Each legacy range-specific representative maps to its new merged class.</a:t>
            </a:r>
          </a:p>
        </p:txBody>
      </p:sp>
      <p:sp>
        <p:nvSpPr>
          <p:cNvPr id="4" name="Ontario. Explicit class mapping across represent">
            <a:extLst xmlns:a="http://schemas.openxmlformats.org/drawingml/2006/main">
              <a:ext uri="{FF2B5EF4-FFF2-40B4-BE49-F238E27FC236}">
                <a16:creationId xmlns:a16="http://schemas.microsoft.com/office/drawing/2014/main" id="{1B24839E-68B7-4CD1-959C-B4A17FD6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Explicit class mapping across representations, not identical technology keys.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D7F0B056-2800-4B2C-ADD0-37F5AD1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C0CAB84-8C8C-4249-8F37-00689D505477}"/>
              </a:ext>
            </a:extLst>
          </p:cNvPr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1116330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e5356bc2994044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42639-6A4B-41B7-AF25-7E1E48C5C3E4}"/>
              </a:ext>
            </a:extLst>
          </p:cNvPr>
          <p:cNvGraphicFramePr/>
          <p:nvPr/>
        </p:nvGraphicFramePr>
        <p:xfrm>
          <a:off xmlns:a="http://schemas.openxmlformats.org/drawingml/2006/main" x="514350" y="5067300"/>
          <a:ext xmlns:a="http://schemas.openxmlformats.org/drawingml/2006/main" cx="11163300" cy="1247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52700"/>
                <a:gridCol w="3571875"/>
                <a:gridCol w="503872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archetypes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Existing BEV and PHEV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 fixed range class represents each archetype.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Merged archetypes aggregate range evidence using OMEGA vehicle-sales evidence.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628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xisting_capacity">
            <a:extLst xmlns:a="http://schemas.openxmlformats.org/drawingml/2006/main">
              <a:ext uri="{FF2B5EF4-FFF2-40B4-BE49-F238E27FC236}">
                <a16:creationId xmlns:a16="http://schemas.microsoft.com/office/drawing/2014/main" id="{DC59D44A-79B9-4143-9A30-E577B726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existing_capacity</a:t>
            </a:r>
          </a:p>
        </p:txBody>
      </p:sp>
      <p:sp>
        <p:nvSpPr>
          <p:cNvPr id="2" name="Existing capacity changes with the source baseli">
            <a:extLst xmlns:a="http://schemas.openxmlformats.org/drawingml/2006/main">
              <a:ext uri="{FF2B5EF4-FFF2-40B4-BE49-F238E27FC236}">
                <a16:creationId xmlns:a16="http://schemas.microsoft.com/office/drawing/2014/main" id="{65097643-6096-4556-AB5C-7802992D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capacity changes with the source baseline</a:t>
            </a:r>
          </a:p>
        </p:txBody>
      </p:sp>
      <p:sp>
        <p:nvSpPr>
          <p:cNvPr id="3" name="Each version’s baseline inventory, summed across">
            <a:extLst xmlns:a="http://schemas.openxmlformats.org/drawingml/2006/main">
              <a:ext uri="{FF2B5EF4-FFF2-40B4-BE49-F238E27FC236}">
                <a16:creationId xmlns:a16="http://schemas.microsoft.com/office/drawing/2014/main" id="{2BF17754-26EA-4404-A4F5-20DD31E9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Each version’s baseline inventory, summed across its stored existing cohorts.</a:t>
            </a:r>
          </a:p>
        </p:txBody>
      </p:sp>
      <p:sp>
        <p:nvSpPr>
          <p:cNvPr id="4" name="Ontario. Road inventory uses 2021 versus 2023 ba">
            <a:extLst xmlns:a="http://schemas.openxmlformats.org/drawingml/2006/main">
              <a:ext uri="{FF2B5EF4-FFF2-40B4-BE49-F238E27FC236}">
                <a16:creationId xmlns:a16="http://schemas.microsoft.com/office/drawing/2014/main" id="{4FABFCF1-B629-436D-AAAB-72E4286A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Road inventory uses 2021 versus 2023 baselines; each marine bar retains its fuel class.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95FD8761-8B15-4A9A-B685-0C3AAD23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2154EC8-971E-4FD0-A9AD-0DBD4195116C}"/>
              </a:ext>
            </a:extLst>
          </p:cNvPr>
          <p:cNvGraphicFramePr/>
          <p:nvPr/>
        </p:nvGraphicFramePr>
        <p:xfrm>
          <a:off xmlns:a="http://schemas.openxmlformats.org/drawingml/2006/main" x="514350" y="1838325"/>
          <a:ext xmlns:a="http://schemas.openxmlformats.org/drawingml/2006/main" cx="111633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2d6269fc5d49f0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95D9C-8144-404F-AC8B-B6AD9924D932}"/>
              </a:ext>
            </a:extLst>
          </p:cNvPr>
          <p:cNvGraphicFramePr/>
          <p:nvPr/>
        </p:nvGraphicFramePr>
        <p:xfrm>
          <a:off xmlns:a="http://schemas.openxmlformats.org/drawingml/2006/main" x="514350" y="5010150"/>
          <a:ext xmlns:a="http://schemas.openxmlformats.org/drawingml/2006/main" cx="11163300" cy="1304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3175"/>
                <a:gridCol w="862012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freight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Fuel-consumption differences between CEUD editions.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The stock baseline shifts from 2021 to 2023.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8090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xisting_capacity">
            <a:extLst xmlns:a="http://schemas.openxmlformats.org/drawingml/2006/main">
              <a:ext uri="{FF2B5EF4-FFF2-40B4-BE49-F238E27FC236}">
                <a16:creationId xmlns:a16="http://schemas.microsoft.com/office/drawing/2014/main" id="{00F884AC-C1CF-49BF-8AE6-143ACBBD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existing_capacity</a:t>
            </a:r>
          </a:p>
        </p:txBody>
      </p:sp>
      <p:sp>
        <p:nvSpPr>
          <p:cNvPr id="2" name="Charger capacity follows ports and EV-to-port ra">
            <a:extLst xmlns:a="http://schemas.openxmlformats.org/drawingml/2006/main">
              <a:ext uri="{FF2B5EF4-FFF2-40B4-BE49-F238E27FC236}">
                <a16:creationId xmlns:a16="http://schemas.microsoft.com/office/drawing/2014/main" id="{FCA9D71C-0AAE-4080-B535-F82CF53B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Charger capacity follows ports and EV-to-port ratios</a:t>
            </a:r>
          </a:p>
        </p:txBody>
      </p:sp>
      <p:sp>
        <p:nvSpPr>
          <p:cNvPr id="3" name="Each version’s baseline inventory. Legacy charge">
            <a:extLst xmlns:a="http://schemas.openxmlformats.org/drawingml/2006/main">
              <a:ext uri="{FF2B5EF4-FFF2-40B4-BE49-F238E27FC236}">
                <a16:creationId xmlns:a16="http://schemas.microsoft.com/office/drawing/2014/main" id="{01F489B4-8E1B-4EC1-920C-9FD1A4D0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Each version’s baseline inventory. Legacy charger cohorts are summed within each class.</a:t>
            </a:r>
          </a:p>
        </p:txBody>
      </p:sp>
      <p:sp>
        <p:nvSpPr>
          <p:cNvPr id="4" name="Ontario. Legacy MHDV inventory contains HDV rows">
            <a:extLst xmlns:a="http://schemas.openxmlformats.org/drawingml/2006/main">
              <a:ext uri="{FF2B5EF4-FFF2-40B4-BE49-F238E27FC236}">
                <a16:creationId xmlns:a16="http://schemas.microsoft.com/office/drawing/2014/main" id="{33427453-BEDB-4F06-9E22-303E5EE2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Legacy MHDV inventory contains HDV rows only; no MDV charger-stock rows are present.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230EB073-0EBB-40EA-B2D0-F5C8422B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4C86AB5-93C2-4228-A311-55124BBEFABE}"/>
              </a:ext>
            </a:extLst>
          </p:cNvPr>
          <p:cNvGraphicFramePr/>
          <p:nvPr/>
        </p:nvGraphicFramePr>
        <p:xfrm>
          <a:off xmlns:a="http://schemas.openxmlformats.org/drawingml/2006/main" x="514350" y="1905000"/>
          <a:ext xmlns:a="http://schemas.openxmlformats.org/drawingml/2006/main" cx="6829425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f83fa9cc1740d5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098B2-D82E-42EA-8DAF-C5E53A153A04}"/>
              </a:ext>
            </a:extLst>
          </p:cNvPr>
          <p:cNvGraphicFramePr/>
          <p:nvPr/>
        </p:nvGraphicFramePr>
        <p:xfrm>
          <a:off xmlns:a="http://schemas.openxmlformats.org/drawingml/2006/main" x="7600950" y="2076450"/>
          <a:ext xmlns:a="http://schemas.openxmlformats.org/drawingml/2006/main" cx="40767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95400"/>
                <a:gridCol w="278130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Capacity calibration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Energy-based calibration.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Public port counts and EV-to-port ratios.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6586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imit_annual_capacity_factor">
            <a:extLst xmlns:a="http://schemas.openxmlformats.org/drawingml/2006/main">
              <a:ext uri="{FF2B5EF4-FFF2-40B4-BE49-F238E27FC236}">
                <a16:creationId xmlns:a16="http://schemas.microsoft.com/office/drawing/2014/main" id="{4E19A937-C9F8-4E69-AB33-38A84DFE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limit_annual_capacity_factor</a:t>
            </a:r>
          </a:p>
        </p:txBody>
      </p:sp>
      <p:sp>
        <p:nvSpPr>
          <p:cNvPr id="2" name="Road utilization reflects a revised CEUD averagi">
            <a:extLst xmlns:a="http://schemas.openxmlformats.org/drawingml/2006/main">
              <a:ext uri="{FF2B5EF4-FFF2-40B4-BE49-F238E27FC236}">
                <a16:creationId xmlns:a16="http://schemas.microsoft.com/office/drawing/2014/main" id="{62443693-ED8F-4937-A8CD-2B9F3C99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Road utilization reflects a revised CEUD averaging window</a:t>
            </a:r>
          </a:p>
        </p:txBody>
      </p:sp>
      <p:sp>
        <p:nvSpPr>
          <p:cNvPr id="3" name="Latest five eligible activity-to-stock periods, ">
            <a:extLst xmlns:a="http://schemas.openxmlformats.org/drawingml/2006/main">
              <a:ext uri="{FF2B5EF4-FFF2-40B4-BE49-F238E27FC236}">
                <a16:creationId xmlns:a16="http://schemas.microsoft.com/office/drawing/2014/main" id="{54194473-05BA-4D42-A396-CCEE2BFD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Latest five eligible activity-to-stock periods, excluding 2020–2021.</a:t>
            </a:r>
          </a:p>
        </p:txBody>
      </p:sp>
      <p:sp>
        <p:nvSpPr>
          <p:cNvPr id="4" name="Ontario. 2025 vintage at its installation period">
            <a:extLst xmlns:a="http://schemas.openxmlformats.org/drawingml/2006/main">
              <a:ext uri="{FF2B5EF4-FFF2-40B4-BE49-F238E27FC236}">
                <a16:creationId xmlns:a16="http://schemas.microsoft.com/office/drawing/2014/main" id="{8D470736-23D3-42BD-A451-79719FA6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2025 vintage at its installation period. Legacy bounds and the new equality value have different roles.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0FCDA7E8-B9CD-40C3-953C-51230F83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B4FC3AA-1CCB-4601-8289-94D4DDC2D9D9}"/>
              </a:ext>
            </a:extLst>
          </p:cNvPr>
          <p:cNvGraphicFramePr/>
          <p:nvPr/>
        </p:nvGraphicFramePr>
        <p:xfrm>
          <a:off xmlns:a="http://schemas.openxmlformats.org/drawingml/2006/main" x="514350" y="1933575"/>
          <a:ext xmlns:a="http://schemas.openxmlformats.org/drawingml/2006/main" cx="6572250" cy="3590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300e6046784981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8D151-8ED3-4EB5-8DE5-D91D203835E5}"/>
              </a:ext>
            </a:extLst>
          </p:cNvPr>
          <p:cNvGraphicFramePr/>
          <p:nvPr/>
        </p:nvGraphicFramePr>
        <p:xfrm>
          <a:off xmlns:a="http://schemas.openxmlformats.org/drawingml/2006/main" x="7410450" y="2152650"/>
          <a:ext xmlns:a="http://schemas.openxmlformats.org/drawingml/2006/main" cx="4267200" cy="3019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1819275"/>
                <a:gridCol w="117157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range (%)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(%)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Cars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1.884–1.886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2.076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Medium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2.622–2.624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2.895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Heavy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20.704–20.724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23.663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Intercity buses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4.126–4.130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5.263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hanged CEUD editions change the baseline activi">
            <a:extLst xmlns:a="http://schemas.openxmlformats.org/drawingml/2006/main">
              <a:ext uri="{FF2B5EF4-FFF2-40B4-BE49-F238E27FC236}">
                <a16:creationId xmlns:a16="http://schemas.microsoft.com/office/drawing/2014/main" id="{1D27BF7E-4256-4C0C-9DA9-0E67F49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Changed CEUD editions change the baseline activity-to-stock averages.</a:t>
            </a:r>
          </a:p>
        </p:txBody>
      </p:sp>
    </p:spTree>
    <p:extLst>
      <p:ext uri="{BB962C8B-B14F-4D97-AF65-F5344CB8AC3E}">
        <p14:creationId xmlns:p14="http://schemas.microsoft.com/office/powerpoint/2010/main" val="1484723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2026-10-13T16:34:05.4800000Z</dcterms:created>
  <dcterms:modified xsi:type="dcterms:W3CDTF">2026-10-13T16:34:05.4800000Z</dcterms:modified>
</coreProperties>
</file>