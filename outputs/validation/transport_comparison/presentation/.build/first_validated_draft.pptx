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3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6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7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8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9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10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11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1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13.xml" ContentType="application/vnd.openxmlformats-officedocument.drawingml.chart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a3966d94924d8a" /><Relationship Type="http://schemas.openxmlformats.org/officeDocument/2006/relationships/extended-properties" Target="/docProps/app.xml" Id="Re29a01917eee48c5" /><Relationship Type="http://schemas.openxmlformats.org/officeDocument/2006/relationships/officeDocument" Target="/ppt/presentation.xml" Id="R145b7770d93a43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7435479f78455d"/>
  </p:sldMasterIdLst>
  <p:notesMasterIdLst>
    <p:notesMasterId xmlns:r="http://schemas.openxmlformats.org/officeDocument/2006/relationships" r:id="Rb4dbdca8ab134522"/>
  </p:notesMasterIdLst>
  <p:sldIdLst>
    <p:sldId xmlns:r="http://schemas.openxmlformats.org/officeDocument/2006/relationships" id="256" r:id="R746d65a7ab8b4adc"/>
    <p:sldId xmlns:r="http://schemas.openxmlformats.org/officeDocument/2006/relationships" id="257" r:id="R8a7c889e691f4f32"/>
    <p:sldId xmlns:r="http://schemas.openxmlformats.org/officeDocument/2006/relationships" id="258" r:id="Re4a23b53156b44d4"/>
    <p:sldId xmlns:r="http://schemas.openxmlformats.org/officeDocument/2006/relationships" id="259" r:id="R27fd3bc57f91479b"/>
    <p:sldId xmlns:r="http://schemas.openxmlformats.org/officeDocument/2006/relationships" id="260" r:id="R06838b7dd02640b3"/>
    <p:sldId xmlns:r="http://schemas.openxmlformats.org/officeDocument/2006/relationships" id="261" r:id="R2deb5365f4214613"/>
    <p:sldId xmlns:r="http://schemas.openxmlformats.org/officeDocument/2006/relationships" id="262" r:id="Rb3b37099c4e2416f"/>
    <p:sldId xmlns:r="http://schemas.openxmlformats.org/officeDocument/2006/relationships" id="263" r:id="Re4793b4845dc42a1"/>
    <p:sldId xmlns:r="http://schemas.openxmlformats.org/officeDocument/2006/relationships" id="264" r:id="Rea3f1dcb01bc4e9d"/>
    <p:sldId xmlns:r="http://schemas.openxmlformats.org/officeDocument/2006/relationships" id="265" r:id="R01dc7558c7f844dc"/>
    <p:sldId xmlns:r="http://schemas.openxmlformats.org/officeDocument/2006/relationships" id="266" r:id="R79a4c99b2c8849b1"/>
    <p:sldId xmlns:r="http://schemas.openxmlformats.org/officeDocument/2006/relationships" id="267" r:id="Rbe56ed2402ec4065"/>
    <p:sldId xmlns:r="http://schemas.openxmlformats.org/officeDocument/2006/relationships" id="268" r:id="R95b0d8d08aa047c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bd2c6b2f9594937" /><Relationship Type="http://schemas.openxmlformats.org/officeDocument/2006/relationships/slideMaster" Target="/ppt/slideMasters/slideMaster1.xml" Id="R1c7435479f78455d" /><Relationship Type="http://schemas.openxmlformats.org/officeDocument/2006/relationships/notesMaster" Target="/ppt/notesMasters/notesMaster1.xml" Id="Rb4dbdca8ab134522" /><Relationship Type="http://schemas.openxmlformats.org/officeDocument/2006/relationships/presProps" Target="/ppt/presProps.xml" Id="R5c47c9029db04268" /><Relationship Type="http://schemas.openxmlformats.org/officeDocument/2006/relationships/tableStyles" Target="/ppt/tableStyles.xml" Id="Rabae7a9ef9aa4ac4" /><Relationship Type="http://schemas.openxmlformats.org/officeDocument/2006/relationships/slide" Target="/ppt/slides/slide1.xml" Id="R746d65a7ab8b4adc" /><Relationship Type="http://schemas.openxmlformats.org/officeDocument/2006/relationships/slide" Target="/ppt/slides/slide2.xml" Id="R8a7c889e691f4f32" /><Relationship Type="http://schemas.openxmlformats.org/officeDocument/2006/relationships/slide" Target="/ppt/slides/slide3.xml" Id="Re4a23b53156b44d4" /><Relationship Type="http://schemas.openxmlformats.org/officeDocument/2006/relationships/slide" Target="/ppt/slides/slide4.xml" Id="R27fd3bc57f91479b" /><Relationship Type="http://schemas.openxmlformats.org/officeDocument/2006/relationships/slide" Target="/ppt/slides/slide5.xml" Id="R06838b7dd02640b3" /><Relationship Type="http://schemas.openxmlformats.org/officeDocument/2006/relationships/slide" Target="/ppt/slides/slide6.xml" Id="R2deb5365f4214613" /><Relationship Type="http://schemas.openxmlformats.org/officeDocument/2006/relationships/slide" Target="/ppt/slides/slide7.xml" Id="Rb3b37099c4e2416f" /><Relationship Type="http://schemas.openxmlformats.org/officeDocument/2006/relationships/slide" Target="/ppt/slides/slide8.xml" Id="Re4793b4845dc42a1" /><Relationship Type="http://schemas.openxmlformats.org/officeDocument/2006/relationships/slide" Target="/ppt/slides/slide9.xml" Id="Rea3f1dcb01bc4e9d" /><Relationship Type="http://schemas.openxmlformats.org/officeDocument/2006/relationships/slide" Target="/ppt/slides/slide10.xml" Id="R01dc7558c7f844dc" /><Relationship Type="http://schemas.openxmlformats.org/officeDocument/2006/relationships/slide" Target="/ppt/slides/slide11.xml" Id="R79a4c99b2c8849b1" /><Relationship Type="http://schemas.openxmlformats.org/officeDocument/2006/relationships/slide" Target="/ppt/slides/slide12.xml" Id="Rbe56ed2402ec4065" /><Relationship Type="http://schemas.openxmlformats.org/officeDocument/2006/relationships/slide" Target="/ppt/slides/slide13.xml" Id="R95b0d8d08aa047c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b0983407d645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5479921e0e4ffd" /><Relationship Type="http://schemas.openxmlformats.org/officeDocument/2006/relationships/notesMaster" Target="/ppt/notesMasters/notesMaster1.xml" Id="Rf004427daa9a4b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135f270569e43cf" /><Relationship Type="http://schemas.openxmlformats.org/officeDocument/2006/relationships/notesMaster" Target="/ppt/notesMasters/notesMaster1.xml" Id="R06880983c4ad4e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5fb47a2cfa4d2b" /><Relationship Type="http://schemas.openxmlformats.org/officeDocument/2006/relationships/notesMaster" Target="/ppt/notesMasters/notesMaster1.xml" Id="R7da46ba111514a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afc8894fb564bc8" /><Relationship Type="http://schemas.openxmlformats.org/officeDocument/2006/relationships/notesMaster" Target="/ppt/notesMasters/notesMaster1.xml" Id="R3fe1520377624e4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a037dacd2c4597" /><Relationship Type="http://schemas.openxmlformats.org/officeDocument/2006/relationships/notesMaster" Target="/ppt/notesMasters/notesMaster1.xml" Id="Reb3d5b2bdeb242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41d48166f549bb" /><Relationship Type="http://schemas.openxmlformats.org/officeDocument/2006/relationships/notesMaster" Target="/ppt/notesMasters/notesMaster1.xml" Id="Rce4b4d0e6ea74cd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6d8a80eeaa4c09" /><Relationship Type="http://schemas.openxmlformats.org/officeDocument/2006/relationships/notesMaster" Target="/ppt/notesMasters/notesMaster1.xml" Id="R0c4edefdc3f641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5485bc5fa14a75" /><Relationship Type="http://schemas.openxmlformats.org/officeDocument/2006/relationships/notesMaster" Target="/ppt/notesMasters/notesMaster1.xml" Id="R2c00df70b0764b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9400c9191e04736" /><Relationship Type="http://schemas.openxmlformats.org/officeDocument/2006/relationships/notesMaster" Target="/ppt/notesMasters/notesMaster1.xml" Id="R3b28a5e9f2314eb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a4e7bdf606a4e2c" /><Relationship Type="http://schemas.openxmlformats.org/officeDocument/2006/relationships/notesMaster" Target="/ppt/notesMasters/notesMaster1.xml" Id="R5a3ca01e67264e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a7280967cab4826" /><Relationship Type="http://schemas.openxmlformats.org/officeDocument/2006/relationships/notesMaster" Target="/ppt/notesMasters/notesMaster1.xml" Id="R277c9bf0e8a549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6935801cdb34dae" /><Relationship Type="http://schemas.openxmlformats.org/officeDocument/2006/relationships/notesMaster" Target="/ppt/notesMasters/notesMaster1.xml" Id="Rf2c92e6e8d2741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04a6693d60418f" /><Relationship Type="http://schemas.openxmlformats.org/officeDocument/2006/relationships/notesMaster" Target="/ppt/notesMasters/notesMaster1.xml" Id="R8e442964cafc40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Scope: cost_fixed, cost_invest, cost_variable, demand, efficiency, existing_capacity, limit_annual_capacity_factor. User-approved geography is Ontario. Explanations are limited to user observations, not a quantitative causal decomposition.</a:t>
            </a:r>
          </a:p>
          <a:p xmlns:a="http://schemas.openxmlformats.org/drawingml/2006/main">
            <a:r>
              <a:t>{</a:t>
            </a:r>
          </a:p>
          <a:p xmlns:a="http://schemas.openxmlformats.org/drawingml/2006/main">
            <a:r>
              <a:t>  "database_pair": {</a:t>
            </a:r>
          </a:p>
          <a:p xmlns:a="http://schemas.openxmlformats.org/drawingml/2006/main">
            <a:r>
              <a:t>    "candidate": {</a:t>
            </a:r>
          </a:p>
          <a:p xmlns:a="http://schemas.openxmlformats.org/drawingml/2006/main">
            <a:r>
              <a:t>      "path": "C:\\Users\\rashi\\ESM_databases\\canoe-transportation\\outputs\\sqlite\\legacy_reproduction.sqlite",</a:t>
            </a:r>
          </a:p>
          <a:p xmlns:a="http://schemas.openxmlformats.org/drawingml/2006/main">
            <a:r>
              <a:t>      "sha256": "8b5ee4b368ef5d2d3d4d008e393ff3f8b320947cd38c9af85d67b6a6a908c9ca"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"legacy": {</a:t>
            </a:r>
          </a:p>
          <a:p xmlns:a="http://schemas.openxmlformats.org/drawingml/2006/main">
            <a:r>
              <a:t>      "path": "C:\\Users\\rashi\\ESM_databases\\canoe-transportation\\legacy_backend\\canoe_transport_baseline.sqlite",</a:t>
            </a:r>
          </a:p>
          <a:p xmlns:a="http://schemas.openxmlformats.org/drawingml/2006/main">
            <a:r>
              <a:t>      "sha256": "72dcd117b038092a8651305880bce56f158a771280ddcec3a45dbc600fa1a65f"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"build_report": {</a:t>
            </a:r>
          </a:p>
          <a:p xmlns:a="http://schemas.openxmlformats.org/drawingml/2006/main">
            <a:r>
              <a:t>      "path": "C:\\Users\\rashi\\ESM_databases\\canoe-transportation\\outputs\\validation\\transport_comparison_build.json",</a:t>
            </a:r>
          </a:p>
          <a:p xmlns:a="http://schemas.openxmlformats.org/drawingml/2006/main">
            <a:r>
              <a:t>      "sha256": "bae80ac6b1dfc0b6e7f53c37ba1cac933bde9090a6e03c1949c53ebeaf23545d"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"diagnostic_config": {</a:t>
            </a:r>
          </a:p>
          <a:p xmlns:a="http://schemas.openxmlformats.org/drawingml/2006/main">
            <a:r>
              <a:t>      "path": "C:\\Users\\rashi\\ESM_databases\\canoe-transportation\\config\\parameters\\transport_comparison.yaml",</a:t>
            </a:r>
          </a:p>
          <a:p xmlns:a="http://schemas.openxmlformats.org/drawingml/2006/main">
            <a:r>
              <a:t>      "sha256": "6670cda5151e90ed30f530dd735373afbcd3722ff21307eda9755a041e1b04a6"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"assumptions": {</a:t>
            </a:r>
          </a:p>
          <a:p xmlns:a="http://schemas.openxmlformats.org/drawingml/2006/main">
            <a:r>
              <a:t>      "path": "C:\\Users\\rashi\\ESM_databases\\canoe-transportation\\docs\\assumptions.md",</a:t>
            </a:r>
          </a:p>
          <a:p xmlns:a="http://schemas.openxmlformats.org/drawingml/2006/main">
            <a:r>
              <a:t>      "sha256": "2aeb356c8b1a1f5dd8bc0b49656d0fd2f4492f9db52df2791ab1ba5844b05a30"</a:t>
            </a:r>
          </a:p>
          <a:p xmlns:a="http://schemas.openxmlformats.org/drawingml/2006/main">
            <a:r>
              <a:t>    }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"rows_csv_sha256": "54689bf3e4e4121e714259dcf9d745c188d880aa7e32802e91fa9f1eeba28fd6"</a:t>
            </a:r>
          </a:p>
          <a:p xmlns:a="http://schemas.openxmlformats.org/drawingml/2006/main">
            <a:r>
              <a:t>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cost_fixed: Reported driver: rounded aggregation weights.</a:t>
            </a:r>
          </a:p>
          <a:p xmlns:a="http://schemas.openxmlformats.org/drawingml/2006/main">
            <a:r>
              <a:t>Comparison: Paired native bars; $M 2020CAD/GW; retain native units. Equal legacy constituent rates are bridged, never summed.</a:t>
            </a:r>
          </a:p>
          <a:p xmlns:a="http://schemas.openxmlformats.org/drawingml/2006/main">
            <a:r>
              <a:t>Interpretation: Future class-rate bridge maps legacy BEV/PHEV LDV rates and MDV/HDV rates to the corresponding new shared class; constituent rates agree. This is the 2025 illustration; later vintages differ in direction and magnitude.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"LDV chargers",</a:t>
            </a:r>
          </a:p>
          <a:p xmlns:a="http://schemas.openxmlformats.org/drawingml/2006/main">
            <a:r>
              <a:t>    "table": "cost_fixed",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"T_LDV_CHRG_N",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"T_LDV_CHRG_N",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16.204762204209946,</a:t>
            </a:r>
          </a:p>
          <a:p xmlns:a="http://schemas.openxmlformats.org/drawingml/2006/main">
            <a:r>
              <a:t>    "legacy": 16.063927149,</a:t>
            </a:r>
          </a:p>
          <a:p xmlns:a="http://schemas.openxmlformats.org/drawingml/2006/main">
            <a:r>
              <a:t>    "candidate_units": "$M 2020CAD / GW",</a:t>
            </a:r>
          </a:p>
          <a:p xmlns:a="http://schemas.openxmlformats.org/drawingml/2006/main">
            <a:r>
              <a:t>    "legacy_units": "$M 2020CAD / GW",</a:t>
            </a:r>
          </a:p>
          <a:p xmlns:a="http://schemas.openxmlformats.org/drawingml/2006/main">
            <a:r>
              <a:t>    "units": "$M 2020CAD / GW",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"charger class rate bridge; legacy constituent rates must agree",</a:t>
            </a:r>
          </a:p>
          <a:p xmlns:a="http://schemas.openxmlformats.org/drawingml/2006/main">
            <a:r>
              <a:t>    "delta": 0.14083505520994422,</a:t>
            </a:r>
          </a:p>
          <a:p xmlns:a="http://schemas.openxmlformats.org/drawingml/2006/main">
            <a:r>
              <a:t>    "absolute_difference": 0.14083505520994422,</a:t>
            </a:r>
          </a:p>
          <a:p xmlns:a="http://schemas.openxmlformats.org/drawingml/2006/main">
            <a:r>
              <a:t>    "relative_percent": 0.876716222027385,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2025,</a:t>
            </a:r>
          </a:p>
          <a:p xmlns:a="http://schemas.openxmlformats.org/drawingml/2006/main">
            <a:r>
              <a:t>    "legacy_keys":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"period": 2025,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"T_LDV_BEV_CHRG",</a:t>
            </a:r>
          </a:p>
          <a:p xmlns:a="http://schemas.openxmlformats.org/drawingml/2006/main">
            <a:r>
              <a:t>        "vintage": 2025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"period": 2025,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"T_LDV_PHEV_CHRG",</a:t>
            </a:r>
          </a:p>
          <a:p xmlns:a="http://schemas.openxmlformats.org/drawingml/2006/main">
            <a:r>
              <a:t>        "vintage": 2025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2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"MHDV chargers",</a:t>
            </a:r>
          </a:p>
          <a:p xmlns:a="http://schemas.openxmlformats.org/drawingml/2006/main">
            <a:r>
              <a:t>    "table": "cost_fixed",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"T_MHDV_CHRG_N",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"T_MHDV_CHRG_N",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12.064830702390768,</a:t>
            </a:r>
          </a:p>
          <a:p xmlns:a="http://schemas.openxmlformats.org/drawingml/2006/main">
            <a:r>
              <a:t>    "legacy": 11.989424613,</a:t>
            </a:r>
          </a:p>
          <a:p xmlns:a="http://schemas.openxmlformats.org/drawingml/2006/main">
            <a:r>
              <a:t>    "candidate_units": "$M 2020CAD / GW",</a:t>
            </a:r>
          </a:p>
          <a:p xmlns:a="http://schemas.openxmlformats.org/drawingml/2006/main">
            <a:r>
              <a:t>    "legacy_units": "$M 2020CAD / GW",</a:t>
            </a:r>
          </a:p>
          <a:p xmlns:a="http://schemas.openxmlformats.org/drawingml/2006/main">
            <a:r>
              <a:t>    "units": "$M 2020CAD / GW",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"charger class rate bridge; legacy constituent rates must agree",</a:t>
            </a:r>
          </a:p>
          <a:p xmlns:a="http://schemas.openxmlformats.org/drawingml/2006/main">
            <a:r>
              <a:t>    "delta": 0.07540608939076776,</a:t>
            </a:r>
          </a:p>
          <a:p xmlns:a="http://schemas.openxmlformats.org/drawingml/2006/main">
            <a:r>
              <a:t>    "absolute_difference": 0.07540608939076776,</a:t>
            </a:r>
          </a:p>
          <a:p xmlns:a="http://schemas.openxmlformats.org/drawingml/2006/main">
            <a:r>
              <a:t>    "relative_percent": 0.6289383504610035,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2025,</a:t>
            </a:r>
          </a:p>
          <a:p xmlns:a="http://schemas.openxmlformats.org/drawingml/2006/main">
            <a:r>
              <a:t>    "legacy_keys":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"period": 2025,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"T_MDV_CHRG",</a:t>
            </a:r>
          </a:p>
          <a:p xmlns:a="http://schemas.openxmlformats.org/drawingml/2006/main">
            <a:r>
              <a:t>        "vintage": 2025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"period": 2025,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"T_HDV_CHRG",</a:t>
            </a:r>
          </a:p>
          <a:p xmlns:a="http://schemas.openxmlformats.org/drawingml/2006/main">
            <a:r>
              <a:t>        "vintage": 2025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2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cost_invest: Reported driver: OEO replaced by CIMS capital costs normalized to service-output units; aircraft service output is derived from FAA operational data.</a:t>
            </a:r>
          </a:p>
          <a:p xmlns:a="http://schemas.openxmlformats.org/drawingml/2006/main">
            <a:r>
              <a:t>Comparison: Use separate freight/passenger panels for native-unit bars. A explicitly labeled percentage-change chart is an alternative; do not put unlike native units on a shared axis.</a:t>
            </a:r>
          </a:p>
          <a:p xmlns:a="http://schemas.openxmlformats.org/drawingml/2006/main">
            <a:r>
              <a:t>Interpretation: 2025 technology vintages. Distinct examples, no class means or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MDO",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"T_HDV_WTF_MDO_N",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"T_HDV_WTF_MDO_N",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159.71497923605244,</a:t>
            </a:r>
          </a:p>
          <a:p xmlns:a="http://schemas.openxmlformats.org/drawingml/2006/main">
            <a:r>
              <a:t>    "legacy": 21.111052987,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138.60392624905245,</a:t>
            </a:r>
          </a:p>
          <a:p xmlns:a="http://schemas.openxmlformats.org/drawingml/2006/main">
            <a:r>
              <a:t>    "absolute_difference": 138.60392624905245,</a:t>
            </a:r>
          </a:p>
          <a:p xmlns:a="http://schemas.openxmlformats.org/drawingml/2006/main">
            <a:r>
              <a:t>    "relative_percent": 656.5467214468341,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"Rail freight, diesel",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"T_HDV_RF_DSL_N",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"T_HDV_RF_DSL_N",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39.10602039451965,</a:t>
            </a:r>
          </a:p>
          <a:p xmlns:a="http://schemas.openxmlformats.org/drawingml/2006/main">
            <a:r>
              <a:t>    "legacy": 27.214521015,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11.891499379519654,</a:t>
            </a:r>
          </a:p>
          <a:p xmlns:a="http://schemas.openxmlformats.org/drawingml/2006/main">
            <a:r>
              <a:t>    "absolute_difference": 11.891499379519654,</a:t>
            </a:r>
          </a:p>
          <a:p xmlns:a="http://schemas.openxmlformats.org/drawingml/2006/main">
            <a:r>
              <a:t>    "relative_percent": 43.69542044471532,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"Air freight, jet fuel",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"T_HDV_AJF_JFL_N",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"T_HDV_AJF_JFL_N",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6132.623678803439,</a:t>
            </a:r>
          </a:p>
          <a:p xmlns:a="http://schemas.openxmlformats.org/drawingml/2006/main">
            <a:r>
              <a:t>    "legacy": 2722.833566153,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3409.7901126504394,</a:t>
            </a:r>
          </a:p>
          <a:p xmlns:a="http://schemas.openxmlformats.org/drawingml/2006/main">
            <a:r>
              <a:t>    "absolute_difference": 3409.7901126504394,</a:t>
            </a:r>
          </a:p>
          <a:p xmlns:a="http://schemas.openxmlformats.org/drawingml/2006/main">
            <a:r>
              <a:t>    "relative_percent": 125.22947252585905,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rail, diesel",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"T_HDV_RICP_DSL_N",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"T_HDV_RICP_DSL_N",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1885.6878005906885,</a:t>
            </a:r>
          </a:p>
          <a:p xmlns:a="http://schemas.openxmlformats.org/drawingml/2006/main">
            <a:r>
              <a:t>    "legacy": 540.223281,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1345.4645195906885,</a:t>
            </a:r>
          </a:p>
          <a:p xmlns:a="http://schemas.openxmlformats.org/drawingml/2006/main">
            <a:r>
              <a:t>    "absolute_difference": 1345.4645195906885,</a:t>
            </a:r>
          </a:p>
          <a:p xmlns:a="http://schemas.openxmlformats.org/drawingml/2006/main">
            <a:r>
              <a:t>    "relative_percent": 249.05711525429214,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air, jet fuel",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"T_HDV_AJP_JFL_N",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"T_HDV_AJP_JFL_N",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1032.1218289023984,</a:t>
            </a:r>
          </a:p>
          <a:p xmlns:a="http://schemas.openxmlformats.org/drawingml/2006/main">
            <a:r>
              <a:t>    "legacy": 676.775622209,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355.34620669339847,</a:t>
            </a:r>
          </a:p>
          <a:p xmlns:a="http://schemas.openxmlformats.org/drawingml/2006/main">
            <a:r>
              <a:t>    "absolute_difference": 355.34620669339847,</a:t>
            </a:r>
          </a:p>
          <a:p xmlns:a="http://schemas.openxmlformats.org/drawingml/2006/main">
            <a:r>
              <a:t>    "relative_percent": 52.505763362685286,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cost_invest: Reported driver: ATB retail prices divided by the 1.5 markup should largely preserve the cost basis, leaving aggregation weights as the expected main source of differences. The larger regional/long-haul aggregation change is a hypothesis for heavy trucks. ATB lacks gasoline MDV inputs present in legacy Islam et al. 2023 evidence.</a:t>
            </a:r>
          </a:p>
          <a:p xmlns:a="http://schemas.openxmlformats.org/drawingml/2006/main">
            <a:r>
              <a:t>Comparison: Paired native bars; $M 2020CAD/thousand vehicles. Select car, light truck, diesel MDV and diesel or BEV HDV; retain gasoline MDV in the table.</a:t>
            </a:r>
          </a:p>
          <a:p xmlns:a="http://schemas.openxmlformats.org/drawingml/2006/main">
            <a:r>
              <a:t>Interpretation: The heavy-truck explanation is a hypothesis, not a verified quantitative attribution. Gasoline MDV has a new SQLite row; it is not a missing-output example. New gasoline and diesel MDV investment costs are identical: 41.288421469437736. Keep missing source input coverage distinct from output coverage.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"Car, gasoline",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18.099727473265236,</a:t>
            </a:r>
          </a:p>
          <a:p xmlns:a="http://schemas.openxmlformats.org/drawingml/2006/main">
            <a:r>
              <a:t>    "legacy": 19.336826199,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-1.2370987257347643,</a:t>
            </a:r>
          </a:p>
          <a:p xmlns:a="http://schemas.openxmlformats.org/drawingml/2006/main">
            <a:r>
              <a:t>    "absolute_difference": 1.2370987257347643,</a:t>
            </a:r>
          </a:p>
          <a:p xmlns:a="http://schemas.openxmlformats.org/drawingml/2006/main">
            <a:r>
              <a:t>    "relative_percent": -6.397630681495914,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truck, gasoline",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"T_LDV_LTP_GSL_N",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"T_LDV_LTP_GSL_N",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22.976303566477313,</a:t>
            </a:r>
          </a:p>
          <a:p xmlns:a="http://schemas.openxmlformats.org/drawingml/2006/main">
            <a:r>
              <a:t>    "legacy": 24.877318529,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-1.9010149625226873,</a:t>
            </a:r>
          </a:p>
          <a:p xmlns:a="http://schemas.openxmlformats.org/drawingml/2006/main">
            <a:r>
              <a:t>    "absolute_difference": 1.9010149625226873,</a:t>
            </a:r>
          </a:p>
          <a:p xmlns:a="http://schemas.openxmlformats.org/drawingml/2006/main">
            <a:r>
              <a:t>    "relative_percent": -7.641558957837981,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truck, diesel",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"T_MDV_T_DSL_N",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41.288421469437736,</a:t>
            </a:r>
          </a:p>
          <a:p xmlns:a="http://schemas.openxmlformats.org/drawingml/2006/main">
            <a:r>
              <a:t>    "legacy": 54.668782164,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-13.380360694562263,</a:t>
            </a:r>
          </a:p>
          <a:p xmlns:a="http://schemas.openxmlformats.org/drawingml/2006/main">
            <a:r>
              <a:t>    "absolute_difference": 13.380360694562263,</a:t>
            </a:r>
          </a:p>
          <a:p xmlns:a="http://schemas.openxmlformats.org/drawingml/2006/main">
            <a:r>
              <a:t>    "relative_percent": -24.475322414212073,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truck, gasoline",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"T_MDV_T_GSL_N",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"T_MDV_T_GSL_N",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41.288421469437736,</a:t>
            </a:r>
          </a:p>
          <a:p xmlns:a="http://schemas.openxmlformats.org/drawingml/2006/main">
            <a:r>
              <a:t>    "legacy": 55.45183589,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-14.163414420562262,</a:t>
            </a:r>
          </a:p>
          <a:p xmlns:a="http://schemas.openxmlformats.org/drawingml/2006/main">
            <a:r>
              <a:t>    "absolute_difference": 14.163414420562262,</a:t>
            </a:r>
          </a:p>
          <a:p xmlns:a="http://schemas.openxmlformats.org/drawingml/2006/main">
            <a:r>
              <a:t>    "relative_percent": -25.54183138076488,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truck, diesel",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110.99023673741151,</a:t>
            </a:r>
          </a:p>
          <a:p xmlns:a="http://schemas.openxmlformats.org/drawingml/2006/main">
            <a:r>
              <a:t>    "legacy": 150.78258797,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-39.7923512325885,</a:t>
            </a:r>
          </a:p>
          <a:p xmlns:a="http://schemas.openxmlformats.org/drawingml/2006/main">
            <a:r>
              <a:t>    "absolute_difference": 39.7923512325885,</a:t>
            </a:r>
          </a:p>
          <a:p xmlns:a="http://schemas.openxmlformats.org/drawingml/2006/main">
            <a:r>
              <a:t>    "relative_percent": -26.390547985889235,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truck, BEV",</a:t>
            </a:r>
          </a:p>
          <a:p xmlns:a="http://schemas.openxmlformats.org/drawingml/2006/main">
            <a:r>
              <a:t>    "table": "cost_invest",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"T_HDV_T_BEV_N",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"T_HDV_T_BEV_N",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342.1920178229556,</a:t>
            </a:r>
          </a:p>
          <a:p xmlns:a="http://schemas.openxmlformats.org/drawingml/2006/main">
            <a:r>
              <a:t>    "legacy": 479.89513156,</a:t>
            </a:r>
          </a:p>
          <a:p xmlns:a="http://schemas.openxmlformats.org/drawingml/2006/main">
            <a:r>
              <a:t>    "candidate_units": "$M 2020CAD / k vehicles",</a:t>
            </a:r>
          </a:p>
          <a:p xmlns:a="http://schemas.openxmlformats.org/drawingml/2006/main">
            <a:r>
              <a:t>    "legacy_units": "$M 2020CAD / k vehicles",</a:t>
            </a:r>
          </a:p>
          <a:p xmlns:a="http://schemas.openxmlformats.org/drawingml/2006/main">
            <a:r>
              <a:t>    "units": "$M 2020CAD / k vehicles",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-137.70311373704436,</a:t>
            </a:r>
          </a:p>
          <a:p xmlns:a="http://schemas.openxmlformats.org/drawingml/2006/main">
            <a:r>
              <a:t>    "absolute_difference": 137.70311373704436,</a:t>
            </a:r>
          </a:p>
          <a:p xmlns:a="http://schemas.openxmlformats.org/drawingml/2006/main">
            <a:r>
              <a:t>    "relative_percent": -28.694417734435326,</a:t>
            </a:r>
          </a:p>
          <a:p xmlns:a="http://schemas.openxmlformats.org/drawingml/2006/main">
            <a:r>
              <a:t>    "status": "different"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cost_variable: Reported method: off-road operating costs apply OEO capital-to-operating relationships to revised capital costs; aircraft use FAA-derived operating costs.</a:t>
            </a:r>
          </a:p>
          <a:p xmlns:a="http://schemas.openxmlformats.org/drawingml/2006/main">
            <a:r>
              <a:t>Comparison: Native bars with separate unit panels and, if needed, separate scales by mode so that marine legacy values remain visible. Avoid one enormous percentage axis driven by marine.</a:t>
            </a:r>
          </a:p>
          <a:p xmlns:a="http://schemas.openxmlformats.org/drawingml/2006/main">
            <a:r>
              <a:t>Interpretation: Do not claim the same final capex/opex ratio alone explains marine magnitudes. For marine MDO, capex changes by +656.55% and opex by +22238.19%. Candidate opex/capex=0.05, legacy=0.001693; the outputs do not establish a common ratio. The requested driver can be described as a reported method, without adding an unrequested root cause or a full quantitative decomposition.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MDO",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"T_HDV_WTF_MDO_N",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"T_HDV_WTF_MDO_N",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7.9857489618026225,</a:t>
            </a:r>
          </a:p>
          <a:p xmlns:a="http://schemas.openxmlformats.org/drawingml/2006/main">
            <a:r>
              <a:t>    "legacy": 0.035749317,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7.949999644802623,</a:t>
            </a:r>
          </a:p>
          <a:p xmlns:a="http://schemas.openxmlformats.org/drawingml/2006/main">
            <a:r>
              <a:t>    "absolute_difference": 7.949999644802623,</a:t>
            </a:r>
          </a:p>
          <a:p xmlns:a="http://schemas.openxmlformats.org/drawingml/2006/main">
            <a:r>
              <a:t>    "relative_percent": 22238.186102415948,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"Rail freight,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"T_HDV_RF_DSL_N",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"T_HDV_RF_DSL_N",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2.3463612236711793,</a:t>
            </a:r>
          </a:p>
          <a:p xmlns:a="http://schemas.openxmlformats.org/drawingml/2006/main">
            <a:r>
              <a:t>    "legacy": 1.632871261,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0.7134899626711793,</a:t>
            </a:r>
          </a:p>
          <a:p xmlns:a="http://schemas.openxmlformats.org/drawingml/2006/main">
            <a:r>
              <a:t>    "absolute_difference": 0.7134899626711793,</a:t>
            </a:r>
          </a:p>
          <a:p xmlns:a="http://schemas.openxmlformats.org/drawingml/2006/main">
            <a:r>
              <a:t>    "relative_percent": 43.69542043591514,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"Air freight, jet fuel",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"T_HDV_AJF_JFL_N",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"T_HDV_AJF_JFL_N",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123.92235600905248,</a:t>
            </a:r>
          </a:p>
          <a:p xmlns:a="http://schemas.openxmlformats.org/drawingml/2006/main">
            <a:r>
              <a:t>    "legacy": 24.089881813,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99.83247419605247,</a:t>
            </a:r>
          </a:p>
          <a:p xmlns:a="http://schemas.openxmlformats.org/drawingml/2006/main">
            <a:r>
              <a:t>    "absolute_difference": 99.83247419605247,</a:t>
            </a:r>
          </a:p>
          <a:p xmlns:a="http://schemas.openxmlformats.org/drawingml/2006/main">
            <a:r>
              <a:t>    "relative_percent": 414.41662093243775,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rail,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"T_HDV_RICP_DSL_N",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"T_HDV_RICP_DSL_N",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188.56878005906887,</a:t>
            </a:r>
          </a:p>
          <a:p xmlns:a="http://schemas.openxmlformats.org/drawingml/2006/main">
            <a:r>
              <a:t>    "legacy": 54.0223281,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134.54645195906886,</a:t>
            </a:r>
          </a:p>
          <a:p xmlns:a="http://schemas.openxmlformats.org/drawingml/2006/main">
            <a:r>
              <a:t>    "absolute_difference": 134.54645195906886,</a:t>
            </a:r>
          </a:p>
          <a:p xmlns:a="http://schemas.openxmlformats.org/drawingml/2006/main">
            <a:r>
              <a:t>    "relative_percent": 249.05711525429214,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air, jet fuel",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"T_HDV_AJP_JFL_N",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"T_HDV_AJP_JFL_N",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13.758879463241271,</a:t>
            </a:r>
          </a:p>
          <a:p xmlns:a="http://schemas.openxmlformats.org/drawingml/2006/main">
            <a:r>
              <a:t>    "legacy": 6.200477247,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7.558402216241271,</a:t>
            </a:r>
          </a:p>
          <a:p xmlns:a="http://schemas.openxmlformats.org/drawingml/2006/main">
            <a:r>
              <a:t>    "absolute_difference": 7.558402216241271,</a:t>
            </a:r>
          </a:p>
          <a:p xmlns:a="http://schemas.openxmlformats.org/drawingml/2006/main">
            <a:r>
              <a:t>    "relative_percent": 121.90032984796906,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cost_variable: Reported driver: formula-derived costs replace costs read directly from the BEAN model.</a:t>
            </a:r>
          </a:p>
          <a:p xmlns:a="http://schemas.openxmlformats.org/drawingml/2006/main">
            <a:r>
              <a:t>Comparison: Separate passenger and freight panels, each with paired native bars. All rows use vintage=period=2025.</a:t>
            </a:r>
          </a:p>
          <a:p xmlns:a="http://schemas.openxmlformats.org/drawingml/2006/main">
            <a:r>
              <a:t>Interpretation: These are examples of the requested road group, not powertrain- or fleet-weighted class averages.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"Car, gasoline",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53.00414575170667,</a:t>
            </a:r>
          </a:p>
          <a:p xmlns:a="http://schemas.openxmlformats.org/drawingml/2006/main">
            <a:r>
              <a:t>    "legacy": 27.476041225,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25.528104526706674,</a:t>
            </a:r>
          </a:p>
          <a:p xmlns:a="http://schemas.openxmlformats.org/drawingml/2006/main">
            <a:r>
              <a:t>    "absolute_difference": 25.528104526706674,</a:t>
            </a:r>
          </a:p>
          <a:p xmlns:a="http://schemas.openxmlformats.org/drawingml/2006/main">
            <a:r>
              <a:t>    "relative_percent": 92.91041718003783,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truck, gasoline",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"T_LDV_LTP_GSL_N",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"T_LDV_LTP_GSL_N",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49.06726369156515,</a:t>
            </a:r>
          </a:p>
          <a:p xmlns:a="http://schemas.openxmlformats.org/drawingml/2006/main">
            <a:r>
              <a:t>    "legacy": 26.339524351,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22.72773934056515,</a:t>
            </a:r>
          </a:p>
          <a:p xmlns:a="http://schemas.openxmlformats.org/drawingml/2006/main">
            <a:r>
              <a:t>    "absolute_difference": 22.72773934056515,</a:t>
            </a:r>
          </a:p>
          <a:p xmlns:a="http://schemas.openxmlformats.org/drawingml/2006/main">
            <a:r>
              <a:t>    "relative_percent": 86.28758453530035,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"School bus,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"T_HDV_BS_DSL_N",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"T_HDV_BS_DSL_N",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1.3143676267937874,</a:t>
            </a:r>
          </a:p>
          <a:p xmlns:a="http://schemas.openxmlformats.org/drawingml/2006/main">
            <a:r>
              <a:t>    "legacy": 9.760119627,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-8.445752000206213,</a:t>
            </a:r>
          </a:p>
          <a:p xmlns:a="http://schemas.openxmlformats.org/drawingml/2006/main">
            <a:r>
              <a:t>    "absolute_difference": 8.445752000206213,</a:t>
            </a:r>
          </a:p>
          <a:p xmlns:a="http://schemas.openxmlformats.org/drawingml/2006/main">
            <a:r>
              <a:t>    "relative_percent": -86.53328363765364,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"Transit bus,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7.4729038428853425,</a:t>
            </a:r>
          </a:p>
          <a:p xmlns:a="http://schemas.openxmlformats.org/drawingml/2006/main">
            <a:r>
              <a:t>    "legacy": 10.439820099,</a:t>
            </a:r>
          </a:p>
          <a:p xmlns:a="http://schemas.openxmlformats.org/drawingml/2006/main">
            <a:r>
              <a:t>    "candidate_units": "$M 2020CAD / bn passenger-km",</a:t>
            </a:r>
          </a:p>
          <a:p xmlns:a="http://schemas.openxmlformats.org/drawingml/2006/main">
            <a:r>
              <a:t>    "legacy_units": "$M 2020CAD / bn passenger-km",</a:t>
            </a:r>
          </a:p>
          <a:p xmlns:a="http://schemas.openxmlformats.org/drawingml/2006/main">
            <a:r>
              <a:t>    "units": "$M 2020CAD / 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-2.966916256114658,</a:t>
            </a:r>
          </a:p>
          <a:p xmlns:a="http://schemas.openxmlformats.org/drawingml/2006/main">
            <a:r>
              <a:t>    "absolute_difference": 2.966916256114658,</a:t>
            </a:r>
          </a:p>
          <a:p xmlns:a="http://schemas.openxmlformats.org/drawingml/2006/main">
            <a:r>
              <a:t>    "relative_percent": -28.419227802583016,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"T_MDV_T_DSL_N",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152.447328496631,</a:t>
            </a:r>
          </a:p>
          <a:p xmlns:a="http://schemas.openxmlformats.org/drawingml/2006/main">
            <a:r>
              <a:t>    "legacy": 209.031560942,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-56.584232445369,</a:t>
            </a:r>
          </a:p>
          <a:p xmlns:a="http://schemas.openxmlformats.org/drawingml/2006/main">
            <a:r>
              <a:t>    "absolute_difference": 56.584232445369,</a:t>
            </a:r>
          </a:p>
          <a:p xmlns:a="http://schemas.openxmlformats.org/drawingml/2006/main">
            <a:r>
              <a:t>    "relative_percent": -27.069707651022817,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truck, diesel",</a:t>
            </a:r>
          </a:p>
          <a:p xmlns:a="http://schemas.openxmlformats.org/drawingml/2006/main">
            <a:r>
              <a:t>    "table": "cost_variable",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"T_HDV_T_DSL_N",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14.327485393495275,</a:t>
            </a:r>
          </a:p>
          <a:p xmlns:a="http://schemas.openxmlformats.org/drawingml/2006/main">
            <a:r>
              <a:t>    "legacy": 17.210813999,</a:t>
            </a:r>
          </a:p>
          <a:p xmlns:a="http://schemas.openxmlformats.org/drawingml/2006/main">
            <a:r>
              <a:t>    "candidate_units": "$M 2020CAD / bn tonne-km",</a:t>
            </a:r>
          </a:p>
          <a:p xmlns:a="http://schemas.openxmlformats.org/drawingml/2006/main">
            <a:r>
              <a:t>    "legacy_units": "$M 2020CAD / bn tonne-km",</a:t>
            </a:r>
          </a:p>
          <a:p xmlns:a="http://schemas.openxmlformats.org/drawingml/2006/main">
            <a:r>
              <a:t>    "units": "$M 2020CAD / 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-2.8833286055047243,</a:t>
            </a:r>
          </a:p>
          <a:p xmlns:a="http://schemas.openxmlformats.org/drawingml/2006/main">
            <a:r>
              <a:t>    "absolute_difference": 2.8833286055047243,</a:t>
            </a:r>
          </a:p>
          <a:p xmlns:a="http://schemas.openxmlformats.org/drawingml/2006/main">
            <a:r>
              <a:t>    "relative_percent": -16.75300543990688,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demand: Reported driver: the large change in marine energy use between CEUD editions.</a:t>
            </a:r>
          </a:p>
          <a:p xmlns:a="http://schemas.openxmlformats.org/drawingml/2006/main">
            <a:r>
              <a:t>Comparison: Paired native bars in bn tonne-km.</a:t>
            </a:r>
          </a:p>
          <a:p xmlns:a="http://schemas.openxmlformats.org/drawingml/2006/main">
            <a:r>
              <a:t>Interpretation: 2025 model-period demand; labels must say model period. Snapshot maps this model period to the 2030 demand input year.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demand: Reported driver: future demand is indexed to 2023 rather than the legacy 2019 demand baseline.</a:t>
            </a:r>
          </a:p>
          <a:p xmlns:a="http://schemas.openxmlformats.org/drawingml/2006/main">
            <a:r>
              <a:t>Comparison: Choose a small explicit set (e.g. cars, passenger light trucks, school buses; heavy trucks, rail freight, medium trucks) and separate passenger/freight panels. Unselected modes need no added driver.</a:t>
            </a:r>
          </a:p>
          <a:p xmlns:a="http://schemas.openxmlformats.org/drawingml/2006/main">
            <a:r>
              <a:t>Interpretation: Different changes across modes do not imply different named drivers. Do not label 2025 modeled demand as an observed 2025 measurement.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"T_D_tkm_hdv_wt",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8.639266635416043,</a:t>
            </a:r>
          </a:p>
          <a:p xmlns:a="http://schemas.openxmlformats.org/drawingml/2006/main">
            <a:r>
              <a:t>    "legacy": 57.560754858,</a:t>
            </a:r>
          </a:p>
          <a:p xmlns:a="http://schemas.openxmlformats.org/drawingml/2006/main">
            <a:r>
              <a:t>    "candidate_units": "bn tonne-km",</a:t>
            </a:r>
          </a:p>
          <a:p xmlns:a="http://schemas.openxmlformats.org/drawingml/2006/main">
            <a:r>
              <a:t>    "legacy_units": "bn tonne-km",</a:t>
            </a:r>
          </a:p>
          <a:p xmlns:a="http://schemas.openxmlformats.org/drawingml/2006/main">
            <a:r>
              <a:t>    "units": "bn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-48.92148822258396,</a:t>
            </a:r>
          </a:p>
          <a:p xmlns:a="http://schemas.openxmlformats.org/drawingml/2006/main">
            <a:r>
              <a:t>    "absolute_difference": 48.92148822258396,</a:t>
            </a:r>
          </a:p>
          <a:p xmlns:a="http://schemas.openxmlformats.org/drawingml/2006/main">
            <a:r>
              <a:t>    "relative_percent": -84.99104701331878,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"T_D_tkm_hdv_wt",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"Intercity bus",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"T_D_pkm_hdv_bic",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0.819704110801976,</a:t>
            </a:r>
          </a:p>
          <a:p xmlns:a="http://schemas.openxmlformats.org/drawingml/2006/main">
            <a:r>
              <a:t>    "legacy": 1.976604143,</a:t>
            </a:r>
          </a:p>
          <a:p xmlns:a="http://schemas.openxmlformats.org/drawingml/2006/main">
            <a:r>
              <a:t>    "candidate_units": "bn passenger-km",</a:t>
            </a:r>
          </a:p>
          <a:p xmlns:a="http://schemas.openxmlformats.org/drawingml/2006/main">
            <a:r>
              <a:t>    "legacy_units": "bn passenger-km",</a:t>
            </a:r>
          </a:p>
          <a:p xmlns:a="http://schemas.openxmlformats.org/drawingml/2006/main">
            <a:r>
              <a:t>    "units": "bn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-1.156900032198024,</a:t>
            </a:r>
          </a:p>
          <a:p xmlns:a="http://schemas.openxmlformats.org/drawingml/2006/main">
            <a:r>
              <a:t>    "absolute_difference": 1.156900032198024,</a:t>
            </a:r>
          </a:p>
          <a:p xmlns:a="http://schemas.openxmlformats.org/drawingml/2006/main">
            <a:r>
              <a:t>    "relative_percent": -58.52967759351823,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"T_D_pkm_hdv_bic",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"Cars",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"T_D_pkm_ldv_c",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93.64133663017184,</a:t>
            </a:r>
          </a:p>
          <a:p xmlns:a="http://schemas.openxmlformats.org/drawingml/2006/main">
            <a:r>
              <a:t>    "legacy": 131.348452969,</a:t>
            </a:r>
          </a:p>
          <a:p xmlns:a="http://schemas.openxmlformats.org/drawingml/2006/main">
            <a:r>
              <a:t>    "candidate_units": "bn passenger-km",</a:t>
            </a:r>
          </a:p>
          <a:p xmlns:a="http://schemas.openxmlformats.org/drawingml/2006/main">
            <a:r>
              <a:t>    "legacy_units": "bn passenger-km",</a:t>
            </a:r>
          </a:p>
          <a:p xmlns:a="http://schemas.openxmlformats.org/drawingml/2006/main">
            <a:r>
              <a:t>    "units": "bn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-37.70711633882816,</a:t>
            </a:r>
          </a:p>
          <a:p xmlns:a="http://schemas.openxmlformats.org/drawingml/2006/main">
            <a:r>
              <a:t>    "absolute_difference": 37.70711633882816,</a:t>
            </a:r>
          </a:p>
          <a:p xmlns:a="http://schemas.openxmlformats.org/drawingml/2006/main">
            <a:r>
              <a:t>    "relative_percent": -28.707697339783323,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"T_D_pkm_ldv_c",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trucks",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"T_D_pkm_ldv_t",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135.5185829981731,</a:t>
            </a:r>
          </a:p>
          <a:p xmlns:a="http://schemas.openxmlformats.org/drawingml/2006/main">
            <a:r>
              <a:t>    "legacy": 133.044195247,</a:t>
            </a:r>
          </a:p>
          <a:p xmlns:a="http://schemas.openxmlformats.org/drawingml/2006/main">
            <a:r>
              <a:t>    "candidate_units": "bn passenger-km",</a:t>
            </a:r>
          </a:p>
          <a:p xmlns:a="http://schemas.openxmlformats.org/drawingml/2006/main">
            <a:r>
              <a:t>    "legacy_units": "bn passenger-km",</a:t>
            </a:r>
          </a:p>
          <a:p xmlns:a="http://schemas.openxmlformats.org/drawingml/2006/main">
            <a:r>
              <a:t>    "units": "bn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2.474387751173083,</a:t>
            </a:r>
          </a:p>
          <a:p xmlns:a="http://schemas.openxmlformats.org/drawingml/2006/main">
            <a:r>
              <a:t>    "absolute_difference": 2.474387751173083,</a:t>
            </a:r>
          </a:p>
          <a:p xmlns:a="http://schemas.openxmlformats.org/drawingml/2006/main">
            <a:r>
              <a:t>    "relative_percent": 1.859823907821997,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"T_D_pkm_ldv_t",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trucks",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"T_D_tkm_hdv_t",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103.19632643574776,</a:t>
            </a:r>
          </a:p>
          <a:p xmlns:a="http://schemas.openxmlformats.org/drawingml/2006/main">
            <a:r>
              <a:t>    "legacy": 98.864968731,</a:t>
            </a:r>
          </a:p>
          <a:p xmlns:a="http://schemas.openxmlformats.org/drawingml/2006/main">
            <a:r>
              <a:t>    "candidate_units": "bn tonne-km",</a:t>
            </a:r>
          </a:p>
          <a:p xmlns:a="http://schemas.openxmlformats.org/drawingml/2006/main">
            <a:r>
              <a:t>    "legacy_units": "bn tonne-km",</a:t>
            </a:r>
          </a:p>
          <a:p xmlns:a="http://schemas.openxmlformats.org/drawingml/2006/main">
            <a:r>
              <a:t>    "units": "bn tonne-km",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4.331357704747759,</a:t>
            </a:r>
          </a:p>
          <a:p xmlns:a="http://schemas.openxmlformats.org/drawingml/2006/main">
            <a:r>
              <a:t>    "absolute_difference": 4.331357704747759,</a:t>
            </a:r>
          </a:p>
          <a:p xmlns:a="http://schemas.openxmlformats.org/drawingml/2006/main">
            <a:r>
              <a:t>    "relative_percent": 4.381084382409381,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"T_D_tkm_hdv_t",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air",</a:t>
            </a:r>
          </a:p>
          <a:p xmlns:a="http://schemas.openxmlformats.org/drawingml/2006/main">
            <a:r>
              <a:t>    "table": "demand",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"commodity": "T_D_pkm_hdv_aj",</a:t>
            </a:r>
          </a:p>
          <a:p xmlns:a="http://schemas.openxmlformats.org/drawingml/2006/main">
            <a:r>
              <a:t>      "period": 2025,</a:t>
            </a:r>
          </a:p>
          <a:p xmlns:a="http://schemas.openxmlformats.org/drawingml/2006/main">
            <a:r>
              <a:t>      "region": "ON"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82.69772409009096,</a:t>
            </a:r>
          </a:p>
          <a:p xmlns:a="http://schemas.openxmlformats.org/drawingml/2006/main">
            <a:r>
              <a:t>    "legacy": 76.344121324,</a:t>
            </a:r>
          </a:p>
          <a:p xmlns:a="http://schemas.openxmlformats.org/drawingml/2006/main">
            <a:r>
              <a:t>    "candidate_units": "bn passenger-km",</a:t>
            </a:r>
          </a:p>
          <a:p xmlns:a="http://schemas.openxmlformats.org/drawingml/2006/main">
            <a:r>
              <a:t>    "legacy_units": "bn passenger-km",</a:t>
            </a:r>
          </a:p>
          <a:p xmlns:a="http://schemas.openxmlformats.org/drawingml/2006/main">
            <a:r>
              <a:t>    "units": "bn passenger-km",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6.353602766090958,</a:t>
            </a:r>
          </a:p>
          <a:p xmlns:a="http://schemas.openxmlformats.org/drawingml/2006/main">
            <a:r>
              <a:t>    "absolute_difference": 6.353602766090958,</a:t>
            </a:r>
          </a:p>
          <a:p xmlns:a="http://schemas.openxmlformats.org/drawingml/2006/main">
            <a:r>
              <a:t>    "relative_percent": 8.322320901601104,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"commodity": "T_D_pkm_hdv_aj",</a:t>
            </a:r>
          </a:p>
          <a:p xmlns:a="http://schemas.openxmlformats.org/drawingml/2006/main">
            <a:r>
              <a:t>    "period": 2025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efficiency: Reported bus driver: CEUD intensities now backcast ATB values for existing stocks, replacing GREET gasoline/diesel and CNG/diesel scaling with ATB-indexed improvement. Reported marine driver: CEUD intensities and REGEN improvement assumptions replace regional-report values.</a:t>
            </a:r>
          </a:p>
          <a:p xmlns:a="http://schemas.openxmlformats.org/drawingml/2006/main">
            <a:r>
              <a:t>Comparison: Two panels: existing bus vintage 2020 in bn passenger-km/PJ, new marine vintage 2025 in bn tonne-km/PJ. Larger values mean more service output per unit energy.</a:t>
            </a:r>
          </a:p>
          <a:p xmlns:a="http://schemas.openxmlformats.org/drawingml/2006/main">
            <a:r>
              <a:t>Interpretation: The panels intentionally use different vintage slices to illustrate the two listed observations; show both years in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"School bus, diesel (2020)",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"T_HDV_BS_DSL_EX",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"T_dsl",</a:t>
            </a:r>
          </a:p>
          <a:p xmlns:a="http://schemas.openxmlformats.org/drawingml/2006/main">
            <a:r>
              <a:t>      "output_comm": "T_D_pkm_hdv_bs",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"T_HDV_BS_DSL_EX",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3.5629511057368903,</a:t>
            </a:r>
          </a:p>
          <a:p xmlns:a="http://schemas.openxmlformats.org/drawingml/2006/main">
            <a:r>
              <a:t>    "legacy": 2.234966498,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"legacy_units":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1.3279846077368904,</a:t>
            </a:r>
          </a:p>
          <a:p xmlns:a="http://schemas.openxmlformats.org/drawingml/2006/main">
            <a:r>
              <a:t>    "absolute_difference": 1.3279846077368904,</a:t>
            </a:r>
          </a:p>
          <a:p xmlns:a="http://schemas.openxmlformats.org/drawingml/2006/main">
            <a:r>
              <a:t>    "relative_percent": 59.418546493885316,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"T_dsl",</a:t>
            </a:r>
          </a:p>
          <a:p xmlns:a="http://schemas.openxmlformats.org/drawingml/2006/main">
            <a:r>
              <a:t>    "output_comm": "T_D_pkm_hdv_bs"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"School bus, gasoline (2020)",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"T_HDV_BS_GSL_EX",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"T_gsl",</a:t>
            </a:r>
          </a:p>
          <a:p xmlns:a="http://schemas.openxmlformats.org/drawingml/2006/main">
            <a:r>
              <a:t>      "output_comm": "T_D_pkm_hdv_bs",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"T_HDV_BS_GSL_EX",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3.5629511057368903,</a:t>
            </a:r>
          </a:p>
          <a:p xmlns:a="http://schemas.openxmlformats.org/drawingml/2006/main">
            <a:r>
              <a:t>    "legacy": 1.862472082,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"legacy_units":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1.7004790237368903,</a:t>
            </a:r>
          </a:p>
          <a:p xmlns:a="http://schemas.openxmlformats.org/drawingml/2006/main">
            <a:r>
              <a:t>    "absolute_difference": 1.7004790237368903,</a:t>
            </a:r>
          </a:p>
          <a:p xmlns:a="http://schemas.openxmlformats.org/drawingml/2006/main">
            <a:r>
              <a:t>    "relative_percent": 91.30225575842431,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"T_gsl",</a:t>
            </a:r>
          </a:p>
          <a:p xmlns:a="http://schemas.openxmlformats.org/drawingml/2006/main">
            <a:r>
              <a:t>    "output_comm": "T_D_pkm_hdv_bs"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"Transit bus, diesel (2020)",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"T_HDV_BT_DSL_EX",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"T_dsl",</a:t>
            </a:r>
          </a:p>
          <a:p xmlns:a="http://schemas.openxmlformats.org/drawingml/2006/main">
            <a:r>
              <a:t>      "output_comm": "T_D_pkm_hdv_bt",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"T_HDV_BT_DSL_EX",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1.1881244472551553,</a:t>
            </a:r>
          </a:p>
          <a:p xmlns:a="http://schemas.openxmlformats.org/drawingml/2006/main">
            <a:r>
              <a:t>    "legacy": 0.539757746,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"legacy_units":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0.6483667012551553,</a:t>
            </a:r>
          </a:p>
          <a:p xmlns:a="http://schemas.openxmlformats.org/drawingml/2006/main">
            <a:r>
              <a:t>    "absolute_difference": 0.6483667012551553,</a:t>
            </a:r>
          </a:p>
          <a:p xmlns:a="http://schemas.openxmlformats.org/drawingml/2006/main">
            <a:r>
              <a:t>    "relative_percent": 120.12179650223217,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"T_dsl",</a:t>
            </a:r>
          </a:p>
          <a:p xmlns:a="http://schemas.openxmlformats.org/drawingml/2006/main">
            <a:r>
              <a:t>    "output_comm": "T_D_pkm_hdv_bt"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"Transit bus, CNG (2020)",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"T_HDV_BT_CNG_EX",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"T_cng",</a:t>
            </a:r>
          </a:p>
          <a:p xmlns:a="http://schemas.openxmlformats.org/drawingml/2006/main">
            <a:r>
              <a:t>      "output_comm": "T_D_pkm_hdv_bt",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"T_HDV_BT_CNG_EX",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1.1881244472551553,</a:t>
            </a:r>
          </a:p>
          <a:p xmlns:a="http://schemas.openxmlformats.org/drawingml/2006/main">
            <a:r>
              <a:t>    "legacy": 0.458794084,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"legacy_units":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0.7293303632551553,</a:t>
            </a:r>
          </a:p>
          <a:p xmlns:a="http://schemas.openxmlformats.org/drawingml/2006/main">
            <a:r>
              <a:t>    "absolute_difference": 0.7293303632551553,</a:t>
            </a:r>
          </a:p>
          <a:p xmlns:a="http://schemas.openxmlformats.org/drawingml/2006/main">
            <a:r>
              <a:t>    "relative_percent": 158.96681947083593,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"T_cng",</a:t>
            </a:r>
          </a:p>
          <a:p xmlns:a="http://schemas.openxmlformats.org/drawingml/2006/main">
            <a:r>
              <a:t>    "output_comm": "T_D_pkm_hdv_bt"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efficiency: Reported bus driver: CEUD intensities now backcast ATB values for existing stocks, replacing GREET gasoline/diesel and CNG/diesel scaling with ATB-indexed improvement. Reported marine driver: CEUD intensities and REGEN improvement assumptions replace regional-report values.</a:t>
            </a:r>
          </a:p>
          <a:p xmlns:a="http://schemas.openxmlformats.org/drawingml/2006/main">
            <a:r>
              <a:t>Comparison: Two panels: existing bus vintage 2020 in bn passenger-km/PJ, new marine vintage 2025 in bn tonne-km/PJ. Larger values mean more service output per unit energy.</a:t>
            </a:r>
          </a:p>
          <a:p xmlns:a="http://schemas.openxmlformats.org/drawingml/2006/main">
            <a:r>
              <a:t>Interpretation: The panels intentionally use different vintage slices to illustrate the two listed observations; show both years in labels.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HFO (2025)",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"T_HDV_WTF_HFO_N",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"T_hfo",</a:t>
            </a:r>
          </a:p>
          <a:p xmlns:a="http://schemas.openxmlformats.org/drawingml/2006/main">
            <a:r>
              <a:t>      "output_comm": "T_D_tkm_hdv_wt",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"T_HDV_WTF_HFO_N",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3.7358698473783414,</a:t>
            </a:r>
          </a:p>
          <a:p xmlns:a="http://schemas.openxmlformats.org/drawingml/2006/main">
            <a:r>
              <a:t>    "legacy": 6.667421446,</a:t>
            </a:r>
          </a:p>
          <a:p xmlns:a="http://schemas.openxmlformats.org/drawingml/2006/main">
            <a:r>
              <a:t>    "candidate_units": "bn tonne-km/PJ",</a:t>
            </a:r>
          </a:p>
          <a:p xmlns:a="http://schemas.openxmlformats.org/drawingml/2006/main">
            <a:r>
              <a:t>    "legacy_units": "bn tonne-km/PJ",</a:t>
            </a:r>
          </a:p>
          <a:p xmlns:a="http://schemas.openxmlformats.org/drawingml/2006/main">
            <a:r>
              <a:t>    "units": "bn tonne-km/PJ",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-2.9315515986216583,</a:t>
            </a:r>
          </a:p>
          <a:p xmlns:a="http://schemas.openxmlformats.org/drawingml/2006/main">
            <a:r>
              <a:t>    "absolute_difference": 2.9315515986216583,</a:t>
            </a:r>
          </a:p>
          <a:p xmlns:a="http://schemas.openxmlformats.org/drawingml/2006/main">
            <a:r>
              <a:t>    "relative_percent": -43.96829602515062,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"T_hfo",</a:t>
            </a:r>
          </a:p>
          <a:p xmlns:a="http://schemas.openxmlformats.org/drawingml/2006/main">
            <a:r>
              <a:t>    "output_comm": "T_D_tkm_hdv_wt"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MDO (2025)",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"T_HDV_WTF_MDO_N",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"T_mdo",</a:t>
            </a:r>
          </a:p>
          <a:p xmlns:a="http://schemas.openxmlformats.org/drawingml/2006/main">
            <a:r>
              <a:t>      "output_comm": "T_D_tkm_hdv_wt",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"T_HDV_WTF_MDO_N",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3.8135462101515656,</a:t>
            </a:r>
          </a:p>
          <a:p xmlns:a="http://schemas.openxmlformats.org/drawingml/2006/main">
            <a:r>
              <a:t>    "legacy": 6.384609746,</a:t>
            </a:r>
          </a:p>
          <a:p xmlns:a="http://schemas.openxmlformats.org/drawingml/2006/main">
            <a:r>
              <a:t>    "candidate_units": "bn tonne-km/PJ",</a:t>
            </a:r>
          </a:p>
          <a:p xmlns:a="http://schemas.openxmlformats.org/drawingml/2006/main">
            <a:r>
              <a:t>    "legacy_units": "bn tonne-km/PJ",</a:t>
            </a:r>
          </a:p>
          <a:p xmlns:a="http://schemas.openxmlformats.org/drawingml/2006/main">
            <a:r>
              <a:t>    "units": "bn tonne-km/PJ",</a:t>
            </a:r>
          </a:p>
          <a:p xmlns:a="http://schemas.openxmlformats.org/drawingml/2006/main">
            <a:r>
              <a:t>    "unit_basis": "legacy implicit parameter units",</a:t>
            </a:r>
          </a:p>
          <a:p xmlns:a="http://schemas.openxmlformats.org/drawingml/2006/main">
            <a:r>
              <a:t>    "comparison_grain": "exact parameter keys",</a:t>
            </a:r>
          </a:p>
          <a:p xmlns:a="http://schemas.openxmlformats.org/drawingml/2006/main">
            <a:r>
              <a:t>    "delta": -2.571063535848434,</a:t>
            </a:r>
          </a:p>
          <a:p xmlns:a="http://schemas.openxmlformats.org/drawingml/2006/main">
            <a:r>
              <a:t>    "absolute_difference": 2.571063535848434,</a:t>
            </a:r>
          </a:p>
          <a:p xmlns:a="http://schemas.openxmlformats.org/drawingml/2006/main">
            <a:r>
              <a:t>    "relative_percent": -40.26970540304711,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"input_comm": "T_mdo",</a:t>
            </a:r>
          </a:p>
          <a:p xmlns:a="http://schemas.openxmlformats.org/drawingml/2006/main">
            <a:r>
              <a:t>    "output_comm": "T_D_tkm_hdv_wt"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efficiency: Reported driver: merged BEV/PHEV archetypes now aggregate OMEGA vehicle-sales evidence instead of retaining a fixed range class.</a:t>
            </a:r>
          </a:p>
          <a:p xmlns:a="http://schemas.openxmlformats.org/drawingml/2006/main">
            <a:r>
              <a:t>Comparison: Paired native bars, bn passenger-km/PJ, four explicit representation bridges at vintage 2020.</a:t>
            </a:r>
          </a:p>
          <a:p xmlns:a="http://schemas.openxmlformats.org/drawingml/2006/main">
            <a:r>
              <a:t>Interpretation: These are representation bridges, not equal SQLite technology/input/output keys. Keep legacy range-specific IDs in speaker notes. Legacy passenger-truck BEV identifier is BEV300 but its row note says 150-mile. Use the identifier for the exact record; do not infer that every legacy BEV used one range. Legacy BEV service output is T_annual_pkm_*; a verified 1.0 dummy efficiency maps it to the same T_D_pkm_* service. No scaling is applied. No legacy freight light-truck BEV row exists; exclude rather than plot zero.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"Car, BEV",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"T_LDV_C_BEV_EX",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"T_elc_ldv_chrg",</a:t>
            </a:r>
          </a:p>
          <a:p xmlns:a="http://schemas.openxmlformats.org/drawingml/2006/main">
            <a:r>
              <a:t>      "output_comm": "T_D_pkm_ldv_c",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"T_LDV_C_BEV_EX",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2.3994578223460077,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"One legacy fixed-range representative paired with new merged archetype; same class, powertrain and 2020 vintage",</a:t>
            </a:r>
          </a:p>
          <a:p xmlns:a="http://schemas.openxmlformats.org/drawingml/2006/main">
            <a:r>
              <a:t>    "status": "explicit_representation_bridge",</a:t>
            </a:r>
          </a:p>
          <a:p xmlns:a="http://schemas.openxmlformats.org/drawingml/2006/main">
            <a:r>
              <a:t>    "input_comm": "T_elc_ldv_chrg",</a:t>
            </a:r>
          </a:p>
          <a:p xmlns:a="http://schemas.openxmlformats.org/drawingml/2006/main">
            <a:r>
              <a:t>    "output_comm": "T_D_pkm_ldv_c",</a:t>
            </a:r>
          </a:p>
          <a:p xmlns:a="http://schemas.openxmlformats.org/drawingml/2006/main">
            <a:r>
              <a:t>    "legacy": 2.324932649,</a:t>
            </a:r>
          </a:p>
          <a:p xmlns:a="http://schemas.openxmlformats.org/drawingml/2006/main">
            <a:r>
              <a:t>    "delta": 0.07452517334600772,</a:t>
            </a:r>
          </a:p>
          <a:p xmlns:a="http://schemas.openxmlformats.org/drawingml/2006/main">
            <a:r>
              <a:t>    "relative_percent": 3.2054766566275594,</a:t>
            </a:r>
          </a:p>
          <a:p xmlns:a="http://schemas.openxmlformats.org/drawingml/2006/main">
            <a:r>
              <a:t>    "legacy_tech": "T_LDV_C_BEV150_EX",</a:t>
            </a:r>
          </a:p>
          <a:p xmlns:a="http://schemas.openxmlformats.org/drawingml/2006/main">
            <a:r>
              <a:t>    "legacy_keys":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"input_comm": "T_elc_ldv_bev_chrg",</a:t>
            </a:r>
          </a:p>
          <a:p xmlns:a="http://schemas.openxmlformats.org/drawingml/2006/main">
            <a:r>
              <a:t>      "tech": "T_LDV_C_BEV150_EX",</a:t>
            </a:r>
          </a:p>
          <a:p xmlns:a="http://schemas.openxmlformats.org/drawingml/2006/main">
            <a:r>
              <a:t>      "vintage": 2020,</a:t>
            </a:r>
          </a:p>
          <a:p xmlns:a="http://schemas.openxmlformats.org/drawingml/2006/main">
            <a:r>
              <a:t>      "output_comm": "T_annual_pkm_ldv_c"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"legacy_notes": "[bpkm/PJ] Vehicle class fuel efficiency aggregated from NRCan Fuel Economy Guide ratings by size class; BEV ratings were grouped into range classes, 150-mile range class values were used. Aggregation was done with Wards 2022 national size-class shares derived from vehicle sales by model in 2021. Values were harmonized using provincial load factors."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truck, BEV",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"T_LDV_LTP_BEV_EX",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"T_elc_ldv_chrg",</a:t>
            </a:r>
          </a:p>
          <a:p xmlns:a="http://schemas.openxmlformats.org/drawingml/2006/main">
            <a:r>
              <a:t>      "output_comm": "T_D_pkm_ldv_t",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"T_LDV_LTP_BEV_EX",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2.201357889341348,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"One legacy fixed-range representative paired with new merged archetype; same class, powertrain and 2020 vintage",</a:t>
            </a:r>
          </a:p>
          <a:p xmlns:a="http://schemas.openxmlformats.org/drawingml/2006/main">
            <a:r>
              <a:t>    "status": "explicit_representation_bridge",</a:t>
            </a:r>
          </a:p>
          <a:p xmlns:a="http://schemas.openxmlformats.org/drawingml/2006/main">
            <a:r>
              <a:t>    "input_comm": "T_elc_ldv_chrg",</a:t>
            </a:r>
          </a:p>
          <a:p xmlns:a="http://schemas.openxmlformats.org/drawingml/2006/main">
            <a:r>
              <a:t>    "output_comm": "T_D_pkm_ldv_t",</a:t>
            </a:r>
          </a:p>
          <a:p xmlns:a="http://schemas.openxmlformats.org/drawingml/2006/main">
            <a:r>
              <a:t>    "legacy": 1.910662653,</a:t>
            </a:r>
          </a:p>
          <a:p xmlns:a="http://schemas.openxmlformats.org/drawingml/2006/main">
            <a:r>
              <a:t>    "delta": 0.290695236341348,</a:t>
            </a:r>
          </a:p>
          <a:p xmlns:a="http://schemas.openxmlformats.org/drawingml/2006/main">
            <a:r>
              <a:t>    "relative_percent": 15.214367428227948,</a:t>
            </a:r>
          </a:p>
          <a:p xmlns:a="http://schemas.openxmlformats.org/drawingml/2006/main">
            <a:r>
              <a:t>    "legacy_tech": "T_LDV_LTP_BEV300_EX",</a:t>
            </a:r>
          </a:p>
          <a:p xmlns:a="http://schemas.openxmlformats.org/drawingml/2006/main">
            <a:r>
              <a:t>    "legacy_keys":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"input_comm": "T_elc_ldv_bev_chrg",</a:t>
            </a:r>
          </a:p>
          <a:p xmlns:a="http://schemas.openxmlformats.org/drawingml/2006/main">
            <a:r>
              <a:t>      "tech": "T_LDV_LTP_BEV300_EX",</a:t>
            </a:r>
          </a:p>
          <a:p xmlns:a="http://schemas.openxmlformats.org/drawingml/2006/main">
            <a:r>
              <a:t>      "vintage": 2020,</a:t>
            </a:r>
          </a:p>
          <a:p xmlns:a="http://schemas.openxmlformats.org/drawingml/2006/main">
            <a:r>
              <a:t>      "output_comm": "T_annual_pkm_ldv_t"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"legacy_notes": "[bpkm/PJ] Vehicle class fuel efficiency aggregated from NRCan Fuel Economy Guide ratings by size class; BEV ratings were grouped into range classes, 150-mile range class values were used. Aggregation was done with Wards 2022 national size-class shares derived from vehicle sales by model in 2021. Values were harmonized using provincial load factors."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"Car, PHEV",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"T_LDV_C_GSL_PHEV_EX",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"T_gsl_elc_phev_c_ex",</a:t>
            </a:r>
          </a:p>
          <a:p xmlns:a="http://schemas.openxmlformats.org/drawingml/2006/main">
            <a:r>
              <a:t>      "output_comm": "T_D_pkm_ldv_c",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"T_LDV_C_GSL_PHEV_EX",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1.8150405851105467,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"One legacy fixed-range representative paired with new merged archetype; same class, powertrain and 2020 vintage",</a:t>
            </a:r>
          </a:p>
          <a:p xmlns:a="http://schemas.openxmlformats.org/drawingml/2006/main">
            <a:r>
              <a:t>    "status": "explicit_representation_bridge",</a:t>
            </a:r>
          </a:p>
          <a:p xmlns:a="http://schemas.openxmlformats.org/drawingml/2006/main">
            <a:r>
              <a:t>    "input_comm": "T_gsl_elc_phev_c_ex",</a:t>
            </a:r>
          </a:p>
          <a:p xmlns:a="http://schemas.openxmlformats.org/drawingml/2006/main">
            <a:r>
              <a:t>    "output_comm": "T_D_pkm_ldv_c",</a:t>
            </a:r>
          </a:p>
          <a:p xmlns:a="http://schemas.openxmlformats.org/drawingml/2006/main">
            <a:r>
              <a:t>    "legacy": 1.493019906,</a:t>
            </a:r>
          </a:p>
          <a:p xmlns:a="http://schemas.openxmlformats.org/drawingml/2006/main">
            <a:r>
              <a:t>    "delta": 0.32202067911054666,</a:t>
            </a:r>
          </a:p>
          <a:p xmlns:a="http://schemas.openxmlformats.org/drawingml/2006/main">
            <a:r>
              <a:t>    "relative_percent": 21.568411634462613,</a:t>
            </a:r>
          </a:p>
          <a:p xmlns:a="http://schemas.openxmlformats.org/drawingml/2006/main">
            <a:r>
              <a:t>    "legacy_tech": "T_LDV_C_GSL_PHEV35_EX",</a:t>
            </a:r>
          </a:p>
          <a:p xmlns:a="http://schemas.openxmlformats.org/drawingml/2006/main">
            <a:r>
              <a:t>    "legacy_keys":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"input_comm": "T_gsl_elc_phev35",</a:t>
            </a:r>
          </a:p>
          <a:p xmlns:a="http://schemas.openxmlformats.org/drawingml/2006/main">
            <a:r>
              <a:t>      "tech": "T_LDV_C_GSL_PHEV35_EX",</a:t>
            </a:r>
          </a:p>
          <a:p xmlns:a="http://schemas.openxmlformats.org/drawingml/2006/main">
            <a:r>
              <a:t>      "vintage": 2020,</a:t>
            </a:r>
          </a:p>
          <a:p xmlns:a="http://schemas.openxmlformats.org/drawingml/2006/main">
            <a:r>
              <a:t>      "output_comm": "T_D_pkm_ldv_c"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"legacy_notes": "[bpkm/PJ] Vehicle class fuel efficiency aggregated from NRCan Fuel Economy Guide ratings by size class; only the charge-depletion mode efficiencies were used as the utility-weighted values where disproportionately high when compared to the utility weighted efficiency projections. Aggregation was done with Wards 2022 national size-class shares derived from vehicle sales by model in 2021. Values were harmonized using provincial load factors."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truck, PHEV",</a:t>
            </a:r>
          </a:p>
          <a:p xmlns:a="http://schemas.openxmlformats.org/drawingml/2006/main">
            <a:r>
              <a:t>    "table": "efficiency",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"T_LDV_LTP_GSL_PHEV_EX",</a:t>
            </a:r>
          </a:p>
          <a:p xmlns:a="http://schemas.openxmlformats.org/drawingml/2006/main">
            <a:r>
              <a:t>    "vintage": 2020,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"input_comm": "T_gsl_elc_phev_ltp_ex",</a:t>
            </a:r>
          </a:p>
          <a:p xmlns:a="http://schemas.openxmlformats.org/drawingml/2006/main">
            <a:r>
              <a:t>      "output_comm": "T_D_pkm_ldv_t",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"T_LDV_LTP_GSL_PHEV_EX",</a:t>
            </a:r>
          </a:p>
          <a:p xmlns:a="http://schemas.openxmlformats.org/drawingml/2006/main">
            <a:r>
              <a:t>      "vintage": 2020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1.1613591430769286,</a:t>
            </a:r>
          </a:p>
          <a:p xmlns:a="http://schemas.openxmlformats.org/drawingml/2006/main">
            <a:r>
              <a:t>    "candidate_units": "bn passenger-km/PJ",</a:t>
            </a:r>
          </a:p>
          <a:p xmlns:a="http://schemas.openxmlformats.org/drawingml/2006/main">
            <a:r>
              <a:t>    "units": "bn passenger-km/PJ",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"One legacy fixed-range representative paired with new merged archetype; same class, powertrain and 2020 vintage",</a:t>
            </a:r>
          </a:p>
          <a:p xmlns:a="http://schemas.openxmlformats.org/drawingml/2006/main">
            <a:r>
              <a:t>    "status": "explicit_representation_bridge",</a:t>
            </a:r>
          </a:p>
          <a:p xmlns:a="http://schemas.openxmlformats.org/drawingml/2006/main">
            <a:r>
              <a:t>    "input_comm": "T_gsl_elc_phev_ltp_ex",</a:t>
            </a:r>
          </a:p>
          <a:p xmlns:a="http://schemas.openxmlformats.org/drawingml/2006/main">
            <a:r>
              <a:t>    "output_comm": "T_D_pkm_ldv_t",</a:t>
            </a:r>
          </a:p>
          <a:p xmlns:a="http://schemas.openxmlformats.org/drawingml/2006/main">
            <a:r>
              <a:t>    "legacy": 1.378083008,</a:t>
            </a:r>
          </a:p>
          <a:p xmlns:a="http://schemas.openxmlformats.org/drawingml/2006/main">
            <a:r>
              <a:t>    "delta": -0.21672386492307139,</a:t>
            </a:r>
          </a:p>
          <a:p xmlns:a="http://schemas.openxmlformats.org/drawingml/2006/main">
            <a:r>
              <a:t>    "relative_percent": -15.726473925369767,</a:t>
            </a:r>
          </a:p>
          <a:p xmlns:a="http://schemas.openxmlformats.org/drawingml/2006/main">
            <a:r>
              <a:t>    "legacy_tech": "T_LDV_LTP_GSL_PHEV35_EX",</a:t>
            </a:r>
          </a:p>
          <a:p xmlns:a="http://schemas.openxmlformats.org/drawingml/2006/main">
            <a:r>
              <a:t>    "legacy_keys":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"input_comm": "T_gsl_elc_phev35",</a:t>
            </a:r>
          </a:p>
          <a:p xmlns:a="http://schemas.openxmlformats.org/drawingml/2006/main">
            <a:r>
              <a:t>      "tech": "T_LDV_LTP_GSL_PHEV35_EX",</a:t>
            </a:r>
          </a:p>
          <a:p xmlns:a="http://schemas.openxmlformats.org/drawingml/2006/main">
            <a:r>
              <a:t>      "vintage": 2020,</a:t>
            </a:r>
          </a:p>
          <a:p xmlns:a="http://schemas.openxmlformats.org/drawingml/2006/main">
            <a:r>
              <a:t>      "output_comm": "T_D_pkm_ldv_t"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"legacy_notes": "[bpkm/PJ] Vehicle class fuel efficiency aggregated from NRCan Fuel Economy Guide ratings by size class; only the charge-depletion mode efficiencies were used as the utility-weighted values where disproportionately high when compared to the utility weighted efficiency projections. Aggregation was done with Wards 2022 national size-class shares derived from vehicle sales by model in 2021. Values were harmonized using provincial load factors."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existing_capacity: Reported drivers: marine fuel-consumption differences between CEUD editions; road-stock baselines move from 2021 to 2023.</a:t>
            </a:r>
          </a:p>
          <a:p xmlns:a="http://schemas.openxmlformats.org/drawingml/2006/main">
            <a:r>
              <a:t>Comparison: Percentage-change bars across explicitly summed class inventory, or native paired bars with separate marine (bn tonne-km) and road (thousand vehicles) panels. Compare all existing stock at each version baseline.</a:t>
            </a:r>
          </a:p>
          <a:p xmlns:a="http://schemas.openxmlformats.org/drawingml/2006/main">
            <a:r>
              <a:t>Interpretation: Baseline inventory comparison: legacy 2021 versus new 2023, summing each version existing cohorts; not equal-vintage keys. Road labels explicitly cover all powertrains present within that class; merged BEV/PHEV technologies are included in their class totals. No missing output is substituted with zero. Marine units are service-output capacity; road units are vehicles. Never share a raw-value axis across these units. Original 2020 cohort examples remain available in common_2020_cohort_alternative.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HFO",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"T_HDV_WTF_HFO_EX",</a:t>
            </a:r>
          </a:p>
          <a:p xmlns:a="http://schemas.openxmlformats.org/drawingml/2006/main">
            <a:r>
              <a:t>    "candidate": 6.587017699388717,</a:t>
            </a:r>
          </a:p>
          <a:p xmlns:a="http://schemas.openxmlformats.org/drawingml/2006/main">
            <a:r>
              <a:t>    "legacy": 41.34476869,</a:t>
            </a:r>
          </a:p>
          <a:p xmlns:a="http://schemas.openxmlformats.org/drawingml/2006/main">
            <a:r>
              <a:t>    "units": "bn tonne-km",</a:t>
            </a:r>
          </a:p>
          <a:p xmlns:a="http://schemas.openxmlformats.org/drawingml/2006/main">
            <a:r>
              <a:t>    "delta": -34.757750990611285,</a:t>
            </a:r>
          </a:p>
          <a:p xmlns:a="http://schemas.openxmlformats.org/drawingml/2006/main">
            <a:r>
              <a:t>    "relative_percent": -84.06807461234652,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1.0214032563537419,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0.34909267576826447,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0.8317720334237386,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2.042941285328911,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1.7123717437893662,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0.6294367047246946,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2.131662058,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8.653369733,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22.398071163,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"T_HDV_WTF_HFO_EX",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8.161665736,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"Marine freight, MDO",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"T_HDV_WTF_MDO_EX",</a:t>
            </a:r>
          </a:p>
          <a:p xmlns:a="http://schemas.openxmlformats.org/drawingml/2006/main">
            <a:r>
              <a:t>    "candidate": 1.1820209121490446,</a:t>
            </a:r>
          </a:p>
          <a:p xmlns:a="http://schemas.openxmlformats.org/drawingml/2006/main">
            <a:r>
              <a:t>    "legacy": 7.618054945,</a:t>
            </a:r>
          </a:p>
          <a:p xmlns:a="http://schemas.openxmlformats.org/drawingml/2006/main">
            <a:r>
              <a:t>    "units": "bn tonne-km",</a:t>
            </a:r>
          </a:p>
          <a:p xmlns:a="http://schemas.openxmlformats.org/drawingml/2006/main">
            <a:r>
              <a:t>    "delta": -6.436034032850955,</a:t>
            </a:r>
          </a:p>
          <a:p xmlns:a="http://schemas.openxmlformats.org/drawingml/2006/main">
            <a:r>
              <a:t>    "relative_percent": -84.48395396616499,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0.18328780395706165,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0.06264365178105528,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0.14925903990493797,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0.36659979246382124,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0.30728006252662593,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0.11295056151554247,</a:t>
            </a:r>
          </a:p>
          <a:p xmlns:a="http://schemas.openxmlformats.org/drawingml/2006/main">
            <a:r>
              <a:t>        "units": "bn tonne-km"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1.702811321,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1.779041743,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2.876054141,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"T_HDV_WTF_MDO_EX",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1.26014774,</a:t>
            </a:r>
          </a:p>
          <a:p xmlns:a="http://schemas.openxmlformats.org/drawingml/2006/main">
            <a:r>
              <a:t>        "units": "btkm"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"Cars, all powertrains",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"T_LDV_C_%",</a:t>
            </a:r>
          </a:p>
          <a:p xmlns:a="http://schemas.openxmlformats.org/drawingml/2006/main">
            <a:r>
              <a:t>    "candidate": 3605.2670000000003,</a:t>
            </a:r>
          </a:p>
          <a:p xmlns:a="http://schemas.openxmlformats.org/drawingml/2006/main">
            <a:r>
              <a:t>    "legacy": 3815.525682179,</a:t>
            </a:r>
          </a:p>
          <a:p xmlns:a="http://schemas.openxmlformats.org/drawingml/2006/main">
            <a:r>
              <a:t>    "units": "k vehicles",</a:t>
            </a:r>
          </a:p>
          <a:p xmlns:a="http://schemas.openxmlformats.org/drawingml/2006/main">
            <a:r>
              <a:t>    "delta": -210.2586821789996,</a:t>
            </a:r>
          </a:p>
          <a:p xmlns:a="http://schemas.openxmlformats.org/drawingml/2006/main">
            <a:r>
              <a:t>    "relative_percent": -5.510608489966273,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"T_LDV_C_BEV_EX",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2.674683469899783,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"T_LDV_C_BEV_EX",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19.52738470420391,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"T_LDV_C_BEV_EX",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45.982086155749144,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0.7089840682683646,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8.158799630025849,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16.69728627212287,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30.335333581273563,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2.4620661398394668,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0.0014101418345185356,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25.68706314079679,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295.5998740020417,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604.9561138934238,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1020.4527312692699,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977.3758872162092,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447.7894134429091,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23.506684337953555,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26.442117188035546,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37.85033676139163,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"T_LDV_C_GSL_PHEV_EX",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2.012131779031724,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"T_LDV_C_GSL_PHEV_EX",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12.987087213784934,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"T_LDV_C_GSL_PHEV_EX",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4.059525591935191,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"T_LDV_C_BEV150_EX",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3.636121987,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"T_LDV_C_BEV150_EX",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37.180792833,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18.353157575,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40.14663236,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3.81484961,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593.418761607,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1357.132043612,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1658.203203455,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30.611956268,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47.605437559,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"T_LDV_C_GSL_PHEV35_EX",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2.680419337,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"T_LDV_C_GSL_PHEV35_EX",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22.742305976,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"Passenger light trucks, all powertrains",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"T_LDV_LTP_%",</a:t>
            </a:r>
          </a:p>
          <a:p xmlns:a="http://schemas.openxmlformats.org/drawingml/2006/main">
            <a:r>
              <a:t>    "candidate": 4355.4580000000005,</a:t>
            </a:r>
          </a:p>
          <a:p xmlns:a="http://schemas.openxmlformats.org/drawingml/2006/main">
            <a:r>
              <a:t>    "legacy": 3811.315528404,</a:t>
            </a:r>
          </a:p>
          <a:p xmlns:a="http://schemas.openxmlformats.org/drawingml/2006/main">
            <a:r>
              <a:t>    "units": "k vehicles",</a:t>
            </a:r>
          </a:p>
          <a:p xmlns:a="http://schemas.openxmlformats.org/drawingml/2006/main">
            <a:r>
              <a:t>    "delta": 544.1424715960006,</a:t>
            </a:r>
          </a:p>
          <a:p xmlns:a="http://schemas.openxmlformats.org/drawingml/2006/main">
            <a:r>
              <a:t>    "relative_percent": 14.277025020383505,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"T_LDV_LTP_BEV_EX",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0.06986625974411856,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"T_LDV_LTP_BEV_EX",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3.6232945990152805,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"T_LDV_LTP_BEV_EX",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35.617003366213716,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0.42757932874010374,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5.6681780057529085,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18.248362131254495,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53.0845403220947,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48.87883776105934,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39.01080503868643,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13.471559930484917,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178.58487201931672,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574.9433790654834,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1187.1348069338435,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1309.1857462543965,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789.0053799756374,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3.0194909149354006,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14.798811008240282,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65.1340683704586,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"T_LDV_LTP_GSL_PHEV_EX",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0.08367493022246078,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"T_LDV_LTP_GSL_PHEV_EX",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3.427231696864431,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"T_LDV_LTP_GSL_PHEV_EX",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12.040512087555708,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"T_LDV_LTP_BEV300_EX",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0.07185589,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"T_LDV_LTP_BEV300_EX",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4.376519583,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24.959817936,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56.380804259,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58.095394415,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790.394234638,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1281.35795142,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1570.01071173,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3.293447957,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"T_LDV_LTP_GSL_HEV_EX",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17.865808047,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"T_LDV_LTP_GSL_PHEV35_EX",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0.081861184,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"T_LDV_LTP_GSL_PHEV35_EX",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4.427121345,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trucks, all powertrains",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"T_MDV_T_%",</a:t>
            </a:r>
          </a:p>
          <a:p xmlns:a="http://schemas.openxmlformats.org/drawingml/2006/main">
            <a:r>
              <a:t>    "candidate": 421.755,</a:t>
            </a:r>
          </a:p>
          <a:p xmlns:a="http://schemas.openxmlformats.org/drawingml/2006/main">
            <a:r>
              <a:t>    "legacy": 383.203392067,</a:t>
            </a:r>
          </a:p>
          <a:p xmlns:a="http://schemas.openxmlformats.org/drawingml/2006/main">
            <a:r>
              <a:t>    "units": "k vehicles",</a:t>
            </a:r>
          </a:p>
          <a:p xmlns:a="http://schemas.openxmlformats.org/drawingml/2006/main">
            <a:r>
              <a:t>    "delta": 38.551607933000014,</a:t>
            </a:r>
          </a:p>
          <a:p xmlns:a="http://schemas.openxmlformats.org/drawingml/2006/main">
            <a:r>
              <a:t>    "relative_percent": 10.060351429837965,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"T_MDV_T_BEV_EX",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2.8884338877093185,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2.1207985447577116,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22.314117579570503,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39.59979835677203,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66.19286990385817,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92.13810574459319,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58.727693525301454,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0.9962799441234763,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10.482423175124797,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18.60265558541911,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31.09518765570558,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45.03747680977485,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31.559159287289816,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12.076213323,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46.70432986,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62.239785979,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112.52878599,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8.050808882,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31.136219907,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41.493190653,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"T_MDV_T_GSL_EX",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68.974057473,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trucks, all powertrains",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"tech_pattern": "T_HDV_T_%",</a:t>
            </a:r>
          </a:p>
          <a:p xmlns:a="http://schemas.openxmlformats.org/drawingml/2006/main">
            <a:r>
              <a:t>    "candidate": 143.136,</a:t>
            </a:r>
          </a:p>
          <a:p xmlns:a="http://schemas.openxmlformats.org/drawingml/2006/main">
            <a:r>
              <a:t>    "legacy": 134.550087303,</a:t>
            </a:r>
          </a:p>
          <a:p xmlns:a="http://schemas.openxmlformats.org/drawingml/2006/main">
            <a:r>
              <a:t>    "units": "k vehicles",</a:t>
            </a:r>
          </a:p>
          <a:p xmlns:a="http://schemas.openxmlformats.org/drawingml/2006/main">
            <a:r>
              <a:t>    "delta": 8.585912696999998,</a:t>
            </a:r>
          </a:p>
          <a:p xmlns:a="http://schemas.openxmlformats.org/drawingml/2006/main">
            <a:r>
              <a:t>    "relative_percent": 6.381201877383358,</a:t>
            </a:r>
          </a:p>
          <a:p xmlns:a="http://schemas.openxmlformats.org/drawingml/2006/main">
            <a:r>
              <a:t>    "candidate_constituent_rows":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2000,</a:t>
            </a:r>
          </a:p>
          <a:p xmlns:a="http://schemas.openxmlformats.org/drawingml/2006/main">
            <a:r>
              <a:t>        "capacity": 1.0578799221929738,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11.130551285613842,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19.752857577194035,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33.01780276901451,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46.554905536394415,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2023,</a:t>
            </a:r>
          </a:p>
          <a:p xmlns:a="http://schemas.openxmlformats.org/drawingml/2006/main">
            <a:r>
              <a:t>        "capacity": 31.622002909590226,</a:t>
            </a:r>
          </a:p>
          <a:p xmlns:a="http://schemas.openxmlformats.org/drawingml/2006/main">
            <a:r>
              <a:t>        "units": "k vehicles"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2005,</a:t>
            </a:r>
          </a:p>
          <a:p xmlns:a="http://schemas.openxmlformats.org/drawingml/2006/main">
            <a:r>
              <a:t>        "capacity": 9.730347327,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26.759889658,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35.661143412,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"T_HDV_T_DSL_EX",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62.398706906,</a:t>
            </a:r>
          </a:p>
          <a:p xmlns:a="http://schemas.openxmlformats.org/drawingml/2006/main">
            <a:r>
              <a:t>        "units": "k units"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],</a:t>
            </a:r>
          </a:p>
          <a:p xmlns:a="http://schemas.openxmlformats.org/drawingml/2006/main">
            <a:r>
              <a:t>    "comparison_grain": "Sum all existing cohorts at each version baseline; aggregate class powertrains where label specifies; no survival adjustment",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"baseline_year_legacy": 2021,</a:t>
            </a:r>
          </a:p>
          <a:p xmlns:a="http://schemas.openxmlformats.org/drawingml/2006/main">
            <a:r>
              <a:t>    "baseline_year_candidate": 2023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existing_capacity: Reported driver: public port counts and EV-to-port ratios replace legacy energy-based capacity calibration.</a:t>
            </a:r>
          </a:p>
          <a:p xmlns:a="http://schemas.openxmlformats.org/drawingml/2006/main">
            <a:r>
              <a:t>Comparison: Paired native bars in GW, each version at its own baseline; use the label Legacy inventory and New 2023 inventory.</a:t>
            </a:r>
          </a:p>
          <a:p xmlns:a="http://schemas.openxmlformats.org/drawingml/2006/main">
            <a:r>
              <a:t>Interpretation: This is a group inventory comparison across different baseline/cohort representations, not a same-vintage key match. Legacy MHDV inventory consists only of HDV charger rows; no MDV existing charger rows are present. Label this coverage difference. Legacy LDV sum=0.092827452 BEV + 0.160443259 PHEV=0.253270711 GW. Legacy HDV sum=0.244281279 GW. New LDV=0.8870326014006562 GW, new MHDV=0.2118184850986834 GW.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"LDV chargers",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"T_LDV_CHRG_EX",</a:t>
            </a:r>
          </a:p>
          <a:p xmlns:a="http://schemas.openxmlformats.org/drawingml/2006/main">
            <a:r>
              <a:t>    "vintage": 2023,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"T_LDV_CHRG_EX",</a:t>
            </a:r>
          </a:p>
          <a:p xmlns:a="http://schemas.openxmlformats.org/drawingml/2006/main">
            <a:r>
              <a:t>      "vintage": 2023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0.8870326014006562,</a:t>
            </a:r>
          </a:p>
          <a:p xmlns:a="http://schemas.openxmlformats.org/drawingml/2006/main">
            <a:r>
              <a:t>    "candidate_units": "GW",</a:t>
            </a:r>
          </a:p>
          <a:p xmlns:a="http://schemas.openxmlformats.org/drawingml/2006/main">
            <a:r>
              <a:t>    "units": "GW",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"Sum all existing legacy charger cohorts by demand class; compare with new combined 2023 stock. No retirement adjustment applied.",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"legacy": 0.253270711,</a:t>
            </a:r>
          </a:p>
          <a:p xmlns:a="http://schemas.openxmlformats.org/drawingml/2006/main">
            <a:r>
              <a:t>    "delta": 0.6337618904006562,</a:t>
            </a:r>
          </a:p>
          <a:p xmlns:a="http://schemas.openxmlformats.org/drawingml/2006/main">
            <a:r>
              <a:t>    "relative_percent": 250.23102272597808,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"T_LDV_BEV_CHRG",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0.007375338,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"T_LDV_BEV_CHRG",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0.085452114,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"T_LDV_PHEV_CHRG",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0.011714196,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PHEV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"T_LDV_PHEV_CHRG",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0.148729063,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PHEV classes."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"MHDV chargers",</a:t>
            </a:r>
          </a:p>
          <a:p xmlns:a="http://schemas.openxmlformats.org/drawingml/2006/main">
            <a:r>
              <a:t>    "table": "existing_capacity",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"tech": "T_MHDV_CHRG_EX",</a:t>
            </a:r>
          </a:p>
          <a:p xmlns:a="http://schemas.openxmlformats.org/drawingml/2006/main">
            <a:r>
              <a:t>    "vintage": 2023,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"tech": "T_MHDV_CHRG_EX",</a:t>
            </a:r>
          </a:p>
          <a:p xmlns:a="http://schemas.openxmlformats.org/drawingml/2006/main">
            <a:r>
              <a:t>      "vintage": 2023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0.2118184850986834,</a:t>
            </a:r>
          </a:p>
          <a:p xmlns:a="http://schemas.openxmlformats.org/drawingml/2006/main">
            <a:r>
              <a:t>    "candidate_units": "GW",</a:t>
            </a:r>
          </a:p>
          <a:p xmlns:a="http://schemas.openxmlformats.org/drawingml/2006/main">
            <a:r>
              <a:t>    "units": "GW",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"Sum all existing legacy charger cohorts by demand class; compare with new combined 2023 stock. No retirement adjustment applied.",</a:t>
            </a:r>
          </a:p>
          <a:p xmlns:a="http://schemas.openxmlformats.org/drawingml/2006/main">
            <a:r>
              <a:t>    "status": "explicit_inventory_bridge",</a:t>
            </a:r>
          </a:p>
          <a:p xmlns:a="http://schemas.openxmlformats.org/drawingml/2006/main">
            <a:r>
              <a:t>    "legacy": 0.24428127900000002,</a:t>
            </a:r>
          </a:p>
          <a:p xmlns:a="http://schemas.openxmlformats.org/drawingml/2006/main">
            <a:r>
              <a:t>    "delta": -0.03246279390131662,</a:t>
            </a:r>
          </a:p>
          <a:p xmlns:a="http://schemas.openxmlformats.org/drawingml/2006/main">
            <a:r>
              <a:t>    "relative_percent": -13.289104279381403,</a:t>
            </a:r>
          </a:p>
          <a:p xmlns:a="http://schemas.openxmlformats.org/drawingml/2006/main">
            <a:r>
              <a:t>    "legacy_constituent_rows": [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"T_HDV_CHRG",</a:t>
            </a:r>
          </a:p>
          <a:p xmlns:a="http://schemas.openxmlformats.org/drawingml/2006/main">
            <a:r>
              <a:t>        "vintage": 2010,</a:t>
            </a:r>
          </a:p>
          <a:p xmlns:a="http://schemas.openxmlformats.org/drawingml/2006/main">
            <a:r>
              <a:t>        "capacity": 0.024583233,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"T_HDV_CHRG",</a:t>
            </a:r>
          </a:p>
          <a:p xmlns:a="http://schemas.openxmlformats.org/drawingml/2006/main">
            <a:r>
              <a:t>        "vintage": 2015,</a:t>
            </a:r>
          </a:p>
          <a:p xmlns:a="http://schemas.openxmlformats.org/drawingml/2006/main">
            <a:r>
              <a:t>        "capacity": 0.086878136,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},</a:t>
            </a:r>
          </a:p>
          <a:p xmlns:a="http://schemas.openxmlformats.org/drawingml/2006/main">
            <a:r>
              <a:t>      {</a:t>
            </a:r>
          </a:p>
          <a:p xmlns:a="http://schemas.openxmlformats.org/drawingml/2006/main">
            <a:r>
              <a:t>        "region": "ON",</a:t>
            </a:r>
          </a:p>
          <a:p xmlns:a="http://schemas.openxmlformats.org/drawingml/2006/main">
            <a:r>
              <a:t>        "tech": "T_HDV_CHRG",</a:t>
            </a:r>
          </a:p>
          <a:p xmlns:a="http://schemas.openxmlformats.org/drawingml/2006/main">
            <a:r>
              <a:t>        "vintage": 2020,</a:t>
            </a:r>
          </a:p>
          <a:p xmlns:a="http://schemas.openxmlformats.org/drawingml/2006/main">
            <a:r>
              <a:t>        "capacity": 0.13281991,</a:t>
            </a:r>
          </a:p>
          <a:p xmlns:a="http://schemas.openxmlformats.org/drawingml/2006/main">
            <a:r>
              <a:t>        "units": "GW",</a:t>
            </a:r>
          </a:p>
          <a:p xmlns:a="http://schemas.openxmlformats.org/drawingml/2006/main">
            <a:r>
              <a:t>        "notes": "Existing capacity of EV chargers estimated from energy consumption of BEV classes."</a:t>
            </a:r>
          </a:p>
          <a:p xmlns:a="http://schemas.openxmlformats.org/drawingml/2006/main">
            <a:r>
              <a:t>      }</a:t>
            </a:r>
          </a:p>
          <a:p xmlns:a="http://schemas.openxmlformats.org/drawingml/2006/main">
            <a:r>
              <a:t>    ]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Ontario. Numeric source pair:</a:t>
            </a:r>
          </a:p>
          <a:p xmlns:a="http://schemas.openxmlformats.org/drawingml/2006/main">
            <a:r>
              <a:t>Legacy: C:\Users\rashi\ESM_databases\canoe-transportation\legacy_backend\canoe_transport_baseline.sqlite</a:t>
            </a:r>
          </a:p>
          <a:p xmlns:a="http://schemas.openxmlformats.org/drawingml/2006/main">
            <a:r>
              <a:t>Legacy SHA256: 72dcd117b038092a8651305880bce56f158a771280ddcec3a45dbc600fa1a65f</a:t>
            </a:r>
          </a:p>
          <a:p xmlns:a="http://schemas.openxmlformats.org/drawingml/2006/main">
            <a:r>
              <a:t>New backend: C:\Users\rashi\ESM_databases\canoe-transportation\outputs\sqlite\legacy_reproduction.sqlite</a:t>
            </a:r>
          </a:p>
          <a:p xmlns:a="http://schemas.openxmlformats.org/drawingml/2006/main">
            <a:r>
              <a:t>New SHA256: 8b5ee4b368ef5d2d3d4d008e393ff3f8b320947cd38c9af85d67b6a6a908c9ca</a:t>
            </a:r>
          </a:p>
          <a:p xmlns:a="http://schemas.openxmlformats.org/drawingml/2006/main">
            <a:r>
              <a:t>New database build: 2026-10-13, legacy_comparison scenario.</a:t>
            </a:r>
          </a:p>
          <a:p xmlns:a="http://schemas.openxmlformats.org/drawingml/2006/main">
            <a:r>
              <a:t>Row-level evidence: outputs/validation/transport_comparison/rows.csv</a:t>
            </a:r>
          </a:p>
          <a:p xmlns:a="http://schemas.openxmlformats.org/drawingml/2006/main">
            <a:r>
              <a:t>rows.csv SHA256: 54689bf3e4e4121e714259dcf9d745c188d880aa7e32802e91fa9f1eeba28fd6</a:t>
            </a:r>
          </a:p>
          <a:p xmlns:a="http://schemas.openxmlformats.org/drawingml/2006/main">
            <a:r>
              <a:t>Explanations: user-supplied observations, 2026-10-13. They are reported drivers, not a quantitative decomposition of each gap.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limit_annual_capacity_factor: Reported driver: changed CEUD activity-to-stock averages, using the latest five eligible periods and excluding 2020-2021.</a:t>
            </a:r>
          </a:p>
          <a:p xmlns:a="http://schemas.openxmlformats.org/drawingml/2006/main">
            <a:r>
              <a:t>Comparison: Three native bar series: legacy minimum, legacy maximum, new equality. Scale fractions by 100 to show capacity-factor percent. Table legacy interval and new equality; never treat a bound or midpoint as a legacy observation.</a:t>
            </a:r>
          </a:p>
          <a:p xmlns:a="http://schemas.openxmlformats.org/drawingml/2006/main">
            <a:r>
              <a:t>Interpretation: Rows compare future cohort at installation period: vintage 2025, comparison_period 2025. All listed class powertrains share the same new value and the same legacy interval; select one explicit technology per class instead of duplicating bars. The diagnostic legacy field is the nearest bound used for distance-outside-interval ranking, not a point estimate. Use legacy_lower and legacy_upper. Do not attribute the entire output difference quantitatively to the averaging window based on these final rows alone.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Plotted records and source keys:</a:t>
            </a:r>
          </a:p>
          <a:p xmlns:a="http://schemas.openxmlformats.org/drawingml/2006/main">
            <a:r>
              <a:t>[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"Cars",</a:t>
            </a:r>
          </a:p>
          <a:p xmlns:a="http://schemas.openxmlformats.org/drawingml/2006/main">
            <a:r>
              <a:t>    "table": "limit_annual_capacity_factor",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"operator": "e",</a:t>
            </a:r>
          </a:p>
          <a:p xmlns:a="http://schemas.openxmlformats.org/drawingml/2006/main">
            <a:r>
              <a:t>      "output_comm": "T_D_pkm_ldv_c",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"tech_or_group": "T_LDV_C_GSL_N",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0.020756891109511903,</a:t>
            </a:r>
          </a:p>
          <a:p xmlns:a="http://schemas.openxmlformats.org/drawingml/2006/main">
            <a:r>
              <a:t>    "legacy": 0.018861811,</a:t>
            </a:r>
          </a:p>
          <a:p xmlns:a="http://schemas.openxmlformats.org/drawingml/2006/main">
            <a:r>
              <a:t>    "candidate_units": "fraction",</a:t>
            </a:r>
          </a:p>
          <a:p xmlns:a="http://schemas.openxmlformats.org/drawingml/2006/main">
            <a:r>
              <a:t>    "legacy_units": "fraction",</a:t>
            </a:r>
          </a:p>
          <a:p xmlns:a="http://schemas.openxmlformats.org/drawingml/2006/main">
            <a:r>
              <a:t>    "units": "fraction",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"new-cohort value at installation period; distance outside legacy [minimum, maximum]",</a:t>
            </a:r>
          </a:p>
          <a:p xmlns:a="http://schemas.openxmlformats.org/drawingml/2006/main">
            <a:r>
              <a:t>    "delta": 0.0018950801095119034,</a:t>
            </a:r>
          </a:p>
          <a:p xmlns:a="http://schemas.openxmlformats.org/drawingml/2006/main">
            <a:r>
              <a:t>    "absolute_difference": 0.0018950801095119034,</a:t>
            </a:r>
          </a:p>
          <a:p xmlns:a="http://schemas.openxmlformats.org/drawingml/2006/main">
            <a:r>
              <a:t>    "relative_percent": 10.047180037547315,</a:t>
            </a:r>
          </a:p>
          <a:p xmlns:a="http://schemas.openxmlformats.org/drawingml/2006/main">
            <a:r>
              <a:t>    "comparison_period": 2025,</a:t>
            </a:r>
          </a:p>
          <a:p xmlns:a="http://schemas.openxmlformats.org/drawingml/2006/main">
            <a:r>
              <a:t>    "legacy_lower": 0.018842949189,</a:t>
            </a:r>
          </a:p>
          <a:p xmlns:a="http://schemas.openxmlformats.org/drawingml/2006/main">
            <a:r>
              <a:t>    "legacy_upper": 0.018861811,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"output_comm": "T_D_pkm_ldv_c",</a:t>
            </a:r>
          </a:p>
          <a:p xmlns:a="http://schemas.openxmlformats.org/drawingml/2006/main">
            <a:r>
              <a:t>    "tech_or_group": "T_LDV_C_GSL_N",</a:t>
            </a:r>
          </a:p>
          <a:p xmlns:a="http://schemas.openxmlformats.org/drawingml/2006/main">
            <a:r>
              <a:t>    "operator": "e",</a:t>
            </a:r>
          </a:p>
          <a:p xmlns:a="http://schemas.openxmlformats.org/drawingml/2006/main">
            <a:r>
              <a:t>    "legacy_bar_lower": 0.018842949189,</a:t>
            </a:r>
          </a:p>
          <a:p xmlns:a="http://schemas.openxmlformats.org/drawingml/2006/main">
            <a:r>
              <a:t>    "legacy_bar_upper": 0.018861811,</a:t>
            </a:r>
          </a:p>
          <a:p xmlns:a="http://schemas.openxmlformats.org/drawingml/2006/main">
            <a:r>
              <a:t>    "new_equality": 0.020756891109511903,</a:t>
            </a:r>
          </a:p>
          <a:p xmlns:a="http://schemas.openxmlformats.org/drawingml/2006/main">
            <a:r>
              <a:t>    "chart_scale_factor": 100,</a:t>
            </a:r>
          </a:p>
          <a:p xmlns:a="http://schemas.openxmlformats.org/drawingml/2006/main">
            <a:r>
              <a:t>    "display_units": "% of potential annual activity",</a:t>
            </a:r>
          </a:p>
          <a:p xmlns:a="http://schemas.openxmlformats.org/drawingml/2006/main">
            <a:r>
              <a:t>    "point_change_vs_upper": 0.18950801095119035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"Medium trucks",</a:t>
            </a:r>
          </a:p>
          <a:p xmlns:a="http://schemas.openxmlformats.org/drawingml/2006/main">
            <a:r>
              <a:t>    "table": "limit_annual_capacity_factor",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"operator": "e",</a:t>
            </a:r>
          </a:p>
          <a:p xmlns:a="http://schemas.openxmlformats.org/drawingml/2006/main">
            <a:r>
              <a:t>      "output_comm": "T_D_tkm_mdv_t",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"tech_or_group": "T_MDV_T_DSL_N",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0.028953754237791396,</a:t>
            </a:r>
          </a:p>
          <a:p xmlns:a="http://schemas.openxmlformats.org/drawingml/2006/main">
            <a:r>
              <a:t>    "legacy": 0.026242254,</a:t>
            </a:r>
          </a:p>
          <a:p xmlns:a="http://schemas.openxmlformats.org/drawingml/2006/main">
            <a:r>
              <a:t>    "candidate_units": "fraction",</a:t>
            </a:r>
          </a:p>
          <a:p xmlns:a="http://schemas.openxmlformats.org/drawingml/2006/main">
            <a:r>
              <a:t>    "legacy_units": "fraction",</a:t>
            </a:r>
          </a:p>
          <a:p xmlns:a="http://schemas.openxmlformats.org/drawingml/2006/main">
            <a:r>
              <a:t>    "units": "fraction",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"new-cohort value at installation period; distance outside legacy [minimum, maximum]",</a:t>
            </a:r>
          </a:p>
          <a:p xmlns:a="http://schemas.openxmlformats.org/drawingml/2006/main">
            <a:r>
              <a:t>    "delta": 0.0027115002377913963,</a:t>
            </a:r>
          </a:p>
          <a:p xmlns:a="http://schemas.openxmlformats.org/drawingml/2006/main">
            <a:r>
              <a:t>    "absolute_difference": 0.0027115002377913963,</a:t>
            </a:r>
          </a:p>
          <a:p xmlns:a="http://schemas.openxmlformats.org/drawingml/2006/main">
            <a:r>
              <a:t>    "relative_percent": 10.332573710289507,</a:t>
            </a:r>
          </a:p>
          <a:p xmlns:a="http://schemas.openxmlformats.org/drawingml/2006/main">
            <a:r>
              <a:t>    "comparison_period": 2025,</a:t>
            </a:r>
          </a:p>
          <a:p xmlns:a="http://schemas.openxmlformats.org/drawingml/2006/main">
            <a:r>
              <a:t>    "legacy_lower": 0.026216011746,</a:t>
            </a:r>
          </a:p>
          <a:p xmlns:a="http://schemas.openxmlformats.org/drawingml/2006/main">
            <a:r>
              <a:t>    "legacy_upper": 0.026242254,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"output_comm": "T_D_tkm_mdv_t",</a:t>
            </a:r>
          </a:p>
          <a:p xmlns:a="http://schemas.openxmlformats.org/drawingml/2006/main">
            <a:r>
              <a:t>    "tech_or_group": "T_MDV_T_DSL_N",</a:t>
            </a:r>
          </a:p>
          <a:p xmlns:a="http://schemas.openxmlformats.org/drawingml/2006/main">
            <a:r>
              <a:t>    "operator": "e",</a:t>
            </a:r>
          </a:p>
          <a:p xmlns:a="http://schemas.openxmlformats.org/drawingml/2006/main">
            <a:r>
              <a:t>    "legacy_bar_lower": 0.026216011746,</a:t>
            </a:r>
          </a:p>
          <a:p xmlns:a="http://schemas.openxmlformats.org/drawingml/2006/main">
            <a:r>
              <a:t>    "legacy_bar_upper": 0.026242254,</a:t>
            </a:r>
          </a:p>
          <a:p xmlns:a="http://schemas.openxmlformats.org/drawingml/2006/main">
            <a:r>
              <a:t>    "new_equality": 0.028953754237791396,</a:t>
            </a:r>
          </a:p>
          <a:p xmlns:a="http://schemas.openxmlformats.org/drawingml/2006/main">
            <a:r>
              <a:t>    "chart_scale_factor": 100,</a:t>
            </a:r>
          </a:p>
          <a:p xmlns:a="http://schemas.openxmlformats.org/drawingml/2006/main">
            <a:r>
              <a:t>    "display_units": "% of potential annual activity",</a:t>
            </a:r>
          </a:p>
          <a:p xmlns:a="http://schemas.openxmlformats.org/drawingml/2006/main">
            <a:r>
              <a:t>    "point_change_vs_upper": 0.27115002377913966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"Heavy trucks",</a:t>
            </a:r>
          </a:p>
          <a:p xmlns:a="http://schemas.openxmlformats.org/drawingml/2006/main">
            <a:r>
              <a:t>    "table": "limit_annual_capacity_factor",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"operator": "e",</a:t>
            </a:r>
          </a:p>
          <a:p xmlns:a="http://schemas.openxmlformats.org/drawingml/2006/main">
            <a:r>
              <a:t>      "output_comm": "T_D_tkm_hdv_t",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"tech_or_group": "T_HDV_T_DSL_N",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0.2366269659840278,</a:t>
            </a:r>
          </a:p>
          <a:p xmlns:a="http://schemas.openxmlformats.org/drawingml/2006/main">
            <a:r>
              <a:t>    "legacy": 0.207244942,</a:t>
            </a:r>
          </a:p>
          <a:p xmlns:a="http://schemas.openxmlformats.org/drawingml/2006/main">
            <a:r>
              <a:t>    "candidate_units": "fraction",</a:t>
            </a:r>
          </a:p>
          <a:p xmlns:a="http://schemas.openxmlformats.org/drawingml/2006/main">
            <a:r>
              <a:t>    "legacy_units": "fraction",</a:t>
            </a:r>
          </a:p>
          <a:p xmlns:a="http://schemas.openxmlformats.org/drawingml/2006/main">
            <a:r>
              <a:t>    "units": "fraction",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"new-cohort value at installation period; distance outside legacy [minimum, maximum]",</a:t>
            </a:r>
          </a:p>
          <a:p xmlns:a="http://schemas.openxmlformats.org/drawingml/2006/main">
            <a:r>
              <a:t>    "delta": 0.02938202398402781,</a:t>
            </a:r>
          </a:p>
          <a:p xmlns:a="http://schemas.openxmlformats.org/drawingml/2006/main">
            <a:r>
              <a:t>    "absolute_difference": 0.02938202398402781,</a:t>
            </a:r>
          </a:p>
          <a:p xmlns:a="http://schemas.openxmlformats.org/drawingml/2006/main">
            <a:r>
              <a:t>    "relative_percent": 14.177438397520849,</a:t>
            </a:r>
          </a:p>
          <a:p xmlns:a="http://schemas.openxmlformats.org/drawingml/2006/main">
            <a:r>
              <a:t>    "comparison_period": 2025,</a:t>
            </a:r>
          </a:p>
          <a:p xmlns:a="http://schemas.openxmlformats.org/drawingml/2006/main">
            <a:r>
              <a:t>    "legacy_lower": 0.207037697058,</a:t>
            </a:r>
          </a:p>
          <a:p xmlns:a="http://schemas.openxmlformats.org/drawingml/2006/main">
            <a:r>
              <a:t>    "legacy_upper": 0.207244942,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"output_comm": "T_D_tkm_hdv_t",</a:t>
            </a:r>
          </a:p>
          <a:p xmlns:a="http://schemas.openxmlformats.org/drawingml/2006/main">
            <a:r>
              <a:t>    "tech_or_group": "T_HDV_T_DSL_N",</a:t>
            </a:r>
          </a:p>
          <a:p xmlns:a="http://schemas.openxmlformats.org/drawingml/2006/main">
            <a:r>
              <a:t>    "operator": "e",</a:t>
            </a:r>
          </a:p>
          <a:p xmlns:a="http://schemas.openxmlformats.org/drawingml/2006/main">
            <a:r>
              <a:t>    "legacy_bar_lower": 0.207037697058,</a:t>
            </a:r>
          </a:p>
          <a:p xmlns:a="http://schemas.openxmlformats.org/drawingml/2006/main">
            <a:r>
              <a:t>    "legacy_bar_upper": 0.207244942,</a:t>
            </a:r>
          </a:p>
          <a:p xmlns:a="http://schemas.openxmlformats.org/drawingml/2006/main">
            <a:r>
              <a:t>    "new_equality": 0.2366269659840278,</a:t>
            </a:r>
          </a:p>
          <a:p xmlns:a="http://schemas.openxmlformats.org/drawingml/2006/main">
            <a:r>
              <a:t>    "chart_scale_factor": 100,</a:t>
            </a:r>
          </a:p>
          <a:p xmlns:a="http://schemas.openxmlformats.org/drawingml/2006/main">
            <a:r>
              <a:t>    "display_units": "% of potential annual activity",</a:t>
            </a:r>
          </a:p>
          <a:p xmlns:a="http://schemas.openxmlformats.org/drawingml/2006/main">
            <a:r>
              <a:t>    "point_change_vs_upper": 2.938202398402781</a:t>
            </a:r>
          </a:p>
          <a:p xmlns:a="http://schemas.openxmlformats.org/drawingml/2006/main">
            <a:r>
              <a:t>  },</a:t>
            </a:r>
          </a:p>
          <a:p xmlns:a="http://schemas.openxmlformats.org/drawingml/2006/main">
            <a:r>
              <a:t>  {</a:t>
            </a:r>
          </a:p>
          <a:p xmlns:a="http://schemas.openxmlformats.org/drawingml/2006/main">
            <a:r>
              <a:t>    "label": "Intercity buses",</a:t>
            </a:r>
          </a:p>
          <a:p xmlns:a="http://schemas.openxmlformats.org/drawingml/2006/main">
            <a:r>
              <a:t>    "table": "limit_annual_capacity_factor",</a:t>
            </a:r>
          </a:p>
          <a:p xmlns:a="http://schemas.openxmlformats.org/drawingml/2006/main">
            <a:r>
              <a:t>    "region": "ON",</a:t>
            </a:r>
          </a:p>
          <a:p xmlns:a="http://schemas.openxmlformats.org/drawingml/2006/main">
            <a:r>
              <a:t>    "vintage": 2025,</a:t>
            </a:r>
          </a:p>
          <a:p xmlns:a="http://schemas.openxmlformats.org/drawingml/2006/main">
            <a:r>
              <a:t>    "keys": {</a:t>
            </a:r>
          </a:p>
          <a:p xmlns:a="http://schemas.openxmlformats.org/drawingml/2006/main">
            <a:r>
              <a:t>      "operator": "e",</a:t>
            </a:r>
          </a:p>
          <a:p xmlns:a="http://schemas.openxmlformats.org/drawingml/2006/main">
            <a:r>
              <a:t>      "output_comm": "T_D_pkm_hdv_bic",</a:t>
            </a:r>
          </a:p>
          <a:p xmlns:a="http://schemas.openxmlformats.org/drawingml/2006/main">
            <a:r>
              <a:t>      "region": "ON",</a:t>
            </a:r>
          </a:p>
          <a:p xmlns:a="http://schemas.openxmlformats.org/drawingml/2006/main">
            <a:r>
              <a:t>      "tech_or_group": "T_HDV_BIC_DSL_N",</a:t>
            </a:r>
          </a:p>
          <a:p xmlns:a="http://schemas.openxmlformats.org/drawingml/2006/main">
            <a:r>
              <a:t>      "vintage": 2025</a:t>
            </a:r>
          </a:p>
          <a:p xmlns:a="http://schemas.openxmlformats.org/drawingml/2006/main">
            <a:r>
              <a:t>    },</a:t>
            </a:r>
          </a:p>
          <a:p xmlns:a="http://schemas.openxmlformats.org/drawingml/2006/main">
            <a:r>
              <a:t>    "candidate": 0.052633521939548886,</a:t>
            </a:r>
          </a:p>
          <a:p xmlns:a="http://schemas.openxmlformats.org/drawingml/2006/main">
            <a:r>
              <a:t>    "legacy": 0.041296921,</a:t>
            </a:r>
          </a:p>
          <a:p xmlns:a="http://schemas.openxmlformats.org/drawingml/2006/main">
            <a:r>
              <a:t>    "candidate_units": "fraction",</a:t>
            </a:r>
          </a:p>
          <a:p xmlns:a="http://schemas.openxmlformats.org/drawingml/2006/main">
            <a:r>
              <a:t>    "legacy_units": "fraction",</a:t>
            </a:r>
          </a:p>
          <a:p xmlns:a="http://schemas.openxmlformats.org/drawingml/2006/main">
            <a:r>
              <a:t>    "units": "fraction",</a:t>
            </a:r>
          </a:p>
          <a:p xmlns:a="http://schemas.openxmlformats.org/drawingml/2006/main">
            <a:r>
              <a:t>    "unit_basis": "declared units",</a:t>
            </a:r>
          </a:p>
          <a:p xmlns:a="http://schemas.openxmlformats.org/drawingml/2006/main">
            <a:r>
              <a:t>    "comparison_grain": "new-cohort value at installation period; distance outside legacy [minimum, maximum]",</a:t>
            </a:r>
          </a:p>
          <a:p xmlns:a="http://schemas.openxmlformats.org/drawingml/2006/main">
            <a:r>
              <a:t>    "delta": 0.011336600939548885,</a:t>
            </a:r>
          </a:p>
          <a:p xmlns:a="http://schemas.openxmlformats.org/drawingml/2006/main">
            <a:r>
              <a:t>    "absolute_difference": 0.011336600939548885,</a:t>
            </a:r>
          </a:p>
          <a:p xmlns:a="http://schemas.openxmlformats.org/drawingml/2006/main">
            <a:r>
              <a:t>    "relative_percent": 27.451443509672032,</a:t>
            </a:r>
          </a:p>
          <a:p xmlns:a="http://schemas.openxmlformats.org/drawingml/2006/main">
            <a:r>
              <a:t>    "comparison_period": 2025,</a:t>
            </a:r>
          </a:p>
          <a:p xmlns:a="http://schemas.openxmlformats.org/drawingml/2006/main">
            <a:r>
              <a:t>    "legacy_lower": 0.041255624079,</a:t>
            </a:r>
          </a:p>
          <a:p xmlns:a="http://schemas.openxmlformats.org/drawingml/2006/main">
            <a:r>
              <a:t>    "legacy_upper": 0.041296921,</a:t>
            </a:r>
          </a:p>
          <a:p xmlns:a="http://schemas.openxmlformats.org/drawingml/2006/main">
            <a:r>
              <a:t>    "status": "different",</a:t>
            </a:r>
          </a:p>
          <a:p xmlns:a="http://schemas.openxmlformats.org/drawingml/2006/main">
            <a:r>
              <a:t>    "output_comm": "T_D_pkm_hdv_bic",</a:t>
            </a:r>
          </a:p>
          <a:p xmlns:a="http://schemas.openxmlformats.org/drawingml/2006/main">
            <a:r>
              <a:t>    "tech_or_group": "T_HDV_BIC_DSL_N",</a:t>
            </a:r>
          </a:p>
          <a:p xmlns:a="http://schemas.openxmlformats.org/drawingml/2006/main">
            <a:r>
              <a:t>    "operator": "e",</a:t>
            </a:r>
          </a:p>
          <a:p xmlns:a="http://schemas.openxmlformats.org/drawingml/2006/main">
            <a:r>
              <a:t>    "legacy_bar_lower": 0.041255624079,</a:t>
            </a:r>
          </a:p>
          <a:p xmlns:a="http://schemas.openxmlformats.org/drawingml/2006/main">
            <a:r>
              <a:t>    "legacy_bar_upper": 0.041296921,</a:t>
            </a:r>
          </a:p>
          <a:p xmlns:a="http://schemas.openxmlformats.org/drawingml/2006/main">
            <a:r>
              <a:t>    "new_equality": 0.052633521939548886,</a:t>
            </a:r>
          </a:p>
          <a:p xmlns:a="http://schemas.openxmlformats.org/drawingml/2006/main">
            <a:r>
              <a:t>    "chart_scale_factor": 100,</a:t>
            </a:r>
          </a:p>
          <a:p xmlns:a="http://schemas.openxmlformats.org/drawingml/2006/main">
            <a:r>
              <a:t>    "display_units": "% of potential annual activity",</a:t>
            </a:r>
          </a:p>
          <a:p xmlns:a="http://schemas.openxmlformats.org/drawingml/2006/main">
            <a:r>
              <a:t>    "point_change_vs_upper": 1.1336600939548886</a:t>
            </a:r>
          </a:p>
          <a:p xmlns:a="http://schemas.openxmlformats.org/drawingml/2006/main">
            <a:r>
              <a:t>  }</a:t>
            </a:r>
          </a:p>
          <a:p xmlns:a="http://schemas.openxmlformats.org/drawingml/2006/main">
            <a:r>
              <a:t>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29c7a233bc4cd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9931bb4d67418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f0ed28f8b46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906c835be24dc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f05155ccb6448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860fb89ca343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D98C4A4-D821-48EC-B9ED-478C4CB56F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81322F-E99D-48D4-9669-95A375DFD57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BC94B469-DDFF-4BCE-B9E5-B456236E36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7826B49-E257-4854-95DF-E6B99CB9B7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2A5AFA2-06A8-4FA8-8DC2-19355A0D91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34B5F00-5E54-48A8-B36A-5277282819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FB99CE2-8AB6-4B2E-B5D0-05DCFFB8BF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46031B1-90D7-42DB-A1F5-0881564D6D0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6437BB4-36DB-47EC-A6FE-E85C5205D20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CD700E4-A8E0-46ED-B518-21CEA2B69F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3ac85833e3439c" /><Relationship Type="http://schemas.openxmlformats.org/officeDocument/2006/relationships/slideLayout" Target="/ppt/slideLayouts/slideLayout1.xml" Id="R6219a5a24e4b4276" /><Relationship Type="http://schemas.openxmlformats.org/officeDocument/2006/relationships/slideLayout" Target="/ppt/slideLayouts/slideLayout2.xml" Id="R5ac793771d8443f3" /><Relationship Type="http://schemas.openxmlformats.org/officeDocument/2006/relationships/slideLayout" Target="/ppt/slideLayouts/slideLayout3.xml" Id="R0261033968a048c4" /><Relationship Type="http://schemas.openxmlformats.org/officeDocument/2006/relationships/slideLayout" Target="/ppt/slideLayouts/slideLayout4.xml" Id="Rf7ace71acadf4d33" /><Relationship Type="http://schemas.openxmlformats.org/officeDocument/2006/relationships/slideLayout" Target="/ppt/slideLayouts/slideLayout5.xml" Id="Rba92f6288df34a5c" /><Relationship Type="http://schemas.openxmlformats.org/officeDocument/2006/relationships/slideLayout" Target="/ppt/slideLayouts/slideLayout6.xml" Id="Ra4e9e8fb1e2b48a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19a5a24e4b4276"/>
    <p:sldLayoutId xmlns:r="http://schemas.openxmlformats.org/officeDocument/2006/relationships" id="2147483650" r:id="R5ac793771d8443f3"/>
    <p:sldLayoutId xmlns:r="http://schemas.openxmlformats.org/officeDocument/2006/relationships" id="2147483651" r:id="R0261033968a048c4"/>
    <p:sldLayoutId xmlns:r="http://schemas.openxmlformats.org/officeDocument/2006/relationships" id="2147483652" r:id="Rf7ace71acadf4d33"/>
    <p:sldLayoutId xmlns:r="http://schemas.openxmlformats.org/officeDocument/2006/relationships" id="2147483653" r:id="Rba92f6288df34a5c"/>
    <p:sldLayoutId xmlns:r="http://schemas.openxmlformats.org/officeDocument/2006/relationships" id="2147483654" r:id="Ra4e9e8fb1e2b48a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fd4da745c94b2d" /><Relationship Type="http://schemas.openxmlformats.org/officeDocument/2006/relationships/notesSlide" Target="/ppt/notesSlides/notesSlide1.xml" Id="Rb24799144f1a4f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506b9abc8e4411e" /><Relationship Type="http://schemas.openxmlformats.org/officeDocument/2006/relationships/chart" Target="/ppt/slides/charts/chart1.xml" Id="Rdd06ade3bedb4b7c" /><Relationship Type="http://schemas.openxmlformats.org/officeDocument/2006/relationships/notesSlide" Target="/ppt/notesSlides/notesSlide2.xml" Id="Red4b11549a84426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ed3d30f87474d78" /><Relationship Type="http://schemas.openxmlformats.org/officeDocument/2006/relationships/chart" Target="/ppt/slides/charts/chart2.xml" Id="Rc0e02971ee2543e2" /><Relationship Type="http://schemas.openxmlformats.org/officeDocument/2006/relationships/notesSlide" Target="/ppt/notesSlides/notesSlide3.xml" Id="Ra81182accdae4b6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497d85971e4df3" /><Relationship Type="http://schemas.openxmlformats.org/officeDocument/2006/relationships/chart" Target="/ppt/slides/charts/chart3.xml" Id="R63503342f4a74b83" /><Relationship Type="http://schemas.openxmlformats.org/officeDocument/2006/relationships/notesSlide" Target="/ppt/notesSlides/notesSlide4.xml" Id="Rea4348dda2844b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fba27a3274169" /><Relationship Type="http://schemas.openxmlformats.org/officeDocument/2006/relationships/chart" Target="/ppt/slides/charts/chart4.xml" Id="R292b1b5d7833407a" /><Relationship Type="http://schemas.openxmlformats.org/officeDocument/2006/relationships/chart" Target="/ppt/slides/charts/chart5.xml" Id="R56c78a5db1304b5f" /><Relationship Type="http://schemas.openxmlformats.org/officeDocument/2006/relationships/notesSlide" Target="/ppt/notesSlides/notesSlide5.xml" Id="R3bcb08e39fdd448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f83bf522a14480" /><Relationship Type="http://schemas.openxmlformats.org/officeDocument/2006/relationships/chart" Target="/ppt/slides/charts/chart6.xml" Id="Rb331f540bed047e9" /><Relationship Type="http://schemas.openxmlformats.org/officeDocument/2006/relationships/notesSlide" Target="/ppt/notesSlides/notesSlide6.xml" Id="R77a1bd94791c4c6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537137a12a413b" /><Relationship Type="http://schemas.openxmlformats.org/officeDocument/2006/relationships/chart" Target="/ppt/slides/charts/chart7.xml" Id="Re002541ae3a74a96" /><Relationship Type="http://schemas.openxmlformats.org/officeDocument/2006/relationships/notesSlide" Target="/ppt/notesSlides/notesSlide7.xml" Id="Rf7cea83ee12d419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451fe226274685" /><Relationship Type="http://schemas.openxmlformats.org/officeDocument/2006/relationships/chart" Target="/ppt/slides/charts/chart8.xml" Id="R05209ee5903f4eed" /><Relationship Type="http://schemas.openxmlformats.org/officeDocument/2006/relationships/notesSlide" Target="/ppt/notesSlides/notesSlide8.xml" Id="Rce9c4e842a384f8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38f1c017b144fb1" /><Relationship Type="http://schemas.openxmlformats.org/officeDocument/2006/relationships/chart" Target="/ppt/slides/charts/chart9.xml" Id="Rbc5f70c1c26f4db5" /><Relationship Type="http://schemas.openxmlformats.org/officeDocument/2006/relationships/notesSlide" Target="/ppt/notesSlides/notesSlide9.xml" Id="R03f90aa737bc465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5203db1e4f4150" /><Relationship Type="http://schemas.openxmlformats.org/officeDocument/2006/relationships/chart" Target="/ppt/slides/charts/chart10.xml" Id="R01b815b29af44e8c" /><Relationship Type="http://schemas.openxmlformats.org/officeDocument/2006/relationships/notesSlide" Target="/ppt/notesSlides/notesSlide10.xml" Id="R7e744b3703cf47d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5f6570e1be40fe" /><Relationship Type="http://schemas.openxmlformats.org/officeDocument/2006/relationships/chart" Target="/ppt/slides/charts/chart11.xml" Id="R7dfa10a96ae74e7e" /><Relationship Type="http://schemas.openxmlformats.org/officeDocument/2006/relationships/notesSlide" Target="/ppt/notesSlides/notesSlide11.xml" Id="R3de4aeb6e6014be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d12a7471a1b4651" /><Relationship Type="http://schemas.openxmlformats.org/officeDocument/2006/relationships/chart" Target="/ppt/slides/charts/chart12.xml" Id="R1110026a082f4b34" /><Relationship Type="http://schemas.openxmlformats.org/officeDocument/2006/relationships/notesSlide" Target="/ppt/notesSlides/notesSlide12.xml" Id="Re45e71fa672b482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53ebb1195334894" /><Relationship Type="http://schemas.openxmlformats.org/officeDocument/2006/relationships/chart" Target="/ppt/slides/charts/chart13.xml" Id="R7b6b9609528b4390" /><Relationship Type="http://schemas.openxmlformats.org/officeDocument/2006/relationships/notesSlide" Target="/ppt/notesSlides/notesSlide13.xml" Id="R6db8e3b700b446d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_rels/chart10.xml.rels><Relationships xmlns="http://schemas.openxmlformats.org/package/2006/relationships"><Relationship Id="rIdChartSnapshot1" Type="http://schemas.openxmlformats.org/officeDocument/2006/relationships/package" Target="../../embeddings/chart-data-snapshot-010.xlsx"/></Relationships>
</file>

<file path=ppt/slides/charts/_rels/chart11.xml.rels><Relationships xmlns="http://schemas.openxmlformats.org/package/2006/relationships"><Relationship Id="rIdChartSnapshot1" Type="http://schemas.openxmlformats.org/officeDocument/2006/relationships/package" Target="../../embeddings/chart-data-snapshot-011.xlsx"/></Relationships>
</file>

<file path=ppt/slides/charts/_rels/chart12.xml.rels><Relationships xmlns="http://schemas.openxmlformats.org/package/2006/relationships"><Relationship Id="rIdChartSnapshot1" Type="http://schemas.openxmlformats.org/officeDocument/2006/relationships/package" Target="../../embeddings/chart-data-snapshot-012.xlsx"/></Relationships>
</file>

<file path=ppt/slides/charts/_rels/chart13.xml.rels><Relationships xmlns="http://schemas.openxmlformats.org/package/2006/relationships"><Relationship Id="rIdChartSnapshot1" Type="http://schemas.openxmlformats.org/officeDocument/2006/relationships/package" Target="../../embeddings/chart-data-snapshot-01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MHDV chargers</c:v>
                </c:pt>
                <c:pt idx="1">
                  <c:v>LDV chargers</c:v>
                </c:pt>
              </c:strCache>
            </c:strRef>
          </c:cat>
          <c:val>
            <c:numRef>
              <c:f>'Chart Data'!$B$2:$B$3</c:f>
              <c:numCache>
                <c:formatCode>0.0%</c:formatCode>
                <c:ptCount val="2"/>
                <c:pt idx="0">
                  <c:v>0.006289383505</c:v>
                </c:pt>
                <c:pt idx="1">
                  <c:v>0.00876716222</c:v>
                </c:pt>
              </c:numCache>
            </c:numRef>
          </c:val>
        </c:ser>
        <c:dLbls>
          <c:numFmt formatCode="+0.00%;-0.00%;0.0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12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Data'!$A$2:$A$6</c:f>
              <c:strCache>
                <c:ptCount val="5"/>
                <c:pt idx="0">
                  <c:v>Passenger air, jet fuel</c:v>
                </c:pt>
                <c:pt idx="1">
                  <c:v>Passenger rail, diesel</c:v>
                </c:pt>
                <c:pt idx="2">
                  <c:v>Air freight, jet fuel</c:v>
                </c:pt>
                <c:pt idx="3">
                  <c:v>Rail freight, diesel</c:v>
                </c:pt>
                <c:pt idx="4">
                  <c:v>Marine freight, MDO</c:v>
                </c:pt>
              </c:strCache>
            </c:strRef>
          </c:cat>
          <c:val>
            <c:numRef>
              <c:f>'Chart Data'!$B$2:$B$6</c:f>
              <c:numCache>
                <c:formatCode>0%</c:formatCode>
                <c:ptCount val="5"/>
                <c:pt idx="0">
                  <c:v>0.5250576336</c:v>
                </c:pt>
                <c:pt idx="1">
                  <c:v>2.490571153</c:v>
                </c:pt>
                <c:pt idx="2">
                  <c:v>1.252294725</c:v>
                </c:pt>
                <c:pt idx="3">
                  <c:v>0.4369542044</c:v>
                </c:pt>
                <c:pt idx="4">
                  <c:v>6.565467214</c:v>
                </c:pt>
              </c:numCache>
            </c:numRef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Heavy truck, BEV</c:v>
                </c:pt>
                <c:pt idx="1">
                  <c:v>Heavy truck, diesel</c:v>
                </c:pt>
                <c:pt idx="2">
                  <c:v>Medium truck, gasoline</c:v>
                </c:pt>
                <c:pt idx="3">
                  <c:v>Medium truck, diesel</c:v>
                </c:pt>
                <c:pt idx="4">
                  <c:v>Light truck, gasoline</c:v>
                </c:pt>
                <c:pt idx="5">
                  <c:v>Car, gasoline</c:v>
                </c:pt>
              </c:strCache>
            </c:strRef>
          </c:cat>
          <c:val>
            <c:numRef>
              <c:f>'Chart Data'!$B$2:$B$7</c:f>
              <c:numCache>
                <c:formatCode>0.0%</c:formatCode>
                <c:ptCount val="6"/>
                <c:pt idx="0">
                  <c:v>-0.2869441773</c:v>
                </c:pt>
                <c:pt idx="1">
                  <c:v>-0.2639054799</c:v>
                </c:pt>
                <c:pt idx="2">
                  <c:v>-0.2554183138</c:v>
                </c:pt>
                <c:pt idx="3">
                  <c:v>-0.2447532241</c:v>
                </c:pt>
                <c:pt idx="4">
                  <c:v>-0.07641558958</c:v>
                </c:pt>
                <c:pt idx="5">
                  <c:v>-0.06397630681</c:v>
                </c:pt>
              </c:numCache>
            </c:numRef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25"/>
          <c:min val="-0.4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Marine freight: million 2020 CAD / bn tonne-km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Ref>
              <c:f>'Chart Data'!$A$2:$A$2</c:f>
              <c:strCache>
                <c:ptCount val="1"/>
                <c:pt idx="0">
                  <c:v>Marine diesel oil</c:v>
                </c:pt>
              </c:strCache>
            </c:strRef>
          </c:cat>
          <c:val>
            <c:numRef>
              <c:f>'Chart Data'!$B$2:$B$2</c:f>
              <c:numCache>
                <c:formatCode>0.00</c:formatCode>
                <c:ptCount val="1"/>
                <c:pt idx="0">
                  <c:v>0.035749317</c:v>
                </c:pt>
              </c:numCache>
            </c:numRef>
          </c:val>
        </c:ser>
        <c:ser>
          <c:idx val="1"/>
          <c:order val="1"/>
          <c:tx>
            <c:v>New backend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Data'!$C$2:$C$2</c:f>
              <c:strCache>
                <c:ptCount val="1"/>
                <c:pt idx="0">
                  <c:v>Marine diesel oil</c:v>
                </c:pt>
              </c:strCache>
            </c:strRef>
          </c:cat>
          <c:val>
            <c:numRef>
              <c:f>'Chart Data'!$D$2:$D$2</c:f>
              <c:numCache>
                <c:formatCode>0.00</c:formatCode>
                <c:ptCount val="1"/>
                <c:pt idx="0">
                  <c:v>7.985748962</c:v>
                </c:pt>
              </c:numCache>
            </c:numRef>
          </c:val>
        </c:ser>
        <c:dLbls>
          <c:numFmt formatCode="#,##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Other modes: 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Passenger air</c:v>
                </c:pt>
                <c:pt idx="1">
                  <c:v>Passenger rail</c:v>
                </c:pt>
                <c:pt idx="2">
                  <c:v>Air freight</c:v>
                </c:pt>
                <c:pt idx="3">
                  <c:v>Rail freight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1.219003298</c:v>
                </c:pt>
                <c:pt idx="1">
                  <c:v>2.490571153</c:v>
                </c:pt>
                <c:pt idx="2">
                  <c:v>4.144166209</c:v>
                </c:pt>
                <c:pt idx="3">
                  <c:v>0.4369542044</c:v>
                </c:pt>
              </c:numCache>
            </c:numRef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5.5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Heavy truck, diesel</c:v>
                </c:pt>
                <c:pt idx="1">
                  <c:v>Medium truck, diesel</c:v>
                </c:pt>
                <c:pt idx="2">
                  <c:v>Transit bus, diesel</c:v>
                </c:pt>
                <c:pt idx="3">
                  <c:v>School bus, diesel</c:v>
                </c:pt>
                <c:pt idx="4">
                  <c:v>Light truck, gasoline</c:v>
                </c:pt>
                <c:pt idx="5">
                  <c:v>Car, gasoline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-0.1675300544</c:v>
                </c:pt>
                <c:pt idx="1">
                  <c:v>-0.2706970765</c:v>
                </c:pt>
                <c:pt idx="2">
                  <c:v>-0.284192278</c:v>
                </c:pt>
                <c:pt idx="3">
                  <c:v>-0.8653328364</c:v>
                </c:pt>
                <c:pt idx="4">
                  <c:v>0.8628758454</c:v>
                </c:pt>
                <c:pt idx="5">
                  <c:v>0.9291041718</c:v>
                </c:pt>
              </c:numCache>
            </c:numRef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2"/>
          <c:min val="-1.2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Passenger air</c:v>
                </c:pt>
                <c:pt idx="1">
                  <c:v>Heavy trucks</c:v>
                </c:pt>
                <c:pt idx="2">
                  <c:v>Passenger light trucks</c:v>
                </c:pt>
                <c:pt idx="3">
                  <c:v>Cars</c:v>
                </c:pt>
                <c:pt idx="4">
                  <c:v>Intercity bus</c:v>
                </c:pt>
                <c:pt idx="5">
                  <c:v>Marine freight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0.08322320902</c:v>
                </c:pt>
                <c:pt idx="1">
                  <c:v>0.04381084382</c:v>
                </c:pt>
                <c:pt idx="2">
                  <c:v>0.01859823908</c:v>
                </c:pt>
                <c:pt idx="3">
                  <c:v>-0.2870769734</c:v>
                </c:pt>
                <c:pt idx="4">
                  <c:v>-0.5852967759</c:v>
                </c:pt>
                <c:pt idx="5">
                  <c:v>-0.8499104701</c:v>
                </c:pt>
              </c:numCache>
            </c:numRef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2"/>
          <c:min val="-1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Billion passenger-km / PJ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Transit bus, CNG</c:v>
                </c:pt>
                <c:pt idx="1">
                  <c:v>Transit bus, diesel</c:v>
                </c:pt>
                <c:pt idx="2">
                  <c:v>School bus, gasoline</c:v>
                </c:pt>
                <c:pt idx="3">
                  <c:v>School bus, diesel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0.458794084</c:v>
                </c:pt>
                <c:pt idx="1">
                  <c:v>0.539757746</c:v>
                </c:pt>
                <c:pt idx="2">
                  <c:v>1.862472082</c:v>
                </c:pt>
                <c:pt idx="3">
                  <c:v>2.234966498</c:v>
                </c:pt>
              </c:numCache>
            </c:numRef>
          </c:val>
        </c:ser>
        <c:ser>
          <c:idx val="1"/>
          <c:order val="1"/>
          <c:tx>
            <c:v>New backend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Transit bus, CNG</c:v>
                </c:pt>
                <c:pt idx="1">
                  <c:v>Transit bus, diesel</c:v>
                </c:pt>
                <c:pt idx="2">
                  <c:v>School bus, gasoline</c:v>
                </c:pt>
                <c:pt idx="3">
                  <c:v>School bus, diesel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1.188124447</c:v>
                </c:pt>
                <c:pt idx="1">
                  <c:v>1.188124447</c:v>
                </c:pt>
                <c:pt idx="2">
                  <c:v>3.562951106</c:v>
                </c:pt>
                <c:pt idx="3">
                  <c:v>3.562951106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4.5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Billion tonne-km / PJ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Marine diesel oil</c:v>
                </c:pt>
                <c:pt idx="1">
                  <c:v>Heavy fuel oil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6.384609746</c:v>
                </c:pt>
                <c:pt idx="1">
                  <c:v>6.667421446</c:v>
                </c:pt>
              </c:numCache>
            </c:numRef>
          </c:val>
        </c:ser>
        <c:ser>
          <c:idx val="1"/>
          <c:order val="1"/>
          <c:tx>
            <c:v>New backend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Marine diesel oil</c:v>
                </c:pt>
                <c:pt idx="1">
                  <c:v>Heavy fuel oil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3.81354621</c:v>
                </c:pt>
                <c:pt idx="1">
                  <c:v>3.735869847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8.3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0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Billion passenger-km / PJ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Passenger light truck, PHEV</c:v>
                </c:pt>
                <c:pt idx="1">
                  <c:v>Car, PHEV</c:v>
                </c:pt>
                <c:pt idx="2">
                  <c:v>Passenger light truck, BEV</c:v>
                </c:pt>
                <c:pt idx="3">
                  <c:v>Car, BEV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1.378083008</c:v>
                </c:pt>
                <c:pt idx="1">
                  <c:v>1.493019906</c:v>
                </c:pt>
                <c:pt idx="2">
                  <c:v>1.910662653</c:v>
                </c:pt>
                <c:pt idx="3">
                  <c:v>2.324932649</c:v>
                </c:pt>
              </c:numCache>
            </c:numRef>
          </c:val>
        </c:ser>
        <c:ser>
          <c:idx val="1"/>
          <c:order val="1"/>
          <c:tx>
            <c:v>New backend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Passenger light truck, PHEV</c:v>
                </c:pt>
                <c:pt idx="1">
                  <c:v>Car, PHEV</c:v>
                </c:pt>
                <c:pt idx="2">
                  <c:v>Passenger light truck, BEV</c:v>
                </c:pt>
                <c:pt idx="3">
                  <c:v>Car, BEV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1.161359143</c:v>
                </c:pt>
                <c:pt idx="1">
                  <c:v>1.815040585</c:v>
                </c:pt>
                <c:pt idx="2">
                  <c:v>2.201357889</c:v>
                </c:pt>
                <c:pt idx="3">
                  <c:v>2.399457822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Change from legacy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Change from legacy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Heavy trucks, all powertrains</c:v>
                </c:pt>
                <c:pt idx="1">
                  <c:v>Medium trucks, all powertrains</c:v>
                </c:pt>
                <c:pt idx="2">
                  <c:v>Passenger light trucks, all powertrains</c:v>
                </c:pt>
                <c:pt idx="3">
                  <c:v>Cars, all powertrains</c:v>
                </c:pt>
                <c:pt idx="4">
                  <c:v>Marine freight, MDO</c:v>
                </c:pt>
                <c:pt idx="5">
                  <c:v>Marine freight, HFO</c:v>
                </c:pt>
              </c:strCache>
            </c:str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0.06381201877</c:v>
                </c:pt>
                <c:pt idx="1">
                  <c:v>0.1006035143</c:v>
                </c:pt>
                <c:pt idx="2">
                  <c:v>0.1427702502</c:v>
                </c:pt>
                <c:pt idx="3">
                  <c:v>-0.0551060849</c:v>
                </c:pt>
                <c:pt idx="4">
                  <c:v>-0.8448395397</c:v>
                </c:pt>
                <c:pt idx="5">
                  <c:v>-0.8406807461</c:v>
                </c:pt>
              </c:numCache>
            </c:numRef>
          </c:val>
        </c:ser>
        <c:dLbls>
          <c:numFmt formatCode="+0.0%;-0.0%;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4"/>
          <c:min val="-1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Installed charger capacity (GW)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 inventory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MHDV chargers</c:v>
                </c:pt>
                <c:pt idx="1">
                  <c:v>LDV chargers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0.244281279</c:v>
                </c:pt>
                <c:pt idx="1">
                  <c:v>0.253270711</c:v>
                </c:pt>
              </c:numCache>
            </c:numRef>
          </c:val>
        </c:ser>
        <c:ser>
          <c:idx val="1"/>
          <c:order val="1"/>
          <c:tx>
            <c:v>New 2023 inventory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MHDV chargers</c:v>
                </c:pt>
                <c:pt idx="1">
                  <c:v>LDV chargers</c:v>
                </c:pt>
              </c:strCache>
            </c:strRef>
          </c:cat>
          <c:val>
            <c:numRef>
              <c:f>'Chart Data'!$D$2:$D$3</c:f>
              <c:numCache>
                <c:formatCode>0.00</c:formatCode>
                <c:ptCount val="2"/>
                <c:pt idx="0">
                  <c:v>0.2118184851</c:v>
                </c:pt>
                <c:pt idx="1">
                  <c:v>0.8870326014</c:v>
                </c:pt>
              </c:numCache>
            </c:numRef>
          </c:val>
        </c:ser>
        <c:dLbls>
          <c:numFmt formatCode="#,##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.12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charts/chart13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5A6D63"/>
                </a:solidFill>
                <a:latin typeface="Arial"/>
                <a:ea typeface="Arial"/>
                <a:cs typeface="Arial"/>
              </a:rPr>
              <a:t>Annual capacity factor (%)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Legacy upper limit</c:v>
          </c:tx>
          <c:spPr>
            <a:solidFill xmlns:a="http://schemas.openxmlformats.org/drawingml/2006/main">
              <a:srgbClr val="919B97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Intercity buses</c:v>
                </c:pt>
                <c:pt idx="1">
                  <c:v>Heavy trucks</c:v>
                </c:pt>
                <c:pt idx="2">
                  <c:v>Medium trucks</c:v>
                </c:pt>
                <c:pt idx="3">
                  <c:v>Cars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4.1296921</c:v>
                </c:pt>
                <c:pt idx="1">
                  <c:v>20.7244942</c:v>
                </c:pt>
                <c:pt idx="2">
                  <c:v>2.6242254</c:v>
                </c:pt>
                <c:pt idx="3">
                  <c:v>1.8861811</c:v>
                </c:pt>
              </c:numCache>
            </c:numRef>
          </c:val>
        </c:ser>
        <c:ser>
          <c:idx val="1"/>
          <c:order val="1"/>
          <c:tx>
            <c:v>New fixed value</c:v>
          </c:tx>
          <c:spPr>
            <a:solidFill xmlns:a="http://schemas.openxmlformats.org/drawingml/2006/main">
              <a:srgbClr val="17795E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Intercity buses</c:v>
                </c:pt>
                <c:pt idx="1">
                  <c:v>Heavy trucks</c:v>
                </c:pt>
                <c:pt idx="2">
                  <c:v>Medium trucks</c:v>
                </c:pt>
                <c:pt idx="3">
                  <c:v>Cars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5.263352194</c:v>
                </c:pt>
                <c:pt idx="1">
                  <c:v>23.6626966</c:v>
                </c:pt>
                <c:pt idx="2">
                  <c:v>2.895375424</c:v>
                </c:pt>
                <c:pt idx="3">
                  <c:v>2.075689111</c:v>
                </c:pt>
              </c:numCache>
            </c:numRef>
          </c:val>
        </c:ser>
        <c:dLbls>
          <c:numFmt formatCode="#,##0.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 b="1">
                  <a:solidFill>
                    <a:srgbClr val="263C34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tickLblPos val="low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b"/>
        <c:majorGridlines>
          <c:spPr>
            <a:ln xmlns:a="http://schemas.openxmlformats.org/drawingml/2006/main" w="4763">
              <a:solidFill>
                <a:srgbClr val="D8E2D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4763">
            <a:solidFill>
              <a:srgbClr val="D8E2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5A6D63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F3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ANOE TRANSPORTATION">
            <a:extLst xmlns:a="http://schemas.openxmlformats.org/drawingml/2006/main">
              <a:ext uri="{FF2B5EF4-FFF2-40B4-BE49-F238E27FC236}">
                <a16:creationId xmlns:a16="http://schemas.microsoft.com/office/drawing/2014/main" id="{4A4F636B-461A-4CE6-A391-6F481C46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575" b="0">
                <a:solidFill>
                  <a:srgbClr val="B6CEC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B6CEC2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B6CEC2"/>
                </a:solidFill>
                <a:latin typeface="Arial"/>
                <a:ea typeface="Arial"/>
                <a:cs typeface="Arial"/>
              </a:rPr>
              <a:t>CANOE TRANSPORTATION</a:t>
            </a:r>
          </a:p>
        </p:txBody>
      </p:sp>
      <p:sp>
        <p:nvSpPr>
          <p:cNvPr id="2" name="Legacy and new backend&#10;Observed differences">
            <a:extLst xmlns:a="http://schemas.openxmlformats.org/drawingml/2006/main">
              <a:ext uri="{FF2B5EF4-FFF2-40B4-BE49-F238E27FC236}">
                <a16:creationId xmlns:a16="http://schemas.microsoft.com/office/drawing/2014/main" id="{1A90353C-F118-46B5-BCC2-D01B0D05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14450"/>
            <a:ext cx="10858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Legacy and new backend</a:t>
            </a:r>
          </a:p>
          <a:p xmlns:a="http://schemas.openxmlformats.org/drawingml/2006/main">
            <a:pPr>
              <a:defRPr sz="4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Observed differences</a:t>
            </a:r>
          </a:p>
        </p:txBody>
      </p:sp>
      <p:sp>
        <p:nvSpPr>
          <p:cNvPr id="3" name="Ontario comparison">
            <a:extLst xmlns:a="http://schemas.openxmlformats.org/drawingml/2006/main">
              <a:ext uri="{FF2B5EF4-FFF2-40B4-BE49-F238E27FC236}">
                <a16:creationId xmlns:a16="http://schemas.microsoft.com/office/drawing/2014/main" id="{B4DB0E4D-01C3-46C4-8A39-AE1E94941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40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Ontario comparison</a:t>
            </a:r>
          </a:p>
        </p:txBody>
      </p:sp>
      <p:sp>
        <p:nvSpPr>
          <p:cNvPr id="4" name="Legacy: canoe_transport_baseline.sqlite&#10;New: leg">
            <a:extLst xmlns:a="http://schemas.openxmlformats.org/drawingml/2006/main">
              <a:ext uri="{FF2B5EF4-FFF2-40B4-BE49-F238E27FC236}">
                <a16:creationId xmlns:a16="http://schemas.microsoft.com/office/drawing/2014/main" id="{7F3B442D-4868-4169-87EC-08910AB30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57625"/>
            <a:ext cx="108585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Legacy: canoe_transport_baseline.sqlite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New: legacy_reproduction.sqlite, generated 13 October 2026</a:t>
            </a:r>
          </a:p>
        </p:txBody>
      </p:sp>
      <p:sp>
        <p:nvSpPr>
          <p:cNvPr id="5" name="Seven parameters, grouped by affected technology">
            <a:extLst xmlns:a="http://schemas.openxmlformats.org/drawingml/2006/main">
              <a:ext uri="{FF2B5EF4-FFF2-40B4-BE49-F238E27FC236}">
                <a16:creationId xmlns:a16="http://schemas.microsoft.com/office/drawing/2014/main" id="{B8AC2E93-A1C2-4C24-A6A5-49330F55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Seven parameters, grouped by affected technology and difference driver.</a:t>
            </a:r>
          </a:p>
          <a:p xmlns:a="http://schemas.openxmlformats.org/drawingml/2006/main">
            <a: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Bars show selected class examples. Percentage changes use the legacy value as the base.</a:t>
            </a:r>
          </a:p>
          <a:p xmlns:a="http://schemas.openxmlformats.org/drawingml/2006/main">
            <a:pPr>
              <a:defRPr sz="1650" b="0">
                <a:solidFill>
                  <a:srgbClr val="CEE2D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EE2D8"/>
                </a:solidFill>
                <a:latin typeface="Arial"/>
                <a:ea typeface="Arial"/>
                <a:cs typeface="Arial"/>
              </a:rPr>
              <a:t>Most future examples use 2025 model values. Each slide states its time slice.</a:t>
            </a:r>
          </a:p>
        </p:txBody>
      </p:sp>
    </p:spTree>
    <p:extLst>
      <p:ext uri="{BB962C8B-B14F-4D97-AF65-F5344CB8AC3E}">
        <p14:creationId xmlns:p14="http://schemas.microsoft.com/office/powerpoint/2010/main" val="788607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ost_fixed">
            <a:extLst xmlns:a="http://schemas.openxmlformats.org/drawingml/2006/main">
              <a:ext uri="{FF2B5EF4-FFF2-40B4-BE49-F238E27FC236}">
                <a16:creationId xmlns:a16="http://schemas.microsoft.com/office/drawing/2014/main" id="{616DEE90-684B-4C52-872A-D0221486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cost_fixed</a:t>
            </a:r>
          </a:p>
        </p:txBody>
      </p:sp>
      <p:sp>
        <p:nvSpPr>
          <p:cNvPr id="2" name="Small differences in charger fixed costs">
            <a:extLst xmlns:a="http://schemas.openxmlformats.org/drawingml/2006/main">
              <a:ext uri="{FF2B5EF4-FFF2-40B4-BE49-F238E27FC236}">
                <a16:creationId xmlns:a16="http://schemas.microsoft.com/office/drawing/2014/main" id="{D3C2C5BC-23A1-4E2E-A990-70F4AC5E2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Small differences in charger fixed costs</a:t>
            </a:r>
          </a:p>
        </p:txBody>
      </p:sp>
      <p:sp>
        <p:nvSpPr>
          <p:cNvPr id="3" name="2025 vintage and period. Both charger classes di">
            <a:extLst xmlns:a="http://schemas.openxmlformats.org/drawingml/2006/main">
              <a:ext uri="{FF2B5EF4-FFF2-40B4-BE49-F238E27FC236}">
                <a16:creationId xmlns:a16="http://schemas.microsoft.com/office/drawing/2014/main" id="{E3397376-5486-4F97-8F74-6F866582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 and period. Both charger classes differ by less than 1% in this example.</a:t>
            </a:r>
          </a:p>
        </p:txBody>
      </p:sp>
      <p:sp>
        <p:nvSpPr>
          <p:cNvPr id="4" name="Ontario. Matching legacy class rates bridge to t">
            <a:extLst xmlns:a="http://schemas.openxmlformats.org/drawingml/2006/main">
              <a:ext uri="{FF2B5EF4-FFF2-40B4-BE49-F238E27FC236}">
                <a16:creationId xmlns:a16="http://schemas.microsoft.com/office/drawing/2014/main" id="{83C09603-E930-401B-857B-8B3F1C76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Matching legacy class rates bridge to the new shared charger classes.</a:t>
            </a:r>
          </a:p>
        </p:txBody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E05787A8-0635-411E-BEF1-3FC792121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306498B-9014-4F00-AAA5-25586C279CC1}"/>
              </a:ext>
            </a:extLst>
          </p:cNvPr>
          <p:cNvGraphicFramePr/>
          <p:nvPr/>
        </p:nvGraphicFramePr>
        <p:xfrm>
          <a:off xmlns:a="http://schemas.openxmlformats.org/drawingml/2006/main" x="523875" y="1924050"/>
          <a:ext xmlns:a="http://schemas.openxmlformats.org/drawingml/2006/main" cx="6858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06ade3bedb4b7c"/>
          </a:graphicData>
        </a:graphic>
      </p:graphicFrame>
      <p:sp>
        <p:nvSpPr>
          <p:cNvPr id="7" name="Rounded aggregation weights">
            <a:extLst xmlns:a="http://schemas.openxmlformats.org/drawingml/2006/main">
              <a:ext uri="{FF2B5EF4-FFF2-40B4-BE49-F238E27FC236}">
                <a16:creationId xmlns:a16="http://schemas.microsoft.com/office/drawing/2014/main" id="{AB0FBFF5-7D6E-4209-BA3A-9D123CF3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143125"/>
            <a:ext cx="3619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232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Rounded aggregation weights</a:t>
            </a:r>
          </a:p>
        </p:txBody>
      </p:sp>
      <p:sp>
        <p:nvSpPr>
          <p:cNvPr id="8" name="LDV and MHDV chargers share the same reported di">
            <a:extLst xmlns:a="http://schemas.openxmlformats.org/drawingml/2006/main">
              <a:ext uri="{FF2B5EF4-FFF2-40B4-BE49-F238E27FC236}">
                <a16:creationId xmlns:a16="http://schemas.microsoft.com/office/drawing/2014/main" id="{9DA60D5B-7281-44E9-8A61-F66669B6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190875"/>
            <a:ext cx="3619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0">
                <a:solidFill>
                  <a:srgbClr val="263C3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263C3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63C34"/>
                </a:solidFill>
                <a:latin typeface="Arial"/>
                <a:ea typeface="Arial"/>
                <a:cs typeface="Arial"/>
              </a:rPr>
              <a:t>LDV and MHDV chargers share the same reported difference driver.</a:t>
            </a:r>
          </a:p>
        </p:txBody>
      </p:sp>
      <p:graphicFrame>
        <p:nvGraphicFrame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471705-1368-4DAF-9FCF-A0FC0A96FEBE}"/>
              </a:ext>
            </a:extLst>
          </p:cNvPr>
          <p:cNvGraphicFramePr/>
          <p:nvPr/>
        </p:nvGraphicFramePr>
        <p:xfrm>
          <a:off xmlns:a="http://schemas.openxmlformats.org/drawingml/2006/main" x="514350" y="4972050"/>
          <a:ext xmlns:a="http://schemas.openxmlformats.org/drawingml/2006/main" cx="11163300" cy="1266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81250"/>
                <a:gridCol w="1809750"/>
                <a:gridCol w="2000250"/>
                <a:gridCol w="497205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Cost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LDV chargers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16.064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16.205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Million 2020 CAD / GW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MHDV chargers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11.989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12.065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Million 2020 CAD / GW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36501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st_invest">
            <a:extLst xmlns:a="http://schemas.openxmlformats.org/drawingml/2006/main">
              <a:ext uri="{FF2B5EF4-FFF2-40B4-BE49-F238E27FC236}">
                <a16:creationId xmlns:a16="http://schemas.microsoft.com/office/drawing/2014/main" id="{ECF6E4DF-15A9-47D2-9FD5-87EC5BD39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cost_invest</a:t>
            </a:r>
          </a:p>
        </p:txBody>
      </p:sp>
      <p:sp>
        <p:nvSpPr>
          <p:cNvPr id="2" name="Investment cost for heavy off-road modes">
            <a:extLst xmlns:a="http://schemas.openxmlformats.org/drawingml/2006/main">
              <a:ext uri="{FF2B5EF4-FFF2-40B4-BE49-F238E27FC236}">
                <a16:creationId xmlns:a16="http://schemas.microsoft.com/office/drawing/2014/main" id="{C3D4873E-8F17-4CE8-B1E2-7A6D534E7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Investment cost for heavy off-road modes</a:t>
            </a:r>
          </a:p>
        </p:txBody>
      </p:sp>
      <p:sp>
        <p:nvSpPr>
          <p:cNvPr id="3" name="2025 vintage. Differences reflect capital costs ">
            <a:extLst xmlns:a="http://schemas.openxmlformats.org/drawingml/2006/main">
              <a:ext uri="{FF2B5EF4-FFF2-40B4-BE49-F238E27FC236}">
                <a16:creationId xmlns:a16="http://schemas.microsoft.com/office/drawing/2014/main" id="{5D34C509-8B5F-4A07-A08E-5604D089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vintage. Differences reflect capital costs per unit of transport service.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F17F9613-5964-4EE1-95F8-556CBA09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1E3852A1-852E-4143-BF35-F857DD6D8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6E9DE33-F93F-4D17-B578-C1FB4121EECA}"/>
              </a:ext>
            </a:extLst>
          </p:cNvPr>
          <p:cNvGraphicFramePr/>
          <p:nvPr/>
        </p:nvGraphicFramePr>
        <p:xfrm>
          <a:off xmlns:a="http://schemas.openxmlformats.org/drawingml/2006/main" x="514350" y="1819275"/>
          <a:ext xmlns:a="http://schemas.openxmlformats.org/drawingml/2006/main" cx="11163300" cy="2838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0e02971ee2543e2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0D58A6-BC17-46A5-AFA7-FF7FDB3DA7C7}"/>
              </a:ext>
            </a:extLst>
          </p:cNvPr>
          <p:cNvGraphicFramePr/>
          <p:nvPr/>
        </p:nvGraphicFramePr>
        <p:xfrm>
          <a:off xmlns:a="http://schemas.openxmlformats.org/drawingml/2006/main" x="514350" y="4933950"/>
          <a:ext xmlns:a="http://schemas.openxmlformats.org/drawingml/2006/main" cx="111633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63917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All heavy off-road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CIMS replaces OEO capital costs, normalized to demand-service units.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Aircraft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Service output comes from FAA operational data.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629056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st_invest">
            <a:extLst xmlns:a="http://schemas.openxmlformats.org/drawingml/2006/main">
              <a:ext uri="{FF2B5EF4-FFF2-40B4-BE49-F238E27FC236}">
                <a16:creationId xmlns:a16="http://schemas.microsoft.com/office/drawing/2014/main" id="{360DD388-5DA4-4A24-B143-C8B0D942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cost_invest</a:t>
            </a:r>
          </a:p>
        </p:txBody>
      </p:sp>
      <p:sp>
        <p:nvSpPr>
          <p:cNvPr id="2" name="Investment cost for road vehicles">
            <a:extLst xmlns:a="http://schemas.openxmlformats.org/drawingml/2006/main">
              <a:ext uri="{FF2B5EF4-FFF2-40B4-BE49-F238E27FC236}">
                <a16:creationId xmlns:a16="http://schemas.microsoft.com/office/drawing/2014/main" id="{23CF1443-DBEA-4F7A-97D1-2C5655CF7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Investment cost for road vehicles</a:t>
            </a:r>
          </a:p>
        </p:txBody>
      </p:sp>
      <p:sp>
        <p:nvSpPr>
          <p:cNvPr id="3" name="2025 vintage. Truck examples show larger differe">
            <a:extLst xmlns:a="http://schemas.openxmlformats.org/drawingml/2006/main">
              <a:ext uri="{FF2B5EF4-FFF2-40B4-BE49-F238E27FC236}">
                <a16:creationId xmlns:a16="http://schemas.microsoft.com/office/drawing/2014/main" id="{45E319DF-9027-45A4-B381-A7F787550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vintage. Truck examples show larger differences than cars and light trucks.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794CA0AC-637A-4C72-9F42-CDE982D5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CB682CE7-1F06-43EE-9873-3B766F9F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2C3CB2E0-5705-421D-8B4D-B0F22D01FE25}"/>
              </a:ext>
            </a:extLst>
          </p:cNvPr>
          <p:cNvGraphicFramePr/>
          <p:nvPr/>
        </p:nvGraphicFramePr>
        <p:xfrm>
          <a:off xmlns:a="http://schemas.openxmlformats.org/drawingml/2006/main" x="514350" y="1809750"/>
          <a:ext xmlns:a="http://schemas.openxmlformats.org/drawingml/2006/main" cx="6543675" cy="4286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503342f4a74b83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1E0D85-E3A0-42C3-AA15-9ED9224FE603}"/>
              </a:ext>
            </a:extLst>
          </p:cNvPr>
          <p:cNvGraphicFramePr/>
          <p:nvPr/>
        </p:nvGraphicFramePr>
        <p:xfrm>
          <a:off xmlns:a="http://schemas.openxmlformats.org/drawingml/2006/main" x="7381875" y="1952625"/>
          <a:ext xmlns:a="http://schemas.openxmlformats.org/drawingml/2006/main" cx="4295775" cy="4248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66825"/>
                <a:gridCol w="302895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42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Road vehicles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NLR ATB retail price / 1.5 should preserve a similar cost basis. Aggregation weights are the expected main driver.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Heavy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Hypothesis: the changed regional / long-haul mix explains the larger gap.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Gasoline medium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0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ATB lacks the gasoline input included in legacy Islam et al. (2023) results.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456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st_variable">
            <a:extLst xmlns:a="http://schemas.openxmlformats.org/drawingml/2006/main">
              <a:ext uri="{FF2B5EF4-FFF2-40B4-BE49-F238E27FC236}">
                <a16:creationId xmlns:a16="http://schemas.microsoft.com/office/drawing/2014/main" id="{ECFD083A-EB6E-4934-AB87-5CB47B7E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cost_variable</a:t>
            </a:r>
          </a:p>
        </p:txBody>
      </p:sp>
      <p:sp>
        <p:nvSpPr>
          <p:cNvPr id="2" name="Operating cost for heavy off-road modes">
            <a:extLst xmlns:a="http://schemas.openxmlformats.org/drawingml/2006/main">
              <a:ext uri="{FF2B5EF4-FFF2-40B4-BE49-F238E27FC236}">
                <a16:creationId xmlns:a16="http://schemas.microsoft.com/office/drawing/2014/main" id="{2707CD9E-4FAF-45D6-AEFE-1E0E7E07A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Operating cost for heavy off-road modes</a:t>
            </a:r>
          </a:p>
        </p:txBody>
      </p:sp>
      <p:sp>
        <p:nvSpPr>
          <p:cNvPr id="3" name="2025 vintage and period. Marine uses its own sca">
            <a:extLst xmlns:a="http://schemas.openxmlformats.org/drawingml/2006/main">
              <a:ext uri="{FF2B5EF4-FFF2-40B4-BE49-F238E27FC236}">
                <a16:creationId xmlns:a16="http://schemas.microsoft.com/office/drawing/2014/main" id="{65E29516-A558-42E9-9D49-70F91BF3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 and period. Marine uses its own scale so the other classes remain visible.</a:t>
            </a:r>
          </a:p>
        </p:txBody>
      </p:sp>
      <p:sp>
        <p:nvSpPr>
          <p:cNvPr id="4" name="Ontario. The listed methods do not quantify ever">
            <a:extLst xmlns:a="http://schemas.openxmlformats.org/drawingml/2006/main">
              <a:ext uri="{FF2B5EF4-FFF2-40B4-BE49-F238E27FC236}">
                <a16:creationId xmlns:a16="http://schemas.microsoft.com/office/drawing/2014/main" id="{3A883A7D-B834-4C02-93DD-DA3B75CE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The listed methods do not quantify every part of the observed cost gap.</a:t>
            </a:r>
          </a:p>
        </p:txBody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FE9AB8DA-AF18-46FE-A762-65215BF0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899B8F8-7F7C-469E-B97A-48229D83834B}"/>
              </a:ext>
            </a:extLst>
          </p:cNvPr>
          <p:cNvGraphicFramePr/>
          <p:nvPr/>
        </p:nvGraphicFramePr>
        <p:xfrm>
          <a:off xmlns:a="http://schemas.openxmlformats.org/drawingml/2006/main" x="514350" y="1866900"/>
          <a:ext xmlns:a="http://schemas.openxmlformats.org/drawingml/2006/main" cx="5000625" cy="2733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92b1b5d7833407a"/>
          </a:graphicData>
        </a:graphic>
      </p:graphicFrame>
      <p:graphicFrame>
        <p:nvGraphicFramePr>
          <p:cNvPr id="7" name="Chart">
            <a:extLst xmlns:a="http://schemas.openxmlformats.org/drawingml/2006/main">
              <a:ext uri="{FF2B5EF4-FFF2-40B4-BE49-F238E27FC236}">
                <a16:creationId xmlns:a16="http://schemas.microsoft.com/office/drawing/2014/main" id="{195F6079-76E4-4B81-B0E6-ACE8F09A2609}"/>
              </a:ext>
            </a:extLst>
          </p:cNvPr>
          <p:cNvGraphicFramePr/>
          <p:nvPr/>
        </p:nvGraphicFramePr>
        <p:xfrm>
          <a:off xmlns:a="http://schemas.openxmlformats.org/drawingml/2006/main" x="5924550" y="1866900"/>
          <a:ext xmlns:a="http://schemas.openxmlformats.org/drawingml/2006/main" cx="5753100" cy="2733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6c78a5db1304b5f"/>
          </a:graphicData>
        </a:graphic>
      </p:graphicFrame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E03C76-99F2-4858-9104-D6A7F73531E3}"/>
              </a:ext>
            </a:extLst>
          </p:cNvPr>
          <p:cNvGraphicFramePr/>
          <p:nvPr/>
        </p:nvGraphicFramePr>
        <p:xfrm>
          <a:off xmlns:a="http://schemas.openxmlformats.org/drawingml/2006/main" x="514350" y="4914900"/>
          <a:ext xmlns:a="http://schemas.openxmlformats.org/drawingml/2006/main" cx="11163300" cy="1381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863917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Marine and rail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Revised capital costs feed into OEO capital-to-operating cost ratios.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Aircraft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FAA operational data supplies operating costs.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73058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st_variable">
            <a:extLst xmlns:a="http://schemas.openxmlformats.org/drawingml/2006/main">
              <a:ext uri="{FF2B5EF4-FFF2-40B4-BE49-F238E27FC236}">
                <a16:creationId xmlns:a16="http://schemas.microsoft.com/office/drawing/2014/main" id="{2AA7BBEC-A8F2-4FED-BF9C-434E0DE4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cost_variable</a:t>
            </a:r>
          </a:p>
        </p:txBody>
      </p:sp>
      <p:sp>
        <p:nvSpPr>
          <p:cNvPr id="2" name="Road operating costs now use formulas">
            <a:extLst xmlns:a="http://schemas.openxmlformats.org/drawingml/2006/main">
              <a:ext uri="{FF2B5EF4-FFF2-40B4-BE49-F238E27FC236}">
                <a16:creationId xmlns:a16="http://schemas.microsoft.com/office/drawing/2014/main" id="{E3D3C071-07B5-4ABF-8556-829C8C8F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Road operating costs now use formulas</a:t>
            </a:r>
          </a:p>
        </p:txBody>
      </p:sp>
      <p:sp>
        <p:nvSpPr>
          <p:cNvPr id="3" name="2025 vintage and period. The direction of change">
            <a:extLst xmlns:a="http://schemas.openxmlformats.org/drawingml/2006/main">
              <a:ext uri="{FF2B5EF4-FFF2-40B4-BE49-F238E27FC236}">
                <a16:creationId xmlns:a16="http://schemas.microsoft.com/office/drawing/2014/main" id="{5D71C98B-ECE5-4801-8027-5DB06BDE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 and period. The direction of change varies across vehicle classes.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EDA0C235-E0FE-4111-8FFA-4E9A297C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2F0145C4-EFAE-48F8-9748-BDB8D51B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E28281C5-5EA9-4C49-8ED4-59E25A77420B}"/>
              </a:ext>
            </a:extLst>
          </p:cNvPr>
          <p:cNvGraphicFramePr/>
          <p:nvPr/>
        </p:nvGraphicFramePr>
        <p:xfrm>
          <a:off xmlns:a="http://schemas.openxmlformats.org/drawingml/2006/main" x="514350" y="1828800"/>
          <a:ext xmlns:a="http://schemas.openxmlformats.org/drawingml/2006/main" cx="11163300" cy="3057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331f540bed047e9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0DB019-EC1F-4726-859B-158B77FC28EF}"/>
              </a:ext>
            </a:extLst>
          </p:cNvPr>
          <p:cNvGraphicFramePr/>
          <p:nvPr/>
        </p:nvGraphicFramePr>
        <p:xfrm>
          <a:off xmlns:a="http://schemas.openxmlformats.org/drawingml/2006/main" x="514350" y="5114925"/>
          <a:ext xmlns:a="http://schemas.openxmlformats.org/drawingml/2006/main" cx="11163300" cy="1171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19350"/>
                <a:gridCol w="4362450"/>
                <a:gridCol w="438150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backend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Road vehicles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Hard-coded costs fetched directly from the BEAN model.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Costs calculated with formulas.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006819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demand">
            <a:extLst xmlns:a="http://schemas.openxmlformats.org/drawingml/2006/main">
              <a:ext uri="{FF2B5EF4-FFF2-40B4-BE49-F238E27FC236}">
                <a16:creationId xmlns:a16="http://schemas.microsoft.com/office/drawing/2014/main" id="{06B7DC7C-FC70-44E5-83DC-15E197F5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demand</a:t>
            </a:r>
          </a:p>
        </p:txBody>
      </p:sp>
      <p:sp>
        <p:nvSpPr>
          <p:cNvPr id="2" name="Demand changes with the edition and base year">
            <a:extLst xmlns:a="http://schemas.openxmlformats.org/drawingml/2006/main">
              <a:ext uri="{FF2B5EF4-FFF2-40B4-BE49-F238E27FC236}">
                <a16:creationId xmlns:a16="http://schemas.microsoft.com/office/drawing/2014/main" id="{3FDC37F6-5F9B-49E2-9B37-39D2089F2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Demand changes with the edition and base year</a:t>
            </a:r>
          </a:p>
        </p:txBody>
      </p:sp>
      <p:sp>
        <p:nvSpPr>
          <p:cNvPr id="3" name="2025 model period. Marine is shown alongside sel">
            <a:extLst xmlns:a="http://schemas.openxmlformats.org/drawingml/2006/main">
              <a:ext uri="{FF2B5EF4-FFF2-40B4-BE49-F238E27FC236}">
                <a16:creationId xmlns:a16="http://schemas.microsoft.com/office/drawing/2014/main" id="{55F9C596-2C3B-4A52-AF0F-DF5A0241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model period. Marine is shown alongside selected examples of the other modes.</a:t>
            </a:r>
          </a:p>
        </p:txBody>
      </p:sp>
      <p:sp>
        <p:nvSpPr>
          <p:cNvPr id="4" name="Ontario. Model-period demand, not an observed 20">
            <a:extLst xmlns:a="http://schemas.openxmlformats.org/drawingml/2006/main">
              <a:ext uri="{FF2B5EF4-FFF2-40B4-BE49-F238E27FC236}">
                <a16:creationId xmlns:a16="http://schemas.microsoft.com/office/drawing/2014/main" id="{E4C9F8FE-00E0-4FD5-B815-C1035B8F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Model-period demand, not an observed 2025 measurement.</a:t>
            </a:r>
          </a:p>
        </p:txBody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048E3AC6-FFFA-411C-ADB0-E994A9EF4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AF946AEA-4CAF-464A-A58D-7AD8696008D1}"/>
              </a:ext>
            </a:extLst>
          </p:cNvPr>
          <p:cNvGraphicFramePr/>
          <p:nvPr/>
        </p:nvGraphicFramePr>
        <p:xfrm>
          <a:off xmlns:a="http://schemas.openxmlformats.org/drawingml/2006/main" x="514350" y="1838325"/>
          <a:ext xmlns:a="http://schemas.openxmlformats.org/drawingml/2006/main" cx="11163300" cy="3019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002541ae3a74a96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6CA08D-FC31-4AE5-9DC1-08689E72FF40}"/>
              </a:ext>
            </a:extLst>
          </p:cNvPr>
          <p:cNvGraphicFramePr/>
          <p:nvPr/>
        </p:nvGraphicFramePr>
        <p:xfrm>
          <a:off xmlns:a="http://schemas.openxmlformats.org/drawingml/2006/main" x="514350" y="4991100"/>
          <a:ext xmlns:a="http://schemas.openxmlformats.org/drawingml/2006/main" cx="11163300" cy="1314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862965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modes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Marine freight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The CEUD edition change substantially alters marine energy use.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All other modes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Future demand is indexed to 2023 demand instead of 2019.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9334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fficiency">
            <a:extLst xmlns:a="http://schemas.openxmlformats.org/drawingml/2006/main">
              <a:ext uri="{FF2B5EF4-FFF2-40B4-BE49-F238E27FC236}">
                <a16:creationId xmlns:a16="http://schemas.microsoft.com/office/drawing/2014/main" id="{3433ACEB-B7DF-4D41-95C7-49DA8E8E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" name="Existing bus efficiency uses CEUD backcasting">
            <a:extLst xmlns:a="http://schemas.openxmlformats.org/drawingml/2006/main">
              <a:ext uri="{FF2B5EF4-FFF2-40B4-BE49-F238E27FC236}">
                <a16:creationId xmlns:a16="http://schemas.microsoft.com/office/drawing/2014/main" id="{C4B61582-78FA-4474-818D-6D11C309A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Existing bus efficiency uses CEUD backcasting</a:t>
            </a:r>
          </a:p>
        </p:txBody>
      </p:sp>
      <p:sp>
        <p:nvSpPr>
          <p:cNvPr id="3" name="2020 vintage. Values show transport service per ">
            <a:extLst xmlns:a="http://schemas.openxmlformats.org/drawingml/2006/main">
              <a:ext uri="{FF2B5EF4-FFF2-40B4-BE49-F238E27FC236}">
                <a16:creationId xmlns:a16="http://schemas.microsoft.com/office/drawing/2014/main" id="{8F5A9639-B415-40BC-B35B-6B8D866D9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2020 vintage. Values show transport service per unit of energy.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B095F941-907C-4D62-BAD7-6EA19084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427C6ABA-895A-4832-B096-C47B88E5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FA3F6ACD-D176-41B0-B2CA-DB64159BA0D8}"/>
              </a:ext>
            </a:extLst>
          </p:cNvPr>
          <p:cNvGraphicFramePr/>
          <p:nvPr/>
        </p:nvGraphicFramePr>
        <p:xfrm>
          <a:off xmlns:a="http://schemas.openxmlformats.org/drawingml/2006/main" x="514350" y="1866900"/>
          <a:ext xmlns:a="http://schemas.openxmlformats.org/drawingml/2006/main" cx="6810375" cy="4171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5209ee5903f4eed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67B49A-0E31-4B63-BDF5-7B993B51B1B7}"/>
              </a:ext>
            </a:extLst>
          </p:cNvPr>
          <p:cNvGraphicFramePr/>
          <p:nvPr/>
        </p:nvGraphicFramePr>
        <p:xfrm>
          <a:off xmlns:a="http://schemas.openxmlformats.org/drawingml/2006/main" x="7600950" y="2133600"/>
          <a:ext xmlns:a="http://schemas.openxmlformats.org/drawingml/2006/main" cx="4076700" cy="33718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83845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Existing-stock method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GREET gasoline-to-diesel and CNG-to-diesel scaling, with improvements indexed to ATB.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ATB values backcast using CEUD energy intensities.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72612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efficiency">
            <a:extLst xmlns:a="http://schemas.openxmlformats.org/drawingml/2006/main">
              <a:ext uri="{FF2B5EF4-FFF2-40B4-BE49-F238E27FC236}">
                <a16:creationId xmlns:a16="http://schemas.microsoft.com/office/drawing/2014/main" id="{0A397926-7277-45E0-A6E9-D3DC0A4E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" name="Marine efficiency uses CEUD and REGEN">
            <a:extLst xmlns:a="http://schemas.openxmlformats.org/drawingml/2006/main">
              <a:ext uri="{FF2B5EF4-FFF2-40B4-BE49-F238E27FC236}">
                <a16:creationId xmlns:a16="http://schemas.microsoft.com/office/drawing/2014/main" id="{5590410C-97AC-4A01-B52A-F77873CF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Marine efficiency uses CEUD and REGEN</a:t>
            </a:r>
          </a:p>
        </p:txBody>
      </p:sp>
      <p:sp>
        <p:nvSpPr>
          <p:cNvPr id="3" name="2025 vintage. Marine freight efficiency is lower">
            <a:extLst xmlns:a="http://schemas.openxmlformats.org/drawingml/2006/main">
              <a:ext uri="{FF2B5EF4-FFF2-40B4-BE49-F238E27FC236}">
                <a16:creationId xmlns:a16="http://schemas.microsoft.com/office/drawing/2014/main" id="{DAAAB5B9-2D1C-4D1E-9969-2115A8A6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2025 vintage. Marine freight efficiency is lower in both fuel examples.</a:t>
            </a:r>
          </a:p>
        </p:txBody>
      </p:sp>
      <p:sp>
        <p:nvSpPr>
          <p:cNvPr id="4" name="Ontario. Selected examples, not fleet averages.">
            <a:extLst xmlns:a="http://schemas.openxmlformats.org/drawingml/2006/main">
              <a:ext uri="{FF2B5EF4-FFF2-40B4-BE49-F238E27FC236}">
                <a16:creationId xmlns:a16="http://schemas.microsoft.com/office/drawing/2014/main" id="{B3ABA539-BDEB-4B44-A902-F167E40E4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Selected examples, not fleet averages.</a:t>
            </a:r>
          </a:p>
        </p:txBody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DEBE7AC0-90D2-4A54-BB1B-AABE2D74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04D06A74-4280-4512-ABB2-A8641E24BD7E}"/>
              </a:ext>
            </a:extLst>
          </p:cNvPr>
          <p:cNvGraphicFramePr/>
          <p:nvPr/>
        </p:nvGraphicFramePr>
        <p:xfrm>
          <a:off xmlns:a="http://schemas.openxmlformats.org/drawingml/2006/main" x="514350" y="1914525"/>
          <a:ext xmlns:a="http://schemas.openxmlformats.org/drawingml/2006/main" cx="6696075" cy="3638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c5f70c1c26f4db5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213F86-EF37-42E9-9E93-3442024E7C21}"/>
              </a:ext>
            </a:extLst>
          </p:cNvPr>
          <p:cNvGraphicFramePr/>
          <p:nvPr/>
        </p:nvGraphicFramePr>
        <p:xfrm>
          <a:off xmlns:a="http://schemas.openxmlformats.org/drawingml/2006/main" x="7600950" y="2152650"/>
          <a:ext xmlns:a="http://schemas.openxmlformats.org/drawingml/2006/main" cx="40767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09675"/>
                <a:gridCol w="286702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Efficiency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Values from a regional report.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CEUD energy intensities, with improvement indexed to REGEN assumptions.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Heavy fuel oil: -44.0%     Marine diesel oil: -4">
            <a:extLst xmlns:a="http://schemas.openxmlformats.org/drawingml/2006/main">
              <a:ext uri="{FF2B5EF4-FFF2-40B4-BE49-F238E27FC236}">
                <a16:creationId xmlns:a16="http://schemas.microsoft.com/office/drawing/2014/main" id="{E3F879D3-2C05-48DD-9B20-5AF98333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1163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Heavy fuel oil: -44.0%     Marine diesel oil: -40.3%</a:t>
            </a:r>
          </a:p>
        </p:txBody>
      </p:sp>
    </p:spTree>
    <p:extLst>
      <p:ext uri="{BB962C8B-B14F-4D97-AF65-F5344CB8AC3E}">
        <p14:creationId xmlns:p14="http://schemas.microsoft.com/office/powerpoint/2010/main" val="161124809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fficiency">
            <a:extLst xmlns:a="http://schemas.openxmlformats.org/drawingml/2006/main">
              <a:ext uri="{FF2B5EF4-FFF2-40B4-BE49-F238E27FC236}">
                <a16:creationId xmlns:a16="http://schemas.microsoft.com/office/drawing/2014/main" id="{F8541589-5572-4AB5-8C40-FB4DAAB6B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efficiency</a:t>
            </a:r>
          </a:p>
        </p:txBody>
      </p:sp>
      <p:sp>
        <p:nvSpPr>
          <p:cNvPr id="2" name="Existing BEV and PHEV archetypes merge range evi">
            <a:extLst xmlns:a="http://schemas.openxmlformats.org/drawingml/2006/main">
              <a:ext uri="{FF2B5EF4-FFF2-40B4-BE49-F238E27FC236}">
                <a16:creationId xmlns:a16="http://schemas.microsoft.com/office/drawing/2014/main" id="{1FE335D5-4B2E-4CFD-B8C4-8DF9D11B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Existing BEV and PHEV archetypes merge range evidence</a:t>
            </a:r>
          </a:p>
        </p:txBody>
      </p:sp>
      <p:sp>
        <p:nvSpPr>
          <p:cNvPr id="3" name="2020 vintage. Each legacy range-specific represe">
            <a:extLst xmlns:a="http://schemas.openxmlformats.org/drawingml/2006/main">
              <a:ext uri="{FF2B5EF4-FFF2-40B4-BE49-F238E27FC236}">
                <a16:creationId xmlns:a16="http://schemas.microsoft.com/office/drawing/2014/main" id="{E5234E22-9227-4789-B7F4-30A0BD3DE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2020 vintage. Each legacy range-specific representative maps to its new merged class.</a:t>
            </a:r>
          </a:p>
        </p:txBody>
      </p:sp>
      <p:sp>
        <p:nvSpPr>
          <p:cNvPr id="4" name="Ontario. Explicit class mapping across represent">
            <a:extLst xmlns:a="http://schemas.openxmlformats.org/drawingml/2006/main">
              <a:ext uri="{FF2B5EF4-FFF2-40B4-BE49-F238E27FC236}">
                <a16:creationId xmlns:a16="http://schemas.microsoft.com/office/drawing/2014/main" id="{588FBBF1-3259-41C0-ADD3-762F937A7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Explicit class mapping across representations, not identical technology keys.</a:t>
            </a:r>
          </a:p>
        </p:txBody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3CFFD86B-5297-4CD5-9C0D-CF9489BD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0C2983B-798F-4DEB-A489-594E1AF904D0}"/>
              </a:ext>
            </a:extLst>
          </p:cNvPr>
          <p:cNvGraphicFramePr/>
          <p:nvPr/>
        </p:nvGraphicFramePr>
        <p:xfrm>
          <a:off xmlns:a="http://schemas.openxmlformats.org/drawingml/2006/main" x="514350" y="1866900"/>
          <a:ext xmlns:a="http://schemas.openxmlformats.org/drawingml/2006/main" cx="11163300" cy="2914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1b815b29af44e8c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AA92BC-4E69-49EE-807B-E62C5686922F}"/>
              </a:ext>
            </a:extLst>
          </p:cNvPr>
          <p:cNvGraphicFramePr/>
          <p:nvPr/>
        </p:nvGraphicFramePr>
        <p:xfrm>
          <a:off xmlns:a="http://schemas.openxmlformats.org/drawingml/2006/main" x="514350" y="5067300"/>
          <a:ext xmlns:a="http://schemas.openxmlformats.org/drawingml/2006/main" cx="11163300" cy="12477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52700"/>
                <a:gridCol w="3571875"/>
                <a:gridCol w="503872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archetypes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575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backend basis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Existing BEV and PHEV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A fixed range class represents each archetype.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Merged archetypes aggregate range evidence using OMEGA vehicle-sales evidence.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506527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xisting_capacity">
            <a:extLst xmlns:a="http://schemas.openxmlformats.org/drawingml/2006/main">
              <a:ext uri="{FF2B5EF4-FFF2-40B4-BE49-F238E27FC236}">
                <a16:creationId xmlns:a16="http://schemas.microsoft.com/office/drawing/2014/main" id="{1312BD68-C004-4025-A5E1-6893C52D6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existing_capacity</a:t>
            </a:r>
          </a:p>
        </p:txBody>
      </p:sp>
      <p:sp>
        <p:nvSpPr>
          <p:cNvPr id="2" name="Existing capacity changes with the source baseli">
            <a:extLst xmlns:a="http://schemas.openxmlformats.org/drawingml/2006/main">
              <a:ext uri="{FF2B5EF4-FFF2-40B4-BE49-F238E27FC236}">
                <a16:creationId xmlns:a16="http://schemas.microsoft.com/office/drawing/2014/main" id="{A5930392-DB05-4308-88CE-ECE37846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Existing capacity changes with the source baseline</a:t>
            </a:r>
          </a:p>
        </p:txBody>
      </p:sp>
      <p:sp>
        <p:nvSpPr>
          <p:cNvPr id="3" name="Each version’s baseline inventory, summed across">
            <a:extLst xmlns:a="http://schemas.openxmlformats.org/drawingml/2006/main">
              <a:ext uri="{FF2B5EF4-FFF2-40B4-BE49-F238E27FC236}">
                <a16:creationId xmlns:a16="http://schemas.microsoft.com/office/drawing/2014/main" id="{6F58252A-614C-432E-BACE-AB3EC174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Each version’s baseline inventory, summed across its stored existing cohorts.</a:t>
            </a:r>
          </a:p>
        </p:txBody>
      </p:sp>
      <p:sp>
        <p:nvSpPr>
          <p:cNvPr id="4" name="Ontario. Road inventory uses 2021 versus 2023 ba">
            <a:extLst xmlns:a="http://schemas.openxmlformats.org/drawingml/2006/main">
              <a:ext uri="{FF2B5EF4-FFF2-40B4-BE49-F238E27FC236}">
                <a16:creationId xmlns:a16="http://schemas.microsoft.com/office/drawing/2014/main" id="{6C04E964-F954-4196-B0C1-3D51EC9C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Road inventory uses 2021 versus 2023 baselines; each marine bar retains its fuel class.</a:t>
            </a:r>
          </a:p>
        </p:txBody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14EC4974-29BC-40AA-8652-7E7127BB3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4B788745-87CC-4B15-B319-48C1F9FE6A83}"/>
              </a:ext>
            </a:extLst>
          </p:cNvPr>
          <p:cNvGraphicFramePr/>
          <p:nvPr/>
        </p:nvGraphicFramePr>
        <p:xfrm>
          <a:off xmlns:a="http://schemas.openxmlformats.org/drawingml/2006/main" x="514350" y="1838325"/>
          <a:ext xmlns:a="http://schemas.openxmlformats.org/drawingml/2006/main" cx="11163300" cy="30289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dfa10a96ae74e7e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B7C1FF-5FE8-4EC5-8C9F-D177279F76B9}"/>
              </a:ext>
            </a:extLst>
          </p:cNvPr>
          <p:cNvGraphicFramePr/>
          <p:nvPr/>
        </p:nvGraphicFramePr>
        <p:xfrm>
          <a:off xmlns:a="http://schemas.openxmlformats.org/drawingml/2006/main" x="514350" y="5010150"/>
          <a:ext xmlns:a="http://schemas.openxmlformats.org/drawingml/2006/main" cx="11163300" cy="13049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43175"/>
                <a:gridCol w="862012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Affected classes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Difference driver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Marine freight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Fuel-consumption differences between CEUD editions.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Road vehicles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The stock baseline shifts from 2021 to 2023.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137505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xisting_capacity">
            <a:extLst xmlns:a="http://schemas.openxmlformats.org/drawingml/2006/main">
              <a:ext uri="{FF2B5EF4-FFF2-40B4-BE49-F238E27FC236}">
                <a16:creationId xmlns:a16="http://schemas.microsoft.com/office/drawing/2014/main" id="{6FB05B5B-4350-421F-9948-E7007507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existing_capacity</a:t>
            </a:r>
          </a:p>
        </p:txBody>
      </p:sp>
      <p:sp>
        <p:nvSpPr>
          <p:cNvPr id="2" name="Charger capacity follows ports and EV-to-port ra">
            <a:extLst xmlns:a="http://schemas.openxmlformats.org/drawingml/2006/main">
              <a:ext uri="{FF2B5EF4-FFF2-40B4-BE49-F238E27FC236}">
                <a16:creationId xmlns:a16="http://schemas.microsoft.com/office/drawing/2014/main" id="{0A532A31-FED4-43FE-9ABD-C4F02779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Charger capacity follows ports and EV-to-port ratios</a:t>
            </a:r>
          </a:p>
        </p:txBody>
      </p:sp>
      <p:sp>
        <p:nvSpPr>
          <p:cNvPr id="3" name="Each version’s baseline inventory. Legacy charge">
            <a:extLst xmlns:a="http://schemas.openxmlformats.org/drawingml/2006/main">
              <a:ext uri="{FF2B5EF4-FFF2-40B4-BE49-F238E27FC236}">
                <a16:creationId xmlns:a16="http://schemas.microsoft.com/office/drawing/2014/main" id="{6368D32F-E08B-4E77-A430-AAF9BFF4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Each version’s baseline inventory. Legacy charger cohorts are summed within each class.</a:t>
            </a:r>
          </a:p>
        </p:txBody>
      </p:sp>
      <p:sp>
        <p:nvSpPr>
          <p:cNvPr id="4" name="Ontario. Legacy MHDV inventory contains HDV rows">
            <a:extLst xmlns:a="http://schemas.openxmlformats.org/drawingml/2006/main">
              <a:ext uri="{FF2B5EF4-FFF2-40B4-BE49-F238E27FC236}">
                <a16:creationId xmlns:a16="http://schemas.microsoft.com/office/drawing/2014/main" id="{96C2CCB9-4760-45C6-817F-648D2869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Legacy MHDV inventory contains HDV rows only; no MDV charger-stock rows are present.</a:t>
            </a:r>
          </a:p>
        </p:txBody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A5802779-A871-4895-8E6C-394637A6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0DD015B-E0DD-46E5-B4BE-638E1AB09F3A}"/>
              </a:ext>
            </a:extLst>
          </p:cNvPr>
          <p:cNvGraphicFramePr/>
          <p:nvPr/>
        </p:nvGraphicFramePr>
        <p:xfrm>
          <a:off xmlns:a="http://schemas.openxmlformats.org/drawingml/2006/main" x="514350" y="1905000"/>
          <a:ext xmlns:a="http://schemas.openxmlformats.org/drawingml/2006/main" cx="6829425" cy="37338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110026a082f4b34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A8E7D4-6B2A-4E6E-88F7-5DFED88A6FFF}"/>
              </a:ext>
            </a:extLst>
          </p:cNvPr>
          <p:cNvGraphicFramePr/>
          <p:nvPr/>
        </p:nvGraphicFramePr>
        <p:xfrm>
          <a:off xmlns:a="http://schemas.openxmlformats.org/drawingml/2006/main" x="7600950" y="2076450"/>
          <a:ext xmlns:a="http://schemas.openxmlformats.org/drawingml/2006/main" cx="4076700" cy="3171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95400"/>
                <a:gridCol w="2781300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Version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6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Capacity calibration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Legacy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Energy-based calibration.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New backend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7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Public port counts and EV-to-port ratios.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707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limit_annual_capacity_factor">
            <a:extLst xmlns:a="http://schemas.openxmlformats.org/drawingml/2006/main">
              <a:ext uri="{FF2B5EF4-FFF2-40B4-BE49-F238E27FC236}">
                <a16:creationId xmlns:a16="http://schemas.microsoft.com/office/drawing/2014/main" id="{FBBA656A-49C8-4955-B20F-09ABE714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"/>
            <a:ext cx="11144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limit_annual_capacity_factor</a:t>
            </a:r>
          </a:p>
        </p:txBody>
      </p:sp>
      <p:sp>
        <p:nvSpPr>
          <p:cNvPr id="2" name="Road utilization reflects a revised CEUD averagi">
            <a:extLst xmlns:a="http://schemas.openxmlformats.org/drawingml/2006/main">
              <a:ext uri="{FF2B5EF4-FFF2-40B4-BE49-F238E27FC236}">
                <a16:creationId xmlns:a16="http://schemas.microsoft.com/office/drawing/2014/main" id="{3967CD2C-A835-4D9F-BA34-3236186D4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28650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Road utilization reflects a revised CEUD averaging window</a:t>
            </a:r>
          </a:p>
        </p:txBody>
      </p:sp>
      <p:sp>
        <p:nvSpPr>
          <p:cNvPr id="3" name="Latest five eligible activity-to-stock periods, ">
            <a:extLst xmlns:a="http://schemas.openxmlformats.org/drawingml/2006/main">
              <a:ext uri="{FF2B5EF4-FFF2-40B4-BE49-F238E27FC236}">
                <a16:creationId xmlns:a16="http://schemas.microsoft.com/office/drawing/2014/main" id="{B88EE61C-A5E1-4D0D-8900-9B244F9E3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47775"/>
            <a:ext cx="11144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Latest five eligible activity-to-stock periods, excluding 2020–2021.</a:t>
            </a:r>
          </a:p>
        </p:txBody>
      </p:sp>
      <p:sp>
        <p:nvSpPr>
          <p:cNvPr id="4" name="Ontario. 2025 vintage at its installation period">
            <a:extLst xmlns:a="http://schemas.openxmlformats.org/drawingml/2006/main">
              <a:ext uri="{FF2B5EF4-FFF2-40B4-BE49-F238E27FC236}">
                <a16:creationId xmlns:a16="http://schemas.microsoft.com/office/drawing/2014/main" id="{12F19022-0FC8-4D14-85CE-D7C09399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57950"/>
            <a:ext cx="1076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Ontario. 2025 vintage at its installation period. Legacy bounds and the new equality value have different roles.</a:t>
            </a:r>
          </a:p>
        </p:txBody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47152E83-85BB-4690-AF73-AE2FDCE6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5795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1125" b="0">
                <a:solidFill>
                  <a:srgbClr val="5A6D6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A6D63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57BBC137-80C6-430D-AEEB-C2FEC2539E7D}"/>
              </a:ext>
            </a:extLst>
          </p:cNvPr>
          <p:cNvGraphicFramePr/>
          <p:nvPr/>
        </p:nvGraphicFramePr>
        <p:xfrm>
          <a:off xmlns:a="http://schemas.openxmlformats.org/drawingml/2006/main" x="514350" y="1933575"/>
          <a:ext xmlns:a="http://schemas.openxmlformats.org/drawingml/2006/main" cx="6572250" cy="35909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6b9609528b4390"/>
          </a:graphicData>
        </a:graphic>
      </p:graphicFrame>
      <p:graphicFrame>
        <p:nvGraphicFrame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C6259F-74C1-4538-8FC5-C9BA2F91AD71}"/>
              </a:ext>
            </a:extLst>
          </p:cNvPr>
          <p:cNvGraphicFramePr/>
          <p:nvPr/>
        </p:nvGraphicFramePr>
        <p:xfrm>
          <a:off xmlns:a="http://schemas.openxmlformats.org/drawingml/2006/main" x="7410450" y="2152650"/>
          <a:ext xmlns:a="http://schemas.openxmlformats.org/drawingml/2006/main" cx="4267200" cy="30194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76350"/>
                <a:gridCol w="1819275"/>
                <a:gridCol w="1171575"/>
              </a:tblGrid>
              <a:tr h="400050">
                <a:tc>
                  <a:txBody>
                    <a:bodyPr lIns="114300" tIns="76200" rIns="114300" bIns="76200"/>
                    <a:lstStyle/>
                    <a:p>
                      <a:r>
                        <a:rPr sz="13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Class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3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Legacy range (%)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350" b="1">
                          <a:solidFill>
                            <a:srgbClr val="173F35"/>
                          </a:solidFill>
                          <a:latin typeface="Arial"/>
                          <a:ea typeface="Arial"/>
                          <a:cs typeface="Arial"/>
                        </a:rPr>
                        <a:t>New (%)</a:t>
                      </a:r>
                    </a:p>
                  </a:txBody>
                  <a:tcPr marL="114300" marR="114300" marT="85725" marB="76200" anchor="ctr">
                    <a:solidFill>
                      <a:srgbClr val="F0F5F2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Cars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1.884–1.886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2.076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Medium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2.622–2.624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2.895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Heavy trucks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20.704–20.724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23.663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Intercity buses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4.126–4.130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76200" rIns="114300" bIns="76200"/>
                    <a:lstStyle/>
                    <a:p>
                      <a:r>
                        <a:rPr sz="1425" b="0">
                          <a:solidFill>
                            <a:srgbClr val="263C34"/>
                          </a:solidFill>
                          <a:latin typeface="Arial"/>
                          <a:ea typeface="Arial"/>
                          <a:cs typeface="Arial"/>
                        </a:rPr>
                        <a:t>5.263</a:t>
                      </a:r>
                    </a:p>
                  </a:txBody>
                  <a:tcPr marL="114300" marR="114300" marT="85725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Changed CEUD editions change the baseline activi">
            <a:extLst xmlns:a="http://schemas.openxmlformats.org/drawingml/2006/main">
              <a:ext uri="{FF2B5EF4-FFF2-40B4-BE49-F238E27FC236}">
                <a16:creationId xmlns:a16="http://schemas.microsoft.com/office/drawing/2014/main" id="{F2339190-0994-4FA3-9E3E-1CCF94AED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857875"/>
            <a:ext cx="111633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>
            <a:defPPr>
              <a:defRPr sz="187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173F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F35"/>
                </a:solidFill>
                <a:latin typeface="Arial"/>
                <a:ea typeface="Arial"/>
                <a:cs typeface="Arial"/>
              </a:rPr>
              <a:t>Changed CEUD editions change the baseline activity-to-stock averages.</a:t>
            </a:r>
          </a:p>
        </p:txBody>
      </p:sp>
    </p:spTree>
    <p:extLst>
      <p:ext uri="{BB962C8B-B14F-4D97-AF65-F5344CB8AC3E}">
        <p14:creationId xmlns:p14="http://schemas.microsoft.com/office/powerpoint/2010/main" val="14484475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2026-10-13T16:31:42.3510000Z</dcterms:created>
  <dcterms:modified xsi:type="dcterms:W3CDTF">2026-10-13T16:31:42.3510000Z</dcterms:modified>
</coreProperties>
</file>