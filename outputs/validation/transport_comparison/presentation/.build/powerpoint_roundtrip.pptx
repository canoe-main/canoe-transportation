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0%;\-0.00%;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6.2893835050000001E-3</c:v>
                </c:pt>
                <c:pt idx="1">
                  <c:v>8.7671622199999993E-3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E2-474C-9B6C-AAE10544BC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E-2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%;\-0.0%;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Passenger air, jet fuel</c:v>
                </c:pt>
                <c:pt idx="1">
                  <c:v>Passenger rail, diesel</c:v>
                </c:pt>
                <c:pt idx="2">
                  <c:v>Air freight, jet fuel</c:v>
                </c:pt>
                <c:pt idx="3">
                  <c:v>Rail freight, diesel</c:v>
                </c:pt>
                <c:pt idx="4">
                  <c:v>Marine freight, MDO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0.52505763360000002</c:v>
                </c:pt>
                <c:pt idx="1">
                  <c:v>2.4905711529999999</c:v>
                </c:pt>
                <c:pt idx="2">
                  <c:v>1.2522947250000001</c:v>
                </c:pt>
                <c:pt idx="3">
                  <c:v>0.43695420439999999</c:v>
                </c:pt>
                <c:pt idx="4">
                  <c:v>6.5654672139999999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4-4D71-BECB-497C31AF10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%;\-0.0%;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Heavy truck, BEV</c:v>
                </c:pt>
                <c:pt idx="1">
                  <c:v>Heavy truck, diesel</c:v>
                </c:pt>
                <c:pt idx="2">
                  <c:v>Medium truck, gasoline</c:v>
                </c:pt>
                <c:pt idx="3">
                  <c:v>Medium truck, diesel</c:v>
                </c:pt>
                <c:pt idx="4">
                  <c:v>Light truck, gasoline</c:v>
                </c:pt>
                <c:pt idx="5">
                  <c:v>Car, gasoline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-0.28694417729999999</c:v>
                </c:pt>
                <c:pt idx="1">
                  <c:v>-0.26390547990000002</c:v>
                </c:pt>
                <c:pt idx="2">
                  <c:v>-0.25541831380000002</c:v>
                </c:pt>
                <c:pt idx="3">
                  <c:v>-0.2447532241</c:v>
                </c:pt>
                <c:pt idx="4">
                  <c:v>-7.6415589579999998E-2</c:v>
                </c:pt>
                <c:pt idx="5">
                  <c:v>-6.3976306809999994E-2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AF-4329-BC68-FA4BDCE3D9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000000000000001E-2"/>
          <c:min val="-0.4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Million 2020 CAD / billion tonne-km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>
              <a:srgbClr val="919B97"/>
            </a:solidFill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Marine diesel oil</c:v>
                </c:pt>
              </c:strCache>
            </c:strRef>
          </c:cat>
          <c:val>
            <c:numRef>
              <c:f>'Chart Data'!$B$2:$B$2</c:f>
              <c:numCache>
                <c:formatCode>0.00</c:formatCode>
                <c:ptCount val="1"/>
                <c:pt idx="0">
                  <c:v>3.5749317000000003E-2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B-4AB3-B569-A4CCFE7CB114}"/>
            </c:ext>
          </c:extLst>
        </c:ser>
        <c:ser>
          <c:idx val="1"/>
          <c:order val="1"/>
          <c:tx>
            <c:v>New backend</c:v>
          </c:tx>
          <c:spPr>
            <a:solidFill>
              <a:srgbClr val="17795E"/>
            </a:solidFill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Marine diesel oil</c:v>
                </c:pt>
              </c:strCache>
            </c:strRef>
          </c:cat>
          <c:val>
            <c:numRef>
              <c:f>'Chart Data'!$D$2:$D$2</c:f>
              <c:numCache>
                <c:formatCode>0.00</c:formatCode>
                <c:ptCount val="1"/>
                <c:pt idx="0">
                  <c:v>7.9857489619999997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CB-4AB3-B569-A4CCFE7CB1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Other modes: 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%;\-0.0%;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Passenger air</c:v>
                </c:pt>
                <c:pt idx="1">
                  <c:v>Passenger rail</c:v>
                </c:pt>
                <c:pt idx="2">
                  <c:v>Air freight</c:v>
                </c:pt>
                <c:pt idx="3">
                  <c:v>Rail freight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1.2190032980000001</c:v>
                </c:pt>
                <c:pt idx="1">
                  <c:v>2.4905711529999999</c:v>
                </c:pt>
                <c:pt idx="2">
                  <c:v>4.1441662089999998</c:v>
                </c:pt>
                <c:pt idx="3">
                  <c:v>0.43695420439999999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6-47FF-90F2-3B9414D4A8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.5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%;\-0.0%;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Heavy truck, diesel</c:v>
                </c:pt>
                <c:pt idx="1">
                  <c:v>Medium truck, diesel</c:v>
                </c:pt>
                <c:pt idx="2">
                  <c:v>Transit bus, diesel</c:v>
                </c:pt>
                <c:pt idx="3">
                  <c:v>School bus, diesel</c:v>
                </c:pt>
                <c:pt idx="4">
                  <c:v>Light truck, gasoline</c:v>
                </c:pt>
                <c:pt idx="5">
                  <c:v>Car, gasoline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-0.16753005439999999</c:v>
                </c:pt>
                <c:pt idx="1">
                  <c:v>-0.27069707650000002</c:v>
                </c:pt>
                <c:pt idx="2">
                  <c:v>-0.28419227800000002</c:v>
                </c:pt>
                <c:pt idx="3">
                  <c:v>-0.86533283640000003</c:v>
                </c:pt>
                <c:pt idx="4">
                  <c:v>0.86287584539999995</c:v>
                </c:pt>
                <c:pt idx="5">
                  <c:v>0.92910417180000004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52-44F0-BDC1-D198A18D1D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-1.2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%;\-0.0%;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Passenger air</c:v>
                </c:pt>
                <c:pt idx="1">
                  <c:v>Heavy trucks</c:v>
                </c:pt>
                <c:pt idx="2">
                  <c:v>Passenger light trucks</c:v>
                </c:pt>
                <c:pt idx="3">
                  <c:v>Cars</c:v>
                </c:pt>
                <c:pt idx="4">
                  <c:v>Intercity bus</c:v>
                </c:pt>
                <c:pt idx="5">
                  <c:v>Marine freight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8.3223209019999994E-2</c:v>
                </c:pt>
                <c:pt idx="1">
                  <c:v>4.3810843820000001E-2</c:v>
                </c:pt>
                <c:pt idx="2">
                  <c:v>1.8598239079999999E-2</c:v>
                </c:pt>
                <c:pt idx="3">
                  <c:v>-0.28707697339999999</c:v>
                </c:pt>
                <c:pt idx="4">
                  <c:v>-0.58529677589999995</c:v>
                </c:pt>
                <c:pt idx="5">
                  <c:v>-0.84991047009999998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FA-47FB-96D4-A64EB1BD1C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"/>
          <c:min val="-1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>
              <a:srgbClr val="919B97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Transit bus, CNG</c:v>
                </c:pt>
                <c:pt idx="1">
                  <c:v>Transit bus, diesel</c:v>
                </c:pt>
                <c:pt idx="2">
                  <c:v>School bus, gasoline</c:v>
                </c:pt>
                <c:pt idx="3">
                  <c:v>School bus, diesel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0.45879408399999999</c:v>
                </c:pt>
                <c:pt idx="1">
                  <c:v>0.53975774600000004</c:v>
                </c:pt>
                <c:pt idx="2">
                  <c:v>1.862472082</c:v>
                </c:pt>
                <c:pt idx="3">
                  <c:v>2.2349664979999999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4B-430F-8D5B-C29F781D0B28}"/>
            </c:ext>
          </c:extLst>
        </c:ser>
        <c:ser>
          <c:idx val="1"/>
          <c:order val="1"/>
          <c:tx>
            <c:v>New backend</c:v>
          </c:tx>
          <c:spPr>
            <a:solidFill>
              <a:srgbClr val="17795E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Transit bus, CNG</c:v>
                </c:pt>
                <c:pt idx="1">
                  <c:v>Transit bus, diesel</c:v>
                </c:pt>
                <c:pt idx="2">
                  <c:v>School bus, gasoline</c:v>
                </c:pt>
                <c:pt idx="3">
                  <c:v>School bus, diesel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1.1881244470000001</c:v>
                </c:pt>
                <c:pt idx="1">
                  <c:v>1.1881244470000001</c:v>
                </c:pt>
                <c:pt idx="2">
                  <c:v>3.5629511059999999</c:v>
                </c:pt>
                <c:pt idx="3">
                  <c:v>3.5629511059999999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4B-430F-8D5B-C29F781D0B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tonne-km / PJ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>
              <a:srgbClr val="919B97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Marine diesel oil</c:v>
                </c:pt>
                <c:pt idx="1">
                  <c:v>Heavy fuel oil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6.3846097459999998</c:v>
                </c:pt>
                <c:pt idx="1">
                  <c:v>6.6674214459999996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25-4BA9-94C3-668468237B77}"/>
            </c:ext>
          </c:extLst>
        </c:ser>
        <c:ser>
          <c:idx val="1"/>
          <c:order val="1"/>
          <c:tx>
            <c:v>New backend</c:v>
          </c:tx>
          <c:spPr>
            <a:solidFill>
              <a:srgbClr val="17795E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Marine diesel oil</c:v>
                </c:pt>
                <c:pt idx="1">
                  <c:v>Heavy fuel oil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3.8135462100000002</c:v>
                </c:pt>
                <c:pt idx="1">
                  <c:v>3.735869847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25-4BA9-94C3-668468237B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.3000000000000007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>
              <a:srgbClr val="919B97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Passenger light truck, PHEV</c:v>
                </c:pt>
                <c:pt idx="1">
                  <c:v>Car, PHEV</c:v>
                </c:pt>
                <c:pt idx="2">
                  <c:v>Passenger light truck, BEV</c:v>
                </c:pt>
                <c:pt idx="3">
                  <c:v>Car, BEV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1.3780830079999999</c:v>
                </c:pt>
                <c:pt idx="1">
                  <c:v>1.493019906</c:v>
                </c:pt>
                <c:pt idx="2">
                  <c:v>1.9106626529999999</c:v>
                </c:pt>
                <c:pt idx="3">
                  <c:v>2.324932649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68-4839-9FA7-0FE8DDF4182C}"/>
            </c:ext>
          </c:extLst>
        </c:ser>
        <c:ser>
          <c:idx val="1"/>
          <c:order val="1"/>
          <c:tx>
            <c:v>New backend</c:v>
          </c:tx>
          <c:spPr>
            <a:solidFill>
              <a:srgbClr val="17795E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Passenger light truck, PHEV</c:v>
                </c:pt>
                <c:pt idx="1">
                  <c:v>Car, PHEV</c:v>
                </c:pt>
                <c:pt idx="2">
                  <c:v>Passenger light truck, BEV</c:v>
                </c:pt>
                <c:pt idx="3">
                  <c:v>Car, BEV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1.1613591430000001</c:v>
                </c:pt>
                <c:pt idx="1">
                  <c:v>1.815040585</c:v>
                </c:pt>
                <c:pt idx="2">
                  <c:v>2.2013578890000001</c:v>
                </c:pt>
                <c:pt idx="3">
                  <c:v>2.399457822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68-4839-9FA7-0FE8DDF418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>
              <a:srgbClr val="17795E"/>
            </a:solidFill>
          </c:spPr>
          <c:invertIfNegative val="0"/>
          <c:dLbls>
            <c:numFmt formatCode="\+0.0%;\-0.0%;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Heavy trucks, all powertrains</c:v>
                </c:pt>
                <c:pt idx="1">
                  <c:v>Medium trucks, all powertrains</c:v>
                </c:pt>
                <c:pt idx="2">
                  <c:v>Passenger light trucks, all powertrains</c:v>
                </c:pt>
                <c:pt idx="3">
                  <c:v>Cars, all powertrains</c:v>
                </c:pt>
                <c:pt idx="4">
                  <c:v>Marine freight, MDO</c:v>
                </c:pt>
                <c:pt idx="5">
                  <c:v>Marine freight, HFO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6.3812018770000006E-2</c:v>
                </c:pt>
                <c:pt idx="1">
                  <c:v>0.1006035143</c:v>
                </c:pt>
                <c:pt idx="2">
                  <c:v>0.1427702502</c:v>
                </c:pt>
                <c:pt idx="3">
                  <c:v>-5.5106084899999998E-2</c:v>
                </c:pt>
                <c:pt idx="4">
                  <c:v>-0.84483953970000003</c:v>
                </c:pt>
                <c:pt idx="5">
                  <c:v>-0.84068074609999999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F4-4D2A-BBDA-CD4332F33B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-1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Installed charger capacity (GW)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Legacy inventory</c:v>
          </c:tx>
          <c:spPr>
            <a:solidFill>
              <a:srgbClr val="919B97"/>
            </a:solidFill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0.24428127899999999</c:v>
                </c:pt>
                <c:pt idx="1">
                  <c:v>0.25327071099999998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C-43D3-9EF8-F83702676961}"/>
            </c:ext>
          </c:extLst>
        </c:ser>
        <c:ser>
          <c:idx val="1"/>
          <c:order val="1"/>
          <c:tx>
            <c:v>New 2023 inventory</c:v>
          </c:tx>
          <c:spPr>
            <a:solidFill>
              <a:srgbClr val="17795E"/>
            </a:solidFill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0.21181848510000001</c:v>
                </c:pt>
                <c:pt idx="1">
                  <c:v>0.88703260139999995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C-43D3-9EF8-F837026769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200000000000001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Annual capacity factor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Legacy upper limit</c:v>
          </c:tx>
          <c:spPr>
            <a:solidFill>
              <a:srgbClr val="919B97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Intercity buses</c:v>
                </c:pt>
                <c:pt idx="1">
                  <c:v>Heavy trucks</c:v>
                </c:pt>
                <c:pt idx="2">
                  <c:v>Medium trucks</c:v>
                </c:pt>
                <c:pt idx="3">
                  <c:v>Cars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4.1296920999999998</c:v>
                </c:pt>
                <c:pt idx="1">
                  <c:v>20.724494199999999</c:v>
                </c:pt>
                <c:pt idx="2">
                  <c:v>2.6242253999999998</c:v>
                </c:pt>
                <c:pt idx="3">
                  <c:v>1.8861810999999999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9-4CC1-BE4A-368DBDFE4972}"/>
            </c:ext>
          </c:extLst>
        </c:ser>
        <c:ser>
          <c:idx val="1"/>
          <c:order val="1"/>
          <c:tx>
            <c:v>New fixed value</c:v>
          </c:tx>
          <c:spPr>
            <a:solidFill>
              <a:srgbClr val="17795E"/>
            </a:solidFill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263C34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Intercity buses</c:v>
                </c:pt>
                <c:pt idx="1">
                  <c:v>Heavy trucks</c:v>
                </c:pt>
                <c:pt idx="2">
                  <c:v>Medium trucks</c:v>
                </c:pt>
                <c:pt idx="3">
                  <c:v>Cars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5.2633521940000003</c:v>
                </c:pt>
                <c:pt idx="1">
                  <c:v>23.6626966</c:v>
                </c:pt>
                <c:pt idx="2">
                  <c:v>2.895375424</c:v>
                </c:pt>
                <c:pt idx="3">
                  <c:v>2.075689111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79-4CC1-BE4A-368DBDFE49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b"/>
        <c:majorGridlines>
          <c:spPr>
            <a:ln w="4763">
              <a:solidFill>
                <a:srgbClr val="D8E2DC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4763">
            <a:solidFill>
              <a:srgbClr val="D8E2D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Scope: cost_fixed, cost_invest, cost_variable, demand, efficiency, existing_capacity, limit_annual_capacity_factor. User-approved geography is Ontario. Explanations are limited to user observations, not a quantitative causal decomposition.</a:t>
            </a:r>
          </a:p>
          <a:p>
            <a:r>
              <a:t>{</a:t>
            </a:r>
          </a:p>
          <a:p>
            <a:r>
              <a:t>  "database_pair": {</a:t>
            </a:r>
          </a:p>
          <a:p>
            <a:r>
              <a:t>    "candidate": {</a:t>
            </a:r>
          </a:p>
          <a:p>
            <a:r>
              <a:t>      "path": "C:\\Users\\rashi\\ESM_databases\\canoe-transportation\\outputs\\sqlite\\legacy_reproduction.sqlite",</a:t>
            </a:r>
          </a:p>
          <a:p>
            <a:r>
              <a:t>      "sha256": "8b5ee4b368ef5d2d3d4d008e393ff3f8b320947cd38c9af85d67b6a6a908c9ca"</a:t>
            </a:r>
          </a:p>
          <a:p>
            <a:r>
              <a:t>    },</a:t>
            </a:r>
          </a:p>
          <a:p>
            <a:r>
              <a:t>    "legacy": {</a:t>
            </a:r>
          </a:p>
          <a:p>
            <a:r>
              <a:t>      "path": "C:\\Users\\rashi\\ESM_databases\\canoe-transportation\\legacy_backend\\canoe_transport_baseline.sqlite",</a:t>
            </a:r>
          </a:p>
          <a:p>
            <a:r>
              <a:t>      "sha256": "72dcd117b038092a8651305880bce56f158a771280ddcec3a45dbc600fa1a65f"</a:t>
            </a:r>
          </a:p>
          <a:p>
            <a:r>
              <a:t>    },</a:t>
            </a:r>
          </a:p>
          <a:p>
            <a:r>
              <a:t>    "build_report": {</a:t>
            </a:r>
          </a:p>
          <a:p>
            <a:r>
              <a:t>      "path": "C:\\Users\\rashi\\ESM_databases\\canoe-transportation\\outputs\\validation\\transport_comparison_build.json",</a:t>
            </a:r>
          </a:p>
          <a:p>
            <a:r>
              <a:t>      "sha256": "bae80ac6b1dfc0b6e7f53c37ba1cac933bde9090a6e03c1949c53ebeaf23545d"</a:t>
            </a:r>
          </a:p>
          <a:p>
            <a:r>
              <a:t>    },</a:t>
            </a:r>
          </a:p>
          <a:p>
            <a:r>
              <a:t>    "diagnostic_config": {</a:t>
            </a:r>
          </a:p>
          <a:p>
            <a:r>
              <a:t>      "path": "C:\\Users\\rashi\\ESM_databases\\canoe-transportation\\config\\parameters\\transport_comparison.yaml",</a:t>
            </a:r>
          </a:p>
          <a:p>
            <a:r>
              <a:t>      "sha256": "6670cda5151e90ed30f530dd735373afbcd3722ff21307eda9755a041e1b04a6"</a:t>
            </a:r>
          </a:p>
          <a:p>
            <a:r>
              <a:t>    },</a:t>
            </a:r>
          </a:p>
          <a:p>
            <a:r>
              <a:t>    "assumptions": {</a:t>
            </a:r>
          </a:p>
          <a:p>
            <a:r>
              <a:t>      "path": "C:\\Users\\rashi\\ESM_databases\\canoe-transportation\\docs\\assumptions.md",</a:t>
            </a:r>
          </a:p>
          <a:p>
            <a:r>
              <a:t>      "sha256": "2aeb356c8b1a1f5dd8bc0b49656d0fd2f4492f9db52df2791ab1ba5844b05a30"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"rows_csv_sha256": "54689bf3e4e4121e714259dcf9d745c188d880aa7e32802e91fa9f1eeba28fd6"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cost_fixed: Reported driver: rounded aggregation weights.</a:t>
            </a:r>
          </a:p>
          <a:p>
            <a:r>
              <a:t>Comparison: Paired native bars; $M 2020CAD/GW; retain native units. Equal legacy constituent rates are bridged, never summed.</a:t>
            </a:r>
          </a:p>
          <a:p>
            <a:r>
              <a:t>Interpretation: Future class-rate bridge maps legacy BEV/PHEV LDV rates and MDV/HDV rates to the corresponding new shared class; constituent rates agree. This is the 2025 illustration; later vintages differ in direction and magnitude.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"LDV chargers",</a:t>
            </a:r>
          </a:p>
          <a:p>
            <a:r>
              <a:t>    "table": "cost_fixed",</a:t>
            </a:r>
          </a:p>
          <a:p>
            <a:r>
              <a:t>    "region": "ON",</a:t>
            </a:r>
          </a:p>
          <a:p>
            <a:r>
              <a:t>    "tech": "T_LDV_CHRG_N",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"T_LDV_CHRG_N",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16.204762204209946,</a:t>
            </a:r>
          </a:p>
          <a:p>
            <a:r>
              <a:t>    "legacy": 16.063927149,</a:t>
            </a:r>
          </a:p>
          <a:p>
            <a:r>
              <a:t>    "candidate_units": "$M 2020CAD / GW",</a:t>
            </a:r>
          </a:p>
          <a:p>
            <a:r>
              <a:t>    "legacy_units": "$M 2020CAD / GW",</a:t>
            </a:r>
          </a:p>
          <a:p>
            <a:r>
              <a:t>    "units": "$M 2020CAD / GW",</a:t>
            </a:r>
          </a:p>
          <a:p>
            <a:r>
              <a:t>    "unit_basis": "declared units",</a:t>
            </a:r>
          </a:p>
          <a:p>
            <a:r>
              <a:t>    "comparison_grain": "charger class rate bridge; legacy constituent rates must agree",</a:t>
            </a:r>
          </a:p>
          <a:p>
            <a:r>
              <a:t>    "delta": 0.14083505520994422,</a:t>
            </a:r>
          </a:p>
          <a:p>
            <a:r>
              <a:t>    "absolute_difference": 0.14083505520994422,</a:t>
            </a:r>
          </a:p>
          <a:p>
            <a:r>
              <a:t>    "relative_percent": 0.876716222027385,</a:t>
            </a:r>
          </a:p>
          <a:p>
            <a:r>
              <a:t>    "status": "different",</a:t>
            </a:r>
          </a:p>
          <a:p>
            <a:r>
              <a:t>    "period": 2025,</a:t>
            </a:r>
          </a:p>
          <a:p>
            <a:r>
              <a:t>    "legacy_keys": [</a:t>
            </a:r>
          </a:p>
          <a:p>
            <a:r>
              <a:t>      {</a:t>
            </a:r>
          </a:p>
          <a:p>
            <a:r>
              <a:t>        "period": 2025,</a:t>
            </a:r>
          </a:p>
          <a:p>
            <a:r>
              <a:t>        "region": "ON",</a:t>
            </a:r>
          </a:p>
          <a:p>
            <a:r>
              <a:t>        "tech": "T_LDV_BEV_CHRG",</a:t>
            </a:r>
          </a:p>
          <a:p>
            <a:r>
              <a:t>        "vintage": 2025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"period": 2025,</a:t>
            </a:r>
          </a:p>
          <a:p>
            <a:r>
              <a:t>        "region": "ON",</a:t>
            </a:r>
          </a:p>
          <a:p>
            <a:r>
              <a:t>        "tech": "T_LDV_PHEV_CHRG",</a:t>
            </a:r>
          </a:p>
          <a:p>
            <a:r>
              <a:t>        "vintage": 2025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2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"MHDV chargers",</a:t>
            </a:r>
          </a:p>
          <a:p>
            <a:r>
              <a:t>    "table": "cost_fixed",</a:t>
            </a:r>
          </a:p>
          <a:p>
            <a:r>
              <a:t>    "region": "ON",</a:t>
            </a:r>
          </a:p>
          <a:p>
            <a:r>
              <a:t>    "tech": "T_MHDV_CHRG_N",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"T_MHDV_CHRG_N",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12.064830702390768,</a:t>
            </a:r>
          </a:p>
          <a:p>
            <a:r>
              <a:t>    "legacy": 11.989424613,</a:t>
            </a:r>
          </a:p>
          <a:p>
            <a:r>
              <a:t>    "candidate_units": "$M 2020CAD / GW",</a:t>
            </a:r>
          </a:p>
          <a:p>
            <a:r>
              <a:t>    "legacy_units": "$M 2020CAD / GW",</a:t>
            </a:r>
          </a:p>
          <a:p>
            <a:r>
              <a:t>    "units": "$M 2020CAD / GW",</a:t>
            </a:r>
          </a:p>
          <a:p>
            <a:r>
              <a:t>    "unit_basis": "declared units",</a:t>
            </a:r>
          </a:p>
          <a:p>
            <a:r>
              <a:t>    "comparison_grain": "charger class rate bridge; legacy constituent rates must agree",</a:t>
            </a:r>
          </a:p>
          <a:p>
            <a:r>
              <a:t>    "delta": 0.07540608939076776,</a:t>
            </a:r>
          </a:p>
          <a:p>
            <a:r>
              <a:t>    "absolute_difference": 0.07540608939076776,</a:t>
            </a:r>
          </a:p>
          <a:p>
            <a:r>
              <a:t>    "relative_percent": 0.6289383504610035,</a:t>
            </a:r>
          </a:p>
          <a:p>
            <a:r>
              <a:t>    "status": "different",</a:t>
            </a:r>
          </a:p>
          <a:p>
            <a:r>
              <a:t>    "period": 2025,</a:t>
            </a:r>
          </a:p>
          <a:p>
            <a:r>
              <a:t>    "legacy_keys": [</a:t>
            </a:r>
          </a:p>
          <a:p>
            <a:r>
              <a:t>      {</a:t>
            </a:r>
          </a:p>
          <a:p>
            <a:r>
              <a:t>        "period": 2025,</a:t>
            </a:r>
          </a:p>
          <a:p>
            <a:r>
              <a:t>        "region": "ON",</a:t>
            </a:r>
          </a:p>
          <a:p>
            <a:r>
              <a:t>        "tech": "T_MDV_CHRG",</a:t>
            </a:r>
          </a:p>
          <a:p>
            <a:r>
              <a:t>        "vintage": 2025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"period": 2025,</a:t>
            </a:r>
          </a:p>
          <a:p>
            <a:r>
              <a:t>        "region": "ON",</a:t>
            </a:r>
          </a:p>
          <a:p>
            <a:r>
              <a:t>        "tech": "T_HDV_CHRG",</a:t>
            </a:r>
          </a:p>
          <a:p>
            <a:r>
              <a:t>        "vintage": 2025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2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cost_invest: Reported driver: OEO replaced by CIMS capital costs normalized to service-output units; aircraft service output is derived from FAA operational data.</a:t>
            </a:r>
          </a:p>
          <a:p>
            <a:r>
              <a:t>Comparison: Use separate freight/passenger panels for native-unit bars. A explicitly labeled percentage-change chart is an alternative; do not put unlike native units on a shared axis.</a:t>
            </a:r>
          </a:p>
          <a:p>
            <a:r>
              <a:t>Interpretation: 2025 technology vintages. Distinct examples, no class means or ranking.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"Marine freight, MDO",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"T_HDV_WTF_MDO_N",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"T_HDV_WTF_MDO_N",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159.71497923605244,</a:t>
            </a:r>
          </a:p>
          <a:p>
            <a:r>
              <a:t>    "legacy": 21.111052987,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138.60392624905245,</a:t>
            </a:r>
          </a:p>
          <a:p>
            <a:r>
              <a:t>    "absolute_difference": 138.60392624905245,</a:t>
            </a:r>
          </a:p>
          <a:p>
            <a:r>
              <a:t>    "relative_percent": 656.5467214468341,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"Rail freight, diesel",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"T_HDV_RF_DSL_N",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"T_HDV_RF_DSL_N",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39.10602039451965,</a:t>
            </a:r>
          </a:p>
          <a:p>
            <a:r>
              <a:t>    "legacy": 27.214521015,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11.891499379519654,</a:t>
            </a:r>
          </a:p>
          <a:p>
            <a:r>
              <a:t>    "absolute_difference": 11.891499379519654,</a:t>
            </a:r>
          </a:p>
          <a:p>
            <a:r>
              <a:t>    "relative_percent": 43.69542044471532,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"Air freight, jet fuel",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"T_HDV_AJF_JFL_N",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"T_HDV_AJF_JFL_N",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6132.623678803439,</a:t>
            </a:r>
          </a:p>
          <a:p>
            <a:r>
              <a:t>    "legacy": 2722.833566153,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3409.7901126504394,</a:t>
            </a:r>
          </a:p>
          <a:p>
            <a:r>
              <a:t>    "absolute_difference": 3409.7901126504394,</a:t>
            </a:r>
          </a:p>
          <a:p>
            <a:r>
              <a:t>    "relative_percent": 125.22947252585905,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rail, diesel",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"T_HDV_RICP_DSL_N",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"T_HDV_RICP_DSL_N",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1885.6878005906885,</a:t>
            </a:r>
          </a:p>
          <a:p>
            <a:r>
              <a:t>    "legacy": 540.223281,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1345.4645195906885,</a:t>
            </a:r>
          </a:p>
          <a:p>
            <a:r>
              <a:t>    "absolute_difference": 1345.4645195906885,</a:t>
            </a:r>
          </a:p>
          <a:p>
            <a:r>
              <a:t>    "relative_percent": 249.05711525429214,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air, jet fuel",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"T_HDV_AJP_JFL_N",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"T_HDV_AJP_JFL_N",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1032.1218289023984,</a:t>
            </a:r>
          </a:p>
          <a:p>
            <a:r>
              <a:t>    "legacy": 676.775622209,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355.34620669339847,</a:t>
            </a:r>
          </a:p>
          <a:p>
            <a:r>
              <a:t>    "absolute_difference": 355.34620669339847,</a:t>
            </a:r>
          </a:p>
          <a:p>
            <a:r>
              <a:t>    "relative_percent": 52.505763362685286,</a:t>
            </a:r>
          </a:p>
          <a:p>
            <a:r>
              <a:t>    "status": "different"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cost_invest: Reported driver: ATB retail prices divided by the 1.5 markup should largely preserve the cost basis, leaving aggregation weights as the expected main source of differences. The larger regional/long-haul aggregation change is a hypothesis for heavy trucks. ATB lacks gasoline MDV inputs present in legacy Islam et al. 2023 evidence.</a:t>
            </a:r>
          </a:p>
          <a:p>
            <a:r>
              <a:t>Comparison: Paired native bars; $M 2020CAD/thousand vehicles. Select car, light truck, diesel MDV and diesel or BEV HDV; retain gasoline MDV in the table.</a:t>
            </a:r>
          </a:p>
          <a:p>
            <a:r>
              <a:t>Interpretation: The heavy-truck explanation is a hypothesis, not a verified quantitative attribution. Gasoline MDV has a new SQLite row; it is not a missing-output example. New gasoline and diesel MDV investment costs are identical: 41.288421469437736. Keep missing source input coverage distinct from output coverage.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"Car, gasoline",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"T_LDV_C_GSL_N",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"T_LDV_C_GSL_N",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18.099727473265236,</a:t>
            </a:r>
          </a:p>
          <a:p>
            <a:r>
              <a:t>    "legacy": 19.336826199,</a:t>
            </a:r>
          </a:p>
          <a:p>
            <a:r>
              <a:t>    "candidate_units": "$M 2020CAD / k vehicles",</a:t>
            </a:r>
          </a:p>
          <a:p>
            <a:r>
              <a:t>    "legacy_units": "$M 2020CAD / k vehicles",</a:t>
            </a:r>
          </a:p>
          <a:p>
            <a:r>
              <a:t>    "units": "$M 2020CAD / k vehicles",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-1.2370987257347643,</a:t>
            </a:r>
          </a:p>
          <a:p>
            <a:r>
              <a:t>    "absolute_difference": 1.2370987257347643,</a:t>
            </a:r>
          </a:p>
          <a:p>
            <a:r>
              <a:t>    "relative_percent": -6.397630681495914,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light truck, gasoline",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"T_LDV_LTP_GSL_N",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"T_LDV_LTP_GSL_N",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22.976303566477313,</a:t>
            </a:r>
          </a:p>
          <a:p>
            <a:r>
              <a:t>    "legacy": 24.877318529,</a:t>
            </a:r>
          </a:p>
          <a:p>
            <a:r>
              <a:t>    "candidate_units": "$M 2020CAD / k vehicles",</a:t>
            </a:r>
          </a:p>
          <a:p>
            <a:r>
              <a:t>    "legacy_units": "$M 2020CAD / k vehicles",</a:t>
            </a:r>
          </a:p>
          <a:p>
            <a:r>
              <a:t>    "units": "$M 2020CAD / k vehicles",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-1.9010149625226873,</a:t>
            </a:r>
          </a:p>
          <a:p>
            <a:r>
              <a:t>    "absolute_difference": 1.9010149625226873,</a:t>
            </a:r>
          </a:p>
          <a:p>
            <a:r>
              <a:t>    "relative_percent": -7.641558957837981,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"Medium truck, diesel",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"T_MDV_T_DSL_N",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"T_MDV_T_DSL_N",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41.288421469437736,</a:t>
            </a:r>
          </a:p>
          <a:p>
            <a:r>
              <a:t>    "legacy": 54.668782164,</a:t>
            </a:r>
          </a:p>
          <a:p>
            <a:r>
              <a:t>    "candidate_units": "$M 2020CAD / k vehicles",</a:t>
            </a:r>
          </a:p>
          <a:p>
            <a:r>
              <a:t>    "legacy_units": "$M 2020CAD / k vehicles",</a:t>
            </a:r>
          </a:p>
          <a:p>
            <a:r>
              <a:t>    "units": "$M 2020CAD / k vehicles",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-13.380360694562263,</a:t>
            </a:r>
          </a:p>
          <a:p>
            <a:r>
              <a:t>    "absolute_difference": 13.380360694562263,</a:t>
            </a:r>
          </a:p>
          <a:p>
            <a:r>
              <a:t>    "relative_percent": -24.475322414212073,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"Medium truck, gasoline",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"T_MDV_T_GSL_N",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"T_MDV_T_GSL_N",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41.288421469437736,</a:t>
            </a:r>
          </a:p>
          <a:p>
            <a:r>
              <a:t>    "legacy": 55.45183589,</a:t>
            </a:r>
          </a:p>
          <a:p>
            <a:r>
              <a:t>    "candidate_units": "$M 2020CAD / k vehicles",</a:t>
            </a:r>
          </a:p>
          <a:p>
            <a:r>
              <a:t>    "legacy_units": "$M 2020CAD / k vehicles",</a:t>
            </a:r>
          </a:p>
          <a:p>
            <a:r>
              <a:t>    "units": "$M 2020CAD / k vehicles",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-14.163414420562262,</a:t>
            </a:r>
          </a:p>
          <a:p>
            <a:r>
              <a:t>    "absolute_difference": 14.163414420562262,</a:t>
            </a:r>
          </a:p>
          <a:p>
            <a:r>
              <a:t>    "relative_percent": -25.54183138076488,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"Heavy truck, diesel",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"T_HDV_T_DSL_N",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110.99023673741151,</a:t>
            </a:r>
          </a:p>
          <a:p>
            <a:r>
              <a:t>    "legacy": 150.78258797,</a:t>
            </a:r>
          </a:p>
          <a:p>
            <a:r>
              <a:t>    "candidate_units": "$M 2020CAD / k vehicles",</a:t>
            </a:r>
          </a:p>
          <a:p>
            <a:r>
              <a:t>    "legacy_units": "$M 2020CAD / k vehicles",</a:t>
            </a:r>
          </a:p>
          <a:p>
            <a:r>
              <a:t>    "units": "$M 2020CAD / k vehicles",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-39.7923512325885,</a:t>
            </a:r>
          </a:p>
          <a:p>
            <a:r>
              <a:t>    "absolute_difference": 39.7923512325885,</a:t>
            </a:r>
          </a:p>
          <a:p>
            <a:r>
              <a:t>    "relative_percent": -26.390547985889235,</a:t>
            </a:r>
          </a:p>
          <a:p>
            <a:r>
              <a:t>    "status": "different"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"Heavy truck, BEV",</a:t>
            </a:r>
          </a:p>
          <a:p>
            <a:r>
              <a:t>    "table": "cost_invest",</a:t>
            </a:r>
          </a:p>
          <a:p>
            <a:r>
              <a:t>    "region": "ON",</a:t>
            </a:r>
          </a:p>
          <a:p>
            <a:r>
              <a:t>    "tech": "T_HDV_T_BEV_N",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"T_HDV_T_BEV_N",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342.1920178229556,</a:t>
            </a:r>
          </a:p>
          <a:p>
            <a:r>
              <a:t>    "legacy": 479.89513156,</a:t>
            </a:r>
          </a:p>
          <a:p>
            <a:r>
              <a:t>    "candidate_units": "$M 2020CAD / k vehicles",</a:t>
            </a:r>
          </a:p>
          <a:p>
            <a:r>
              <a:t>    "legacy_units": "$M 2020CAD / k vehicles",</a:t>
            </a:r>
          </a:p>
          <a:p>
            <a:r>
              <a:t>    "units": "$M 2020CAD / k vehicles",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-137.70311373704436,</a:t>
            </a:r>
          </a:p>
          <a:p>
            <a:r>
              <a:t>    "absolute_difference": 137.70311373704436,</a:t>
            </a:r>
          </a:p>
          <a:p>
            <a:r>
              <a:t>    "relative_percent": -28.694417734435326,</a:t>
            </a:r>
          </a:p>
          <a:p>
            <a:r>
              <a:t>    "status": "different"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cost_variable: Reported method: off-road operating costs apply OEO capital-to-operating relationships to revised capital costs; aircraft use FAA-derived operating costs.</a:t>
            </a:r>
          </a:p>
          <a:p>
            <a:r>
              <a:t>Comparison: Native bars with separate unit panels and, if needed, separate scales by mode so that marine legacy values remain visible. Avoid one enormous percentage axis driven by marine.</a:t>
            </a:r>
          </a:p>
          <a:p>
            <a:r>
              <a:t>Interpretation: Do not claim the same final capex/opex ratio alone explains marine magnitudes. For marine MDO, capex changes by +656.55% and opex by +22238.19%. Candidate opex/capex=0.05, legacy=0.001693; the outputs do not establish a common ratio. The requested driver can be described as a reported method, without adding an unrequested root cause or a full quantitative decomposition.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"Marine freight, MDO",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"T_HDV_WTF_MDO_N",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"T_HDV_WTF_MDO_N",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7.9857489618026225,</a:t>
            </a:r>
          </a:p>
          <a:p>
            <a:r>
              <a:t>    "legacy": 0.035749317,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7.949999644802623,</a:t>
            </a:r>
          </a:p>
          <a:p>
            <a:r>
              <a:t>    "absolute_difference": 7.949999644802623,</a:t>
            </a:r>
          </a:p>
          <a:p>
            <a:r>
              <a:t>    "relative_percent": 22238.186102415948,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"Rail freight, diesel",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"T_HDV_RF_DSL_N",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"T_HDV_RF_DSL_N",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2.3463612236711793,</a:t>
            </a:r>
          </a:p>
          <a:p>
            <a:r>
              <a:t>    "legacy": 1.632871261,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0.7134899626711793,</a:t>
            </a:r>
          </a:p>
          <a:p>
            <a:r>
              <a:t>    "absolute_difference": 0.7134899626711793,</a:t>
            </a:r>
          </a:p>
          <a:p>
            <a:r>
              <a:t>    "relative_percent": 43.69542043591514,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"Air freight, jet fuel",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"T_HDV_AJF_JFL_N",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"T_HDV_AJF_JFL_N",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123.92235600905248,</a:t>
            </a:r>
          </a:p>
          <a:p>
            <a:r>
              <a:t>    "legacy": 24.089881813,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99.83247419605247,</a:t>
            </a:r>
          </a:p>
          <a:p>
            <a:r>
              <a:t>    "absolute_difference": 99.83247419605247,</a:t>
            </a:r>
          </a:p>
          <a:p>
            <a:r>
              <a:t>    "relative_percent": 414.41662093243775,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rail, diesel",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"T_HDV_RICP_DSL_N",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"T_HDV_RICP_DSL_N",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188.56878005906887,</a:t>
            </a:r>
          </a:p>
          <a:p>
            <a:r>
              <a:t>    "legacy": 54.0223281,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134.54645195906886,</a:t>
            </a:r>
          </a:p>
          <a:p>
            <a:r>
              <a:t>    "absolute_difference": 134.54645195906886,</a:t>
            </a:r>
          </a:p>
          <a:p>
            <a:r>
              <a:t>    "relative_percent": 249.05711525429214,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air, jet fuel",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"T_HDV_AJP_JFL_N",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"T_HDV_AJP_JFL_N",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13.758879463241271,</a:t>
            </a:r>
          </a:p>
          <a:p>
            <a:r>
              <a:t>    "legacy": 6.200477247,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7.558402216241271,</a:t>
            </a:r>
          </a:p>
          <a:p>
            <a:r>
              <a:t>    "absolute_difference": 7.558402216241271,</a:t>
            </a:r>
          </a:p>
          <a:p>
            <a:r>
              <a:t>    "relative_percent": 121.90032984796906,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cost_variable: Reported driver: formula-derived costs replace costs read directly from the BEAN model.</a:t>
            </a:r>
          </a:p>
          <a:p>
            <a:r>
              <a:t>Comparison: Separate passenger and freight panels, each with paired native bars. All rows use vintage=period=2025.</a:t>
            </a:r>
          </a:p>
          <a:p>
            <a:r>
              <a:t>Interpretation: These are examples of the requested road group, not powertrain- or fleet-weighted class averages.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"Car, gasoline",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"T_LDV_C_GSL_N",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"T_LDV_C_GSL_N",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53.00414575170667,</a:t>
            </a:r>
          </a:p>
          <a:p>
            <a:r>
              <a:t>    "legacy": 27.476041225,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25.528104526706674,</a:t>
            </a:r>
          </a:p>
          <a:p>
            <a:r>
              <a:t>    "absolute_difference": 25.528104526706674,</a:t>
            </a:r>
          </a:p>
          <a:p>
            <a:r>
              <a:t>    "relative_percent": 92.91041718003783,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light truck, gasoline",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"T_LDV_LTP_GSL_N",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"T_LDV_LTP_GSL_N",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49.06726369156515,</a:t>
            </a:r>
          </a:p>
          <a:p>
            <a:r>
              <a:t>    "legacy": 26.339524351,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22.72773934056515,</a:t>
            </a:r>
          </a:p>
          <a:p>
            <a:r>
              <a:t>    "absolute_difference": 22.72773934056515,</a:t>
            </a:r>
          </a:p>
          <a:p>
            <a:r>
              <a:t>    "relative_percent": 86.28758453530035,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"School bus, diesel",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"T_HDV_BS_DSL_N",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"T_HDV_BS_DSL_N",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1.3143676267937874,</a:t>
            </a:r>
          </a:p>
          <a:p>
            <a:r>
              <a:t>    "legacy": 9.760119627,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-8.445752000206213,</a:t>
            </a:r>
          </a:p>
          <a:p>
            <a:r>
              <a:t>    "absolute_difference": 8.445752000206213,</a:t>
            </a:r>
          </a:p>
          <a:p>
            <a:r>
              <a:t>    "relative_percent": -86.53328363765364,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"Transit bus, diesel",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"T_HDV_BT_DSL_N",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"T_HDV_BT_DSL_N",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7.4729038428853425,</a:t>
            </a:r>
          </a:p>
          <a:p>
            <a:r>
              <a:t>    "legacy": 10.439820099,</a:t>
            </a:r>
          </a:p>
          <a:p>
            <a:r>
              <a:t>    "candidate_units": "$M 2020CAD / bn passenger-km",</a:t>
            </a:r>
          </a:p>
          <a:p>
            <a:r>
              <a:t>    "legacy_units": "$M 2020CAD / bn passenger-km",</a:t>
            </a:r>
          </a:p>
          <a:p>
            <a:r>
              <a:t>    "units": "$M 2020CAD / 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-2.966916256114658,</a:t>
            </a:r>
          </a:p>
          <a:p>
            <a:r>
              <a:t>    "absolute_difference": 2.966916256114658,</a:t>
            </a:r>
          </a:p>
          <a:p>
            <a:r>
              <a:t>    "relative_percent": -28.419227802583016,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"Medium truck, diesel",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"T_MDV_T_DSL_N",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"T_MDV_T_DSL_N",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152.447328496631,</a:t>
            </a:r>
          </a:p>
          <a:p>
            <a:r>
              <a:t>    "legacy": 209.031560942,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-56.584232445369,</a:t>
            </a:r>
          </a:p>
          <a:p>
            <a:r>
              <a:t>    "absolute_difference": 56.584232445369,</a:t>
            </a:r>
          </a:p>
          <a:p>
            <a:r>
              <a:t>    "relative_percent": -27.069707651022817,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"Heavy truck, diesel",</a:t>
            </a:r>
          </a:p>
          <a:p>
            <a:r>
              <a:t>    "table": "cost_variable",</a:t>
            </a:r>
          </a:p>
          <a:p>
            <a:r>
              <a:t>    "region": "ON",</a:t>
            </a:r>
          </a:p>
          <a:p>
            <a:r>
              <a:t>    "tech": "T_HDV_T_DSL_N",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"period": 2025,</a:t>
            </a:r>
          </a:p>
          <a:p>
            <a:r>
              <a:t>      "region": "ON",</a:t>
            </a:r>
          </a:p>
          <a:p>
            <a:r>
              <a:t>      "tech": "T_HDV_T_DSL_N",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14.327485393495275,</a:t>
            </a:r>
          </a:p>
          <a:p>
            <a:r>
              <a:t>    "legacy": 17.210813999,</a:t>
            </a:r>
          </a:p>
          <a:p>
            <a:r>
              <a:t>    "candidate_units": "$M 2020CAD / bn tonne-km",</a:t>
            </a:r>
          </a:p>
          <a:p>
            <a:r>
              <a:t>    "legacy_units": "$M 2020CAD / bn tonne-km",</a:t>
            </a:r>
          </a:p>
          <a:p>
            <a:r>
              <a:t>    "units": "$M 2020CAD / 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-2.8833286055047243,</a:t>
            </a:r>
          </a:p>
          <a:p>
            <a:r>
              <a:t>    "absolute_difference": 2.8833286055047243,</a:t>
            </a:r>
          </a:p>
          <a:p>
            <a:r>
              <a:t>    "relative_percent": -16.75300543990688,</a:t>
            </a:r>
          </a:p>
          <a:p>
            <a:r>
              <a:t>    "status": "different",</a:t>
            </a:r>
          </a:p>
          <a:p>
            <a:r>
              <a:t>    "period": 2025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demand: Reported driver: the large change in marine energy use between CEUD editions.</a:t>
            </a:r>
          </a:p>
          <a:p>
            <a:r>
              <a:t>Comparison: Paired native bars in bn tonne-km.</a:t>
            </a:r>
          </a:p>
          <a:p>
            <a:r>
              <a:t>Interpretation: 2025 model-period demand; labels must say model period. Snapshot maps this model period to the 2030 demand input year.</a:t>
            </a:r>
          </a:p>
          <a:p>
            <a:endParaRPr/>
          </a:p>
          <a:p>
            <a:r>
              <a:t>demand: Reported driver: future demand is indexed to 2023 rather than the legacy 2019 demand baseline.</a:t>
            </a:r>
          </a:p>
          <a:p>
            <a:r>
              <a:t>Comparison: Choose a small explicit set (e.g. cars, passenger light trucks, school buses; heavy trucks, rail freight, medium trucks) and separate passenger/freight panels. Unselected modes need no added driver.</a:t>
            </a:r>
          </a:p>
          <a:p>
            <a:r>
              <a:t>Interpretation: Different changes across modes do not imply different named drivers. Do not label 2025 modeled demand as an observed 2025 measurement.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"Marine freight",</a:t>
            </a:r>
          </a:p>
          <a:p>
            <a:r>
              <a:t>    "table": "demand",</a:t>
            </a:r>
          </a:p>
          <a:p>
            <a:r>
              <a:t>    "region": "ON",</a:t>
            </a:r>
          </a:p>
          <a:p>
            <a:r>
              <a:t>    "keys": {</a:t>
            </a:r>
          </a:p>
          <a:p>
            <a:r>
              <a:t>      "commodity": "T_D_tkm_hdv_wt",</a:t>
            </a:r>
          </a:p>
          <a:p>
            <a:r>
              <a:t>      "period": 2025,</a:t>
            </a:r>
          </a:p>
          <a:p>
            <a:r>
              <a:t>      "region": "ON"</a:t>
            </a:r>
          </a:p>
          <a:p>
            <a:r>
              <a:t>    },</a:t>
            </a:r>
          </a:p>
          <a:p>
            <a:r>
              <a:t>    "candidate": 8.639266635416043,</a:t>
            </a:r>
          </a:p>
          <a:p>
            <a:r>
              <a:t>    "legacy": 57.560754858,</a:t>
            </a:r>
          </a:p>
          <a:p>
            <a:r>
              <a:t>    "candidate_units": "bn tonne-km",</a:t>
            </a:r>
          </a:p>
          <a:p>
            <a:r>
              <a:t>    "legacy_units": "bn tonne-km",</a:t>
            </a:r>
          </a:p>
          <a:p>
            <a:r>
              <a:t>    "units": "bn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-48.92148822258396,</a:t>
            </a:r>
          </a:p>
          <a:p>
            <a:r>
              <a:t>    "absolute_difference": 48.92148822258396,</a:t>
            </a:r>
          </a:p>
          <a:p>
            <a:r>
              <a:t>    "relative_percent": -84.99104701331878,</a:t>
            </a:r>
          </a:p>
          <a:p>
            <a:r>
              <a:t>    "status": "different",</a:t>
            </a:r>
          </a:p>
          <a:p>
            <a:r>
              <a:t>    "commodity": "T_D_tkm_hdv_wt",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"Intercity bus",</a:t>
            </a:r>
          </a:p>
          <a:p>
            <a:r>
              <a:t>    "table": "demand",</a:t>
            </a:r>
          </a:p>
          <a:p>
            <a:r>
              <a:t>    "region": "ON",</a:t>
            </a:r>
          </a:p>
          <a:p>
            <a:r>
              <a:t>    "keys": {</a:t>
            </a:r>
          </a:p>
          <a:p>
            <a:r>
              <a:t>      "commodity": "T_D_pkm_hdv_bic",</a:t>
            </a:r>
          </a:p>
          <a:p>
            <a:r>
              <a:t>      "period": 2025,</a:t>
            </a:r>
          </a:p>
          <a:p>
            <a:r>
              <a:t>      "region": "ON"</a:t>
            </a:r>
          </a:p>
          <a:p>
            <a:r>
              <a:t>    },</a:t>
            </a:r>
          </a:p>
          <a:p>
            <a:r>
              <a:t>    "candidate": 0.819704110801976,</a:t>
            </a:r>
          </a:p>
          <a:p>
            <a:r>
              <a:t>    "legacy": 1.976604143,</a:t>
            </a:r>
          </a:p>
          <a:p>
            <a:r>
              <a:t>    "candidate_units": "bn passenger-km",</a:t>
            </a:r>
          </a:p>
          <a:p>
            <a:r>
              <a:t>    "legacy_units": "bn passenger-km",</a:t>
            </a:r>
          </a:p>
          <a:p>
            <a:r>
              <a:t>    "units": "bn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-1.156900032198024,</a:t>
            </a:r>
          </a:p>
          <a:p>
            <a:r>
              <a:t>    "absolute_difference": 1.156900032198024,</a:t>
            </a:r>
          </a:p>
          <a:p>
            <a:r>
              <a:t>    "relative_percent": -58.52967759351823,</a:t>
            </a:r>
          </a:p>
          <a:p>
            <a:r>
              <a:t>    "status": "different",</a:t>
            </a:r>
          </a:p>
          <a:p>
            <a:r>
              <a:t>    "commodity": "T_D_pkm_hdv_bic",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"Cars",</a:t>
            </a:r>
          </a:p>
          <a:p>
            <a:r>
              <a:t>    "table": "demand",</a:t>
            </a:r>
          </a:p>
          <a:p>
            <a:r>
              <a:t>    "region": "ON",</a:t>
            </a:r>
          </a:p>
          <a:p>
            <a:r>
              <a:t>    "keys": {</a:t>
            </a:r>
          </a:p>
          <a:p>
            <a:r>
              <a:t>      "commodity": "T_D_pkm_ldv_c",</a:t>
            </a:r>
          </a:p>
          <a:p>
            <a:r>
              <a:t>      "period": 2025,</a:t>
            </a:r>
          </a:p>
          <a:p>
            <a:r>
              <a:t>      "region": "ON"</a:t>
            </a:r>
          </a:p>
          <a:p>
            <a:r>
              <a:t>    },</a:t>
            </a:r>
          </a:p>
          <a:p>
            <a:r>
              <a:t>    "candidate": 93.64133663017184,</a:t>
            </a:r>
          </a:p>
          <a:p>
            <a:r>
              <a:t>    "legacy": 131.348452969,</a:t>
            </a:r>
          </a:p>
          <a:p>
            <a:r>
              <a:t>    "candidate_units": "bn passenger-km",</a:t>
            </a:r>
          </a:p>
          <a:p>
            <a:r>
              <a:t>    "legacy_units": "bn passenger-km",</a:t>
            </a:r>
          </a:p>
          <a:p>
            <a:r>
              <a:t>    "units": "bn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-37.70711633882816,</a:t>
            </a:r>
          </a:p>
          <a:p>
            <a:r>
              <a:t>    "absolute_difference": 37.70711633882816,</a:t>
            </a:r>
          </a:p>
          <a:p>
            <a:r>
              <a:t>    "relative_percent": -28.707697339783323,</a:t>
            </a:r>
          </a:p>
          <a:p>
            <a:r>
              <a:t>    "status": "different",</a:t>
            </a:r>
          </a:p>
          <a:p>
            <a:r>
              <a:t>    "commodity": "T_D_pkm_ldv_c",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light trucks",</a:t>
            </a:r>
          </a:p>
          <a:p>
            <a:r>
              <a:t>    "table": "demand",</a:t>
            </a:r>
          </a:p>
          <a:p>
            <a:r>
              <a:t>    "region": "ON",</a:t>
            </a:r>
          </a:p>
          <a:p>
            <a:r>
              <a:t>    "keys": {</a:t>
            </a:r>
          </a:p>
          <a:p>
            <a:r>
              <a:t>      "commodity": "T_D_pkm_ldv_t",</a:t>
            </a:r>
          </a:p>
          <a:p>
            <a:r>
              <a:t>      "period": 2025,</a:t>
            </a:r>
          </a:p>
          <a:p>
            <a:r>
              <a:t>      "region": "ON"</a:t>
            </a:r>
          </a:p>
          <a:p>
            <a:r>
              <a:t>    },</a:t>
            </a:r>
          </a:p>
          <a:p>
            <a:r>
              <a:t>    "candidate": 135.5185829981731,</a:t>
            </a:r>
          </a:p>
          <a:p>
            <a:r>
              <a:t>    "legacy": 133.044195247,</a:t>
            </a:r>
          </a:p>
          <a:p>
            <a:r>
              <a:t>    "candidate_units": "bn passenger-km",</a:t>
            </a:r>
          </a:p>
          <a:p>
            <a:r>
              <a:t>    "legacy_units": "bn passenger-km",</a:t>
            </a:r>
          </a:p>
          <a:p>
            <a:r>
              <a:t>    "units": "bn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2.474387751173083,</a:t>
            </a:r>
          </a:p>
          <a:p>
            <a:r>
              <a:t>    "absolute_difference": 2.474387751173083,</a:t>
            </a:r>
          </a:p>
          <a:p>
            <a:r>
              <a:t>    "relative_percent": 1.859823907821997,</a:t>
            </a:r>
          </a:p>
          <a:p>
            <a:r>
              <a:t>    "status": "different",</a:t>
            </a:r>
          </a:p>
          <a:p>
            <a:r>
              <a:t>    "commodity": "T_D_pkm_ldv_t",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"Heavy trucks",</a:t>
            </a:r>
          </a:p>
          <a:p>
            <a:r>
              <a:t>    "table": "demand",</a:t>
            </a:r>
          </a:p>
          <a:p>
            <a:r>
              <a:t>    "region": "ON",</a:t>
            </a:r>
          </a:p>
          <a:p>
            <a:r>
              <a:t>    "keys": {</a:t>
            </a:r>
          </a:p>
          <a:p>
            <a:r>
              <a:t>      "commodity": "T_D_tkm_hdv_t",</a:t>
            </a:r>
          </a:p>
          <a:p>
            <a:r>
              <a:t>      "period": 2025,</a:t>
            </a:r>
          </a:p>
          <a:p>
            <a:r>
              <a:t>      "region": "ON"</a:t>
            </a:r>
          </a:p>
          <a:p>
            <a:r>
              <a:t>    },</a:t>
            </a:r>
          </a:p>
          <a:p>
            <a:r>
              <a:t>    "candidate": 103.19632643574776,</a:t>
            </a:r>
          </a:p>
          <a:p>
            <a:r>
              <a:t>    "legacy": 98.864968731,</a:t>
            </a:r>
          </a:p>
          <a:p>
            <a:r>
              <a:t>    "candidate_units": "bn tonne-km",</a:t>
            </a:r>
          </a:p>
          <a:p>
            <a:r>
              <a:t>    "legacy_units": "bn tonne-km",</a:t>
            </a:r>
          </a:p>
          <a:p>
            <a:r>
              <a:t>    "units": "bn tonne-km",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4.331357704747759,</a:t>
            </a:r>
          </a:p>
          <a:p>
            <a:r>
              <a:t>    "absolute_difference": 4.331357704747759,</a:t>
            </a:r>
          </a:p>
          <a:p>
            <a:r>
              <a:t>    "relative_percent": 4.381084382409381,</a:t>
            </a:r>
          </a:p>
          <a:p>
            <a:r>
              <a:t>    "status": "different",</a:t>
            </a:r>
          </a:p>
          <a:p>
            <a:r>
              <a:t>    "commodity": "T_D_tkm_hdv_t",</a:t>
            </a:r>
          </a:p>
          <a:p>
            <a:r>
              <a:t>    "period": 2025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air",</a:t>
            </a:r>
          </a:p>
          <a:p>
            <a:r>
              <a:t>    "table": "demand",</a:t>
            </a:r>
          </a:p>
          <a:p>
            <a:r>
              <a:t>    "region": "ON",</a:t>
            </a:r>
          </a:p>
          <a:p>
            <a:r>
              <a:t>    "keys": {</a:t>
            </a:r>
          </a:p>
          <a:p>
            <a:r>
              <a:t>      "commodity": "T_D_pkm_hdv_aj",</a:t>
            </a:r>
          </a:p>
          <a:p>
            <a:r>
              <a:t>      "period": 2025,</a:t>
            </a:r>
          </a:p>
          <a:p>
            <a:r>
              <a:t>      "region": "ON"</a:t>
            </a:r>
          </a:p>
          <a:p>
            <a:r>
              <a:t>    },</a:t>
            </a:r>
          </a:p>
          <a:p>
            <a:r>
              <a:t>    "candidate": 82.69772409009096,</a:t>
            </a:r>
          </a:p>
          <a:p>
            <a:r>
              <a:t>    "legacy": 76.344121324,</a:t>
            </a:r>
          </a:p>
          <a:p>
            <a:r>
              <a:t>    "candidate_units": "bn passenger-km",</a:t>
            </a:r>
          </a:p>
          <a:p>
            <a:r>
              <a:t>    "legacy_units": "bn passenger-km",</a:t>
            </a:r>
          </a:p>
          <a:p>
            <a:r>
              <a:t>    "units": "bn passenger-km",</a:t>
            </a:r>
          </a:p>
          <a:p>
            <a:r>
              <a:t>    "unit_basis": "declared units",</a:t>
            </a:r>
          </a:p>
          <a:p>
            <a:r>
              <a:t>    "comparison_grain": "exact parameter keys",</a:t>
            </a:r>
          </a:p>
          <a:p>
            <a:r>
              <a:t>    "delta": 6.353602766090958,</a:t>
            </a:r>
          </a:p>
          <a:p>
            <a:r>
              <a:t>    "absolute_difference": 6.353602766090958,</a:t>
            </a:r>
          </a:p>
          <a:p>
            <a:r>
              <a:t>    "relative_percent": 8.322320901601104,</a:t>
            </a:r>
          </a:p>
          <a:p>
            <a:r>
              <a:t>    "status": "different",</a:t>
            </a:r>
          </a:p>
          <a:p>
            <a:r>
              <a:t>    "commodity": "T_D_pkm_hdv_aj",</a:t>
            </a:r>
          </a:p>
          <a:p>
            <a:r>
              <a:t>    "period": 2025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>
            <a:r>
              <a:t>Comparison: Two panels: existing bus vintage 2020 in bn passenger-km/PJ, new marine vintage 2025 in bn tonne-km/PJ. Larger values mean more service output per unit energy.</a:t>
            </a:r>
          </a:p>
          <a:p>
            <a:r>
              <a:t>Interpretation: The panels intentionally use different vintage slices to illustrate the two listed observations; show both years in labels.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"School bus, diesel (2020)",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"T_HDV_BS_DSL_EX",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"T_dsl",</a:t>
            </a:r>
          </a:p>
          <a:p>
            <a:r>
              <a:t>      "output_comm": "T_D_pkm_hdv_bs",</a:t>
            </a:r>
          </a:p>
          <a:p>
            <a:r>
              <a:t>      "region": "ON",</a:t>
            </a:r>
          </a:p>
          <a:p>
            <a:r>
              <a:t>      "tech": "T_HDV_BS_DSL_EX",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3.5629511057368903,</a:t>
            </a:r>
          </a:p>
          <a:p>
            <a:r>
              <a:t>    "legacy": 2.234966498,</a:t>
            </a:r>
          </a:p>
          <a:p>
            <a:r>
              <a:t>    "candidate_units": "bn passenger-km/PJ",</a:t>
            </a:r>
          </a:p>
          <a:p>
            <a:r>
              <a:t>    "legacy_units": "bn passenger-km/PJ",</a:t>
            </a:r>
          </a:p>
          <a:p>
            <a:r>
              <a:t>    "units": "bn passenger-km/PJ",</a:t>
            </a:r>
          </a:p>
          <a:p>
            <a:r>
              <a:t>    "unit_basis": "legacy implicit parameter units",</a:t>
            </a:r>
          </a:p>
          <a:p>
            <a:r>
              <a:t>    "comparison_grain": "exact parameter keys",</a:t>
            </a:r>
          </a:p>
          <a:p>
            <a:r>
              <a:t>    "delta": 1.3279846077368904,</a:t>
            </a:r>
          </a:p>
          <a:p>
            <a:r>
              <a:t>    "absolute_difference": 1.3279846077368904,</a:t>
            </a:r>
          </a:p>
          <a:p>
            <a:r>
              <a:t>    "relative_percent": 59.418546493885316,</a:t>
            </a:r>
          </a:p>
          <a:p>
            <a:r>
              <a:t>    "status": "different",</a:t>
            </a:r>
          </a:p>
          <a:p>
            <a:r>
              <a:t>    "input_comm": "T_dsl",</a:t>
            </a:r>
          </a:p>
          <a:p>
            <a:r>
              <a:t>    "output_comm": "T_D_pkm_hdv_bs"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"School bus, gasoline (2020)",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"T_HDV_BS_GSL_EX",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"T_gsl",</a:t>
            </a:r>
          </a:p>
          <a:p>
            <a:r>
              <a:t>      "output_comm": "T_D_pkm_hdv_bs",</a:t>
            </a:r>
          </a:p>
          <a:p>
            <a:r>
              <a:t>      "region": "ON",</a:t>
            </a:r>
          </a:p>
          <a:p>
            <a:r>
              <a:t>      "tech": "T_HDV_BS_GSL_EX",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3.5629511057368903,</a:t>
            </a:r>
          </a:p>
          <a:p>
            <a:r>
              <a:t>    "legacy": 1.862472082,</a:t>
            </a:r>
          </a:p>
          <a:p>
            <a:r>
              <a:t>    "candidate_units": "bn passenger-km/PJ",</a:t>
            </a:r>
          </a:p>
          <a:p>
            <a:r>
              <a:t>    "legacy_units": "bn passenger-km/PJ",</a:t>
            </a:r>
          </a:p>
          <a:p>
            <a:r>
              <a:t>    "units": "bn passenger-km/PJ",</a:t>
            </a:r>
          </a:p>
          <a:p>
            <a:r>
              <a:t>    "unit_basis": "legacy implicit parameter units",</a:t>
            </a:r>
          </a:p>
          <a:p>
            <a:r>
              <a:t>    "comparison_grain": "exact parameter keys",</a:t>
            </a:r>
          </a:p>
          <a:p>
            <a:r>
              <a:t>    "delta": 1.7004790237368903,</a:t>
            </a:r>
          </a:p>
          <a:p>
            <a:r>
              <a:t>    "absolute_difference": 1.7004790237368903,</a:t>
            </a:r>
          </a:p>
          <a:p>
            <a:r>
              <a:t>    "relative_percent": 91.30225575842431,</a:t>
            </a:r>
          </a:p>
          <a:p>
            <a:r>
              <a:t>    "status": "different",</a:t>
            </a:r>
          </a:p>
          <a:p>
            <a:r>
              <a:t>    "input_comm": "T_gsl",</a:t>
            </a:r>
          </a:p>
          <a:p>
            <a:r>
              <a:t>    "output_comm": "T_D_pkm_hdv_bs"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"Transit bus, diesel (2020)",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"T_HDV_BT_DSL_EX",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"T_dsl",</a:t>
            </a:r>
          </a:p>
          <a:p>
            <a:r>
              <a:t>      "output_comm": "T_D_pkm_hdv_bt",</a:t>
            </a:r>
          </a:p>
          <a:p>
            <a:r>
              <a:t>      "region": "ON",</a:t>
            </a:r>
          </a:p>
          <a:p>
            <a:r>
              <a:t>      "tech": "T_HDV_BT_DSL_EX",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1.1881244472551553,</a:t>
            </a:r>
          </a:p>
          <a:p>
            <a:r>
              <a:t>    "legacy": 0.539757746,</a:t>
            </a:r>
          </a:p>
          <a:p>
            <a:r>
              <a:t>    "candidate_units": "bn passenger-km/PJ",</a:t>
            </a:r>
          </a:p>
          <a:p>
            <a:r>
              <a:t>    "legacy_units": "bn passenger-km/PJ",</a:t>
            </a:r>
          </a:p>
          <a:p>
            <a:r>
              <a:t>    "units": "bn passenger-km/PJ",</a:t>
            </a:r>
          </a:p>
          <a:p>
            <a:r>
              <a:t>    "unit_basis": "legacy implicit parameter units",</a:t>
            </a:r>
          </a:p>
          <a:p>
            <a:r>
              <a:t>    "comparison_grain": "exact parameter keys",</a:t>
            </a:r>
          </a:p>
          <a:p>
            <a:r>
              <a:t>    "delta": 0.6483667012551553,</a:t>
            </a:r>
          </a:p>
          <a:p>
            <a:r>
              <a:t>    "absolute_difference": 0.6483667012551553,</a:t>
            </a:r>
          </a:p>
          <a:p>
            <a:r>
              <a:t>    "relative_percent": 120.12179650223217,</a:t>
            </a:r>
          </a:p>
          <a:p>
            <a:r>
              <a:t>    "status": "different",</a:t>
            </a:r>
          </a:p>
          <a:p>
            <a:r>
              <a:t>    "input_comm": "T_dsl",</a:t>
            </a:r>
          </a:p>
          <a:p>
            <a:r>
              <a:t>    "output_comm": "T_D_pkm_hdv_bt"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"Transit bus, CNG (2020)",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"T_HDV_BT_CNG_EX",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"T_cng",</a:t>
            </a:r>
          </a:p>
          <a:p>
            <a:r>
              <a:t>      "output_comm": "T_D_pkm_hdv_bt",</a:t>
            </a:r>
          </a:p>
          <a:p>
            <a:r>
              <a:t>      "region": "ON",</a:t>
            </a:r>
          </a:p>
          <a:p>
            <a:r>
              <a:t>      "tech": "T_HDV_BT_CNG_EX",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1.1881244472551553,</a:t>
            </a:r>
          </a:p>
          <a:p>
            <a:r>
              <a:t>    "legacy": 0.458794084,</a:t>
            </a:r>
          </a:p>
          <a:p>
            <a:r>
              <a:t>    "candidate_units": "bn passenger-km/PJ",</a:t>
            </a:r>
          </a:p>
          <a:p>
            <a:r>
              <a:t>    "legacy_units": "bn passenger-km/PJ",</a:t>
            </a:r>
          </a:p>
          <a:p>
            <a:r>
              <a:t>    "units": "bn passenger-km/PJ",</a:t>
            </a:r>
          </a:p>
          <a:p>
            <a:r>
              <a:t>    "unit_basis": "legacy implicit parameter units",</a:t>
            </a:r>
          </a:p>
          <a:p>
            <a:r>
              <a:t>    "comparison_grain": "exact parameter keys",</a:t>
            </a:r>
          </a:p>
          <a:p>
            <a:r>
              <a:t>    "delta": 0.7293303632551553,</a:t>
            </a:r>
          </a:p>
          <a:p>
            <a:r>
              <a:t>    "absolute_difference": 0.7293303632551553,</a:t>
            </a:r>
          </a:p>
          <a:p>
            <a:r>
              <a:t>    "relative_percent": 158.96681947083593,</a:t>
            </a:r>
          </a:p>
          <a:p>
            <a:r>
              <a:t>    "status": "different",</a:t>
            </a:r>
          </a:p>
          <a:p>
            <a:r>
              <a:t>    "input_comm": "T_cng",</a:t>
            </a:r>
          </a:p>
          <a:p>
            <a:r>
              <a:t>    "output_comm": "T_D_pkm_hdv_bt"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>
            <a:r>
              <a:t>Comparison: Two panels: existing bus vintage 2020 in bn passenger-km/PJ, new marine vintage 2025 in bn tonne-km/PJ. Larger values mean more service output per unit energy.</a:t>
            </a:r>
          </a:p>
          <a:p>
            <a:r>
              <a:t>Interpretation: The panels intentionally use different vintage slices to illustrate the two listed observations; show both years in labels.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"Marine freight, HFO (2025)",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"T_HDV_WTF_HFO_N",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"input_comm": "T_hfo",</a:t>
            </a:r>
          </a:p>
          <a:p>
            <a:r>
              <a:t>      "output_comm": "T_D_tkm_hdv_wt",</a:t>
            </a:r>
          </a:p>
          <a:p>
            <a:r>
              <a:t>      "region": "ON",</a:t>
            </a:r>
          </a:p>
          <a:p>
            <a:r>
              <a:t>      "tech": "T_HDV_WTF_HFO_N",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3.7358698473783414,</a:t>
            </a:r>
          </a:p>
          <a:p>
            <a:r>
              <a:t>    "legacy": 6.667421446,</a:t>
            </a:r>
          </a:p>
          <a:p>
            <a:r>
              <a:t>    "candidate_units": "bn tonne-km/PJ",</a:t>
            </a:r>
          </a:p>
          <a:p>
            <a:r>
              <a:t>    "legacy_units": "bn tonne-km/PJ",</a:t>
            </a:r>
          </a:p>
          <a:p>
            <a:r>
              <a:t>    "units": "bn tonne-km/PJ",</a:t>
            </a:r>
          </a:p>
          <a:p>
            <a:r>
              <a:t>    "unit_basis": "legacy implicit parameter units",</a:t>
            </a:r>
          </a:p>
          <a:p>
            <a:r>
              <a:t>    "comparison_grain": "exact parameter keys",</a:t>
            </a:r>
          </a:p>
          <a:p>
            <a:r>
              <a:t>    "delta": -2.9315515986216583,</a:t>
            </a:r>
          </a:p>
          <a:p>
            <a:r>
              <a:t>    "absolute_difference": 2.9315515986216583,</a:t>
            </a:r>
          </a:p>
          <a:p>
            <a:r>
              <a:t>    "relative_percent": -43.96829602515062,</a:t>
            </a:r>
          </a:p>
          <a:p>
            <a:r>
              <a:t>    "status": "different",</a:t>
            </a:r>
          </a:p>
          <a:p>
            <a:r>
              <a:t>    "input_comm": "T_hfo",</a:t>
            </a:r>
          </a:p>
          <a:p>
            <a:r>
              <a:t>    "output_comm": "T_D_tkm_hdv_wt"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"Marine freight, MDO (2025)",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"T_HDV_WTF_MDO_N",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"input_comm": "T_mdo",</a:t>
            </a:r>
          </a:p>
          <a:p>
            <a:r>
              <a:t>      "output_comm": "T_D_tkm_hdv_wt",</a:t>
            </a:r>
          </a:p>
          <a:p>
            <a:r>
              <a:t>      "region": "ON",</a:t>
            </a:r>
          </a:p>
          <a:p>
            <a:r>
              <a:t>      "tech": "T_HDV_WTF_MDO_N",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3.8135462101515656,</a:t>
            </a:r>
          </a:p>
          <a:p>
            <a:r>
              <a:t>    "legacy": 6.384609746,</a:t>
            </a:r>
          </a:p>
          <a:p>
            <a:r>
              <a:t>    "candidate_units": "bn tonne-km/PJ",</a:t>
            </a:r>
          </a:p>
          <a:p>
            <a:r>
              <a:t>    "legacy_units": "bn tonne-km/PJ",</a:t>
            </a:r>
          </a:p>
          <a:p>
            <a:r>
              <a:t>    "units": "bn tonne-km/PJ",</a:t>
            </a:r>
          </a:p>
          <a:p>
            <a:r>
              <a:t>    "unit_basis": "legacy implicit parameter units",</a:t>
            </a:r>
          </a:p>
          <a:p>
            <a:r>
              <a:t>    "comparison_grain": "exact parameter keys",</a:t>
            </a:r>
          </a:p>
          <a:p>
            <a:r>
              <a:t>    "delta": -2.571063535848434,</a:t>
            </a:r>
          </a:p>
          <a:p>
            <a:r>
              <a:t>    "absolute_difference": 2.571063535848434,</a:t>
            </a:r>
          </a:p>
          <a:p>
            <a:r>
              <a:t>    "relative_percent": -40.26970540304711,</a:t>
            </a:r>
          </a:p>
          <a:p>
            <a:r>
              <a:t>    "status": "different",</a:t>
            </a:r>
          </a:p>
          <a:p>
            <a:r>
              <a:t>    "input_comm": "T_mdo",</a:t>
            </a:r>
          </a:p>
          <a:p>
            <a:r>
              <a:t>    "output_comm": "T_D_tkm_hdv_wt"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efficiency: Reported driver: merged BEV/PHEV archetypes now aggregate OMEGA vehicle-sales evidence instead of retaining a fixed range class.</a:t>
            </a:r>
          </a:p>
          <a:p>
            <a:r>
              <a:t>Comparison: Paired native bars, bn passenger-km/PJ, four explicit representation bridges at vintage 2020.</a:t>
            </a:r>
          </a:p>
          <a:p>
            <a:r>
              <a:t>Interpretation: These are representation bridges, not equal SQLite technology/input/output keys. Keep legacy range-specific IDs in speaker notes. Legacy passenger-truck BEV identifier is BEV300 but its row note says 150-mile. Use the identifier for the exact record; do not infer that every legacy BEV used one range. Legacy BEV service output is T_annual_pkm_*; a verified 1.0 dummy efficiency maps it to the same T_D_pkm_* service. No scaling is applied. No legacy freight light-truck BEV row exists; exclude rather than plot zero.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"Car, BEV",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"T_LDV_C_BEV_EX",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"T_elc_ldv_chrg",</a:t>
            </a:r>
          </a:p>
          <a:p>
            <a:r>
              <a:t>      "output_comm": "T_D_pkm_ldv_c",</a:t>
            </a:r>
          </a:p>
          <a:p>
            <a:r>
              <a:t>      "region": "ON",</a:t>
            </a:r>
          </a:p>
          <a:p>
            <a:r>
              <a:t>      "tech": "T_LDV_C_BEV_EX",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2.3994578223460077,</a:t>
            </a:r>
          </a:p>
          <a:p>
            <a:r>
              <a:t>    "candidate_units": "bn passenger-km/PJ",</a:t>
            </a:r>
          </a:p>
          <a:p>
            <a:r>
              <a:t>    "units": "bn passenger-km/PJ",</a:t>
            </a:r>
          </a:p>
          <a:p>
            <a:r>
              <a:t>    "unit_basis": "declared units",</a:t>
            </a:r>
          </a:p>
          <a:p>
            <a:r>
              <a:t>    "comparison_grain": "One legacy fixed-range representative paired with new merged archetype; same class, powertrain and 2020 vintage",</a:t>
            </a:r>
          </a:p>
          <a:p>
            <a:r>
              <a:t>    "status": "explicit_representation_bridge",</a:t>
            </a:r>
          </a:p>
          <a:p>
            <a:r>
              <a:t>    "input_comm": "T_elc_ldv_chrg",</a:t>
            </a:r>
          </a:p>
          <a:p>
            <a:r>
              <a:t>    "output_comm": "T_D_pkm_ldv_c",</a:t>
            </a:r>
          </a:p>
          <a:p>
            <a:r>
              <a:t>    "legacy": 2.324932649,</a:t>
            </a:r>
          </a:p>
          <a:p>
            <a:r>
              <a:t>    "delta": 0.07452517334600772,</a:t>
            </a:r>
          </a:p>
          <a:p>
            <a:r>
              <a:t>    "relative_percent": 3.2054766566275594,</a:t>
            </a:r>
          </a:p>
          <a:p>
            <a:r>
              <a:t>    "legacy_tech": "T_LDV_C_BEV150_EX",</a:t>
            </a:r>
          </a:p>
          <a:p>
            <a:r>
              <a:t>    "legacy_keys": {</a:t>
            </a:r>
          </a:p>
          <a:p>
            <a:r>
              <a:t>      "region": "ON",</a:t>
            </a:r>
          </a:p>
          <a:p>
            <a:r>
              <a:t>      "input_comm": "T_elc_ldv_bev_chrg",</a:t>
            </a:r>
          </a:p>
          <a:p>
            <a:r>
              <a:t>      "tech": "T_LDV_C_BEV150_EX",</a:t>
            </a:r>
          </a:p>
          <a:p>
            <a:r>
              <a:t>      "vintage": 2020,</a:t>
            </a:r>
          </a:p>
          <a:p>
            <a:r>
              <a:t>      "output_comm": "T_annual_pkm_ldv_c"</a:t>
            </a:r>
          </a:p>
          <a:p>
            <a:r>
              <a:t>    },</a:t>
            </a:r>
          </a:p>
          <a:p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light truck, BEV",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"T_LDV_LTP_BEV_EX",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"T_elc_ldv_chrg",</a:t>
            </a:r>
          </a:p>
          <a:p>
            <a:r>
              <a:t>      "output_comm": "T_D_pkm_ldv_t",</a:t>
            </a:r>
          </a:p>
          <a:p>
            <a:r>
              <a:t>      "region": "ON",</a:t>
            </a:r>
          </a:p>
          <a:p>
            <a:r>
              <a:t>      "tech": "T_LDV_LTP_BEV_EX",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2.201357889341348,</a:t>
            </a:r>
          </a:p>
          <a:p>
            <a:r>
              <a:t>    "candidate_units": "bn passenger-km/PJ",</a:t>
            </a:r>
          </a:p>
          <a:p>
            <a:r>
              <a:t>    "units": "bn passenger-km/PJ",</a:t>
            </a:r>
          </a:p>
          <a:p>
            <a:r>
              <a:t>    "unit_basis": "declared units",</a:t>
            </a:r>
          </a:p>
          <a:p>
            <a:r>
              <a:t>    "comparison_grain": "One legacy fixed-range representative paired with new merged archetype; same class, powertrain and 2020 vintage",</a:t>
            </a:r>
          </a:p>
          <a:p>
            <a:r>
              <a:t>    "status": "explicit_representation_bridge",</a:t>
            </a:r>
          </a:p>
          <a:p>
            <a:r>
              <a:t>    "input_comm": "T_elc_ldv_chrg",</a:t>
            </a:r>
          </a:p>
          <a:p>
            <a:r>
              <a:t>    "output_comm": "T_D_pkm_ldv_t",</a:t>
            </a:r>
          </a:p>
          <a:p>
            <a:r>
              <a:t>    "legacy": 1.910662653,</a:t>
            </a:r>
          </a:p>
          <a:p>
            <a:r>
              <a:t>    "delta": 0.290695236341348,</a:t>
            </a:r>
          </a:p>
          <a:p>
            <a:r>
              <a:t>    "relative_percent": 15.214367428227948,</a:t>
            </a:r>
          </a:p>
          <a:p>
            <a:r>
              <a:t>    "legacy_tech": "T_LDV_LTP_BEV300_EX",</a:t>
            </a:r>
          </a:p>
          <a:p>
            <a:r>
              <a:t>    "legacy_keys": {</a:t>
            </a:r>
          </a:p>
          <a:p>
            <a:r>
              <a:t>      "region": "ON",</a:t>
            </a:r>
          </a:p>
          <a:p>
            <a:r>
              <a:t>      "input_comm": "T_elc_ldv_bev_chrg",</a:t>
            </a:r>
          </a:p>
          <a:p>
            <a:r>
              <a:t>      "tech": "T_LDV_LTP_BEV300_EX",</a:t>
            </a:r>
          </a:p>
          <a:p>
            <a:r>
              <a:t>      "vintage": 2020,</a:t>
            </a:r>
          </a:p>
          <a:p>
            <a:r>
              <a:t>      "output_comm": "T_annual_pkm_ldv_t"</a:t>
            </a:r>
          </a:p>
          <a:p>
            <a:r>
              <a:t>    },</a:t>
            </a:r>
          </a:p>
          <a:p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"Car, PHEV",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"T_LDV_C_GSL_PHEV_EX",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"T_gsl_elc_phev_c_ex",</a:t>
            </a:r>
          </a:p>
          <a:p>
            <a:r>
              <a:t>      "output_comm": "T_D_pkm_ldv_c",</a:t>
            </a:r>
          </a:p>
          <a:p>
            <a:r>
              <a:t>      "region": "ON",</a:t>
            </a:r>
          </a:p>
          <a:p>
            <a:r>
              <a:t>      "tech": "T_LDV_C_GSL_PHEV_EX",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1.8150405851105467,</a:t>
            </a:r>
          </a:p>
          <a:p>
            <a:r>
              <a:t>    "candidate_units": "bn passenger-km/PJ",</a:t>
            </a:r>
          </a:p>
          <a:p>
            <a:r>
              <a:t>    "units": "bn passenger-km/PJ",</a:t>
            </a:r>
          </a:p>
          <a:p>
            <a:r>
              <a:t>    "unit_basis": "declared units",</a:t>
            </a:r>
          </a:p>
          <a:p>
            <a:r>
              <a:t>    "comparison_grain": "One legacy fixed-range representative paired with new merged archetype; same class, powertrain and 2020 vintage",</a:t>
            </a:r>
          </a:p>
          <a:p>
            <a:r>
              <a:t>    "status": "explicit_representation_bridge",</a:t>
            </a:r>
          </a:p>
          <a:p>
            <a:r>
              <a:t>    "input_comm": "T_gsl_elc_phev_c_ex",</a:t>
            </a:r>
          </a:p>
          <a:p>
            <a:r>
              <a:t>    "output_comm": "T_D_pkm_ldv_c",</a:t>
            </a:r>
          </a:p>
          <a:p>
            <a:r>
              <a:t>    "legacy": 1.493019906,</a:t>
            </a:r>
          </a:p>
          <a:p>
            <a:r>
              <a:t>    "delta": 0.32202067911054666,</a:t>
            </a:r>
          </a:p>
          <a:p>
            <a:r>
              <a:t>    "relative_percent": 21.568411634462613,</a:t>
            </a:r>
          </a:p>
          <a:p>
            <a:r>
              <a:t>    "legacy_tech": "T_LDV_C_GSL_PHEV35_EX",</a:t>
            </a:r>
          </a:p>
          <a:p>
            <a:r>
              <a:t>    "legacy_keys": {</a:t>
            </a:r>
          </a:p>
          <a:p>
            <a:r>
              <a:t>      "region": "ON",</a:t>
            </a:r>
          </a:p>
          <a:p>
            <a:r>
              <a:t>      "input_comm": "T_gsl_elc_phev35",</a:t>
            </a:r>
          </a:p>
          <a:p>
            <a:r>
              <a:t>      "tech": "T_LDV_C_GSL_PHEV35_EX",</a:t>
            </a:r>
          </a:p>
          <a:p>
            <a:r>
              <a:t>      "vintage": 2020,</a:t>
            </a:r>
          </a:p>
          <a:p>
            <a:r>
              <a:t>      "output_comm": "T_D_pkm_ldv_c"</a:t>
            </a:r>
          </a:p>
          <a:p>
            <a:r>
              <a:t>    },</a:t>
            </a:r>
          </a:p>
          <a:p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light truck, PHEV",</a:t>
            </a:r>
          </a:p>
          <a:p>
            <a:r>
              <a:t>    "table": "efficiency",</a:t>
            </a:r>
          </a:p>
          <a:p>
            <a:r>
              <a:t>    "region": "ON",</a:t>
            </a:r>
          </a:p>
          <a:p>
            <a:r>
              <a:t>    "tech": "T_LDV_LTP_GSL_PHEV_EX",</a:t>
            </a:r>
          </a:p>
          <a:p>
            <a:r>
              <a:t>    "vintage": 2020,</a:t>
            </a:r>
          </a:p>
          <a:p>
            <a:r>
              <a:t>    "keys": {</a:t>
            </a:r>
          </a:p>
          <a:p>
            <a:r>
              <a:t>      "input_comm": "T_gsl_elc_phev_ltp_ex",</a:t>
            </a:r>
          </a:p>
          <a:p>
            <a:r>
              <a:t>      "output_comm": "T_D_pkm_ldv_t",</a:t>
            </a:r>
          </a:p>
          <a:p>
            <a:r>
              <a:t>      "region": "ON",</a:t>
            </a:r>
          </a:p>
          <a:p>
            <a:r>
              <a:t>      "tech": "T_LDV_LTP_GSL_PHEV_EX",</a:t>
            </a:r>
          </a:p>
          <a:p>
            <a:r>
              <a:t>      "vintage": 2020</a:t>
            </a:r>
          </a:p>
          <a:p>
            <a:r>
              <a:t>    },</a:t>
            </a:r>
          </a:p>
          <a:p>
            <a:r>
              <a:t>    "candidate": 1.1613591430769286,</a:t>
            </a:r>
          </a:p>
          <a:p>
            <a:r>
              <a:t>    "candidate_units": "bn passenger-km/PJ",</a:t>
            </a:r>
          </a:p>
          <a:p>
            <a:r>
              <a:t>    "units": "bn passenger-km/PJ",</a:t>
            </a:r>
          </a:p>
          <a:p>
            <a:r>
              <a:t>    "unit_basis": "declared units",</a:t>
            </a:r>
          </a:p>
          <a:p>
            <a:r>
              <a:t>    "comparison_grain": "One legacy fixed-range representative paired with new merged archetype; same class, powertrain and 2020 vintage",</a:t>
            </a:r>
          </a:p>
          <a:p>
            <a:r>
              <a:t>    "status": "explicit_representation_bridge",</a:t>
            </a:r>
          </a:p>
          <a:p>
            <a:r>
              <a:t>    "input_comm": "T_gsl_elc_phev_ltp_ex",</a:t>
            </a:r>
          </a:p>
          <a:p>
            <a:r>
              <a:t>    "output_comm": "T_D_pkm_ldv_t",</a:t>
            </a:r>
          </a:p>
          <a:p>
            <a:r>
              <a:t>    "legacy": 1.378083008,</a:t>
            </a:r>
          </a:p>
          <a:p>
            <a:r>
              <a:t>    "delta": -0.21672386492307139,</a:t>
            </a:r>
          </a:p>
          <a:p>
            <a:r>
              <a:t>    "relative_percent": -15.726473925369767,</a:t>
            </a:r>
          </a:p>
          <a:p>
            <a:r>
              <a:t>    "legacy_tech": "T_LDV_LTP_GSL_PHEV35_EX",</a:t>
            </a:r>
          </a:p>
          <a:p>
            <a:r>
              <a:t>    "legacy_keys": {</a:t>
            </a:r>
          </a:p>
          <a:p>
            <a:r>
              <a:t>      "region": "ON",</a:t>
            </a:r>
          </a:p>
          <a:p>
            <a:r>
              <a:t>      "input_comm": "T_gsl_elc_phev35",</a:t>
            </a:r>
          </a:p>
          <a:p>
            <a:r>
              <a:t>      "tech": "T_LDV_LTP_GSL_PHEV35_EX",</a:t>
            </a:r>
          </a:p>
          <a:p>
            <a:r>
              <a:t>      "vintage": 2020,</a:t>
            </a:r>
          </a:p>
          <a:p>
            <a:r>
              <a:t>      "output_comm": "T_D_pkm_ldv_t"</a:t>
            </a:r>
          </a:p>
          <a:p>
            <a:r>
              <a:t>    },</a:t>
            </a:r>
          </a:p>
          <a:p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existing_capacity: Reported drivers: marine fuel-consumption differences between CEUD editions; road-stock baselines move from 2021 to 2023.</a:t>
            </a:r>
          </a:p>
          <a:p>
            <a:r>
              <a:t>Comparison: Percentage-change bars across explicitly summed class inventory, or native paired bars with separate marine (bn tonne-km) and road (thousand vehicles) panels. Compare all existing stock at each version baseline.</a:t>
            </a:r>
          </a:p>
          <a:p>
            <a:r>
              <a:t>Interpretation: Baseline inventory comparison: legacy 2021 versus new 2023, summing each version existing cohorts; not equal-vintage keys. Road labels explicitly cover all powertrains present within that class; merged BEV/PHEV technologies are included in their class totals. No missing output is substituted with zero. Marine units are service-output capacity; road units are vehicles. Never share a raw-value axis across these units. Original 2020 cohort examples remain available in common_2020_cohort_alternative.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"Marine freight, HFO",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"tech_pattern": "T_HDV_WTF_HFO_EX",</a:t>
            </a:r>
          </a:p>
          <a:p>
            <a:r>
              <a:t>    "candidate": 6.587017699388717,</a:t>
            </a:r>
          </a:p>
          <a:p>
            <a:r>
              <a:t>    "legacy": 41.34476869,</a:t>
            </a:r>
          </a:p>
          <a:p>
            <a:r>
              <a:t>    "units": "bn tonne-km",</a:t>
            </a:r>
          </a:p>
          <a:p>
            <a:r>
              <a:t>    "delta": -34.757750990611285,</a:t>
            </a:r>
          </a:p>
          <a:p>
            <a:r>
              <a:t>    "relative_percent": -84.06807461234652,</a:t>
            </a:r>
          </a:p>
          <a:p>
            <a:r>
              <a:t>    "candidate_constituent_rows": [</a:t>
            </a:r>
          </a:p>
          <a:p>
            <a:r>
              <a:t>      {</a:t>
            </a:r>
          </a:p>
          <a:p>
            <a:r>
              <a:t>        "tech": "T_HDV_WTF_HFO_EX",</a:t>
            </a:r>
          </a:p>
          <a:p>
            <a:r>
              <a:t>        "vintage": 2000,</a:t>
            </a:r>
          </a:p>
          <a:p>
            <a:r>
              <a:t>        "capacity": 1.0214032563537419,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"T_HDV_WTF_HFO_EX",</a:t>
            </a:r>
          </a:p>
          <a:p>
            <a:r>
              <a:t>        "vintage": 2005,</a:t>
            </a:r>
          </a:p>
          <a:p>
            <a:r>
              <a:t>        "capacity": 0.34909267576826447,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"T_HDV_WTF_HFO_EX",</a:t>
            </a:r>
          </a:p>
          <a:p>
            <a:r>
              <a:t>        "vintage": 2010,</a:t>
            </a:r>
          </a:p>
          <a:p>
            <a:r>
              <a:t>        "capacity": 0.8317720334237386,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"T_HDV_WTF_HFO_EX",</a:t>
            </a:r>
          </a:p>
          <a:p>
            <a:r>
              <a:t>        "vintage": 2015,</a:t>
            </a:r>
          </a:p>
          <a:p>
            <a:r>
              <a:t>        "capacity": 2.042941285328911,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"T_HDV_WTF_HFO_EX",</a:t>
            </a:r>
          </a:p>
          <a:p>
            <a:r>
              <a:t>        "vintage": 2020,</a:t>
            </a:r>
          </a:p>
          <a:p>
            <a:r>
              <a:t>        "capacity": 1.7123717437893662,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"T_HDV_WTF_HFO_EX",</a:t>
            </a:r>
          </a:p>
          <a:p>
            <a:r>
              <a:t>        "vintage": 2023,</a:t>
            </a:r>
          </a:p>
          <a:p>
            <a:r>
              <a:t>        "capacity": 0.6294367047246946,</a:t>
            </a:r>
          </a:p>
          <a:p>
            <a:r>
              <a:t>        "units": "bn tonne-km"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"T_HDV_WTF_HFO_EX",</a:t>
            </a:r>
          </a:p>
          <a:p>
            <a:r>
              <a:t>        "vintage": 2005,</a:t>
            </a:r>
          </a:p>
          <a:p>
            <a:r>
              <a:t>        "capacity": 2.131662058,</a:t>
            </a:r>
          </a:p>
          <a:p>
            <a:r>
              <a:t>        "units": "btkm"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"T_HDV_WTF_HFO_EX",</a:t>
            </a:r>
          </a:p>
          <a:p>
            <a:r>
              <a:t>        "vintage": 2010,</a:t>
            </a:r>
          </a:p>
          <a:p>
            <a:r>
              <a:t>        "capacity": 8.653369733,</a:t>
            </a:r>
          </a:p>
          <a:p>
            <a:r>
              <a:t>        "units": "btkm"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"T_HDV_WTF_HFO_EX",</a:t>
            </a:r>
          </a:p>
          <a:p>
            <a:r>
              <a:t>        "vintage": 2015,</a:t>
            </a:r>
          </a:p>
          <a:p>
            <a:r>
              <a:t>        "capacity": 22.398071163,</a:t>
            </a:r>
          </a:p>
          <a:p>
            <a:r>
              <a:t>        "units": "btkm"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"T_HDV_WTF_HFO_EX",</a:t>
            </a:r>
          </a:p>
          <a:p>
            <a:r>
              <a:t>        "vintage": 2020,</a:t>
            </a:r>
          </a:p>
          <a:p>
            <a:r>
              <a:t>        "capacity": 8.161665736,</a:t>
            </a:r>
          </a:p>
          <a:p>
            <a:r>
              <a:t>        "units": "btkm"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"comparison_grain": "Sum all existing cohorts at each version baseline; aggregate class powertrains where label specifies; no survival adjustment",</a:t>
            </a:r>
          </a:p>
          <a:p>
            <a:r>
              <a:t>    "status": "explicit_inventory_bridge",</a:t>
            </a:r>
          </a:p>
          <a:p>
            <a:r>
              <a:t>    "baseline_year_legacy": 2021,</a:t>
            </a:r>
          </a:p>
          <a:p>
            <a:r>
              <a:t>    "baseline_year_candidate": 2023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"Marine freight, MDO",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"tech_pattern": "T_HDV_WTF_MDO_EX",</a:t>
            </a:r>
          </a:p>
          <a:p>
            <a:r>
              <a:t>    "candidate": 1.1820209121490446,</a:t>
            </a:r>
          </a:p>
          <a:p>
            <a:r>
              <a:t>    "legacy": 7.618054945,</a:t>
            </a:r>
          </a:p>
          <a:p>
            <a:r>
              <a:t>    "units": "bn tonne-km",</a:t>
            </a:r>
          </a:p>
          <a:p>
            <a:r>
              <a:t>    "delta": -6.436034032850955,</a:t>
            </a:r>
          </a:p>
          <a:p>
            <a:r>
              <a:t>    "relative_percent": -84.48395396616499,</a:t>
            </a:r>
          </a:p>
          <a:p>
            <a:r>
              <a:t>    "candidate_constituent_rows": [</a:t>
            </a:r>
          </a:p>
          <a:p>
            <a:r>
              <a:t>      {</a:t>
            </a:r>
          </a:p>
          <a:p>
            <a:r>
              <a:t>        "tech": "T_HDV_WTF_MDO_EX",</a:t>
            </a:r>
          </a:p>
          <a:p>
            <a:r>
              <a:t>        "vintage": 2000,</a:t>
            </a:r>
          </a:p>
          <a:p>
            <a:r>
              <a:t>        "capacity": 0.18328780395706165,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"T_HDV_WTF_MDO_EX",</a:t>
            </a:r>
          </a:p>
          <a:p>
            <a:r>
              <a:t>        "vintage": 2005,</a:t>
            </a:r>
          </a:p>
          <a:p>
            <a:r>
              <a:t>        "capacity": 0.06264365178105528,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"T_HDV_WTF_MDO_EX",</a:t>
            </a:r>
          </a:p>
          <a:p>
            <a:r>
              <a:t>        "vintage": 2010,</a:t>
            </a:r>
          </a:p>
          <a:p>
            <a:r>
              <a:t>        "capacity": 0.14925903990493797,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"T_HDV_WTF_MDO_EX",</a:t>
            </a:r>
          </a:p>
          <a:p>
            <a:r>
              <a:t>        "vintage": 2015,</a:t>
            </a:r>
          </a:p>
          <a:p>
            <a:r>
              <a:t>        "capacity": 0.36659979246382124,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"T_HDV_WTF_MDO_EX",</a:t>
            </a:r>
          </a:p>
          <a:p>
            <a:r>
              <a:t>        "vintage": 2020,</a:t>
            </a:r>
          </a:p>
          <a:p>
            <a:r>
              <a:t>        "capacity": 0.30728006252662593,</a:t>
            </a:r>
          </a:p>
          <a:p>
            <a:r>
              <a:t>        "units": "bn tonne-km"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"T_HDV_WTF_MDO_EX",</a:t>
            </a:r>
          </a:p>
          <a:p>
            <a:r>
              <a:t>        "vintage": 2023,</a:t>
            </a:r>
          </a:p>
          <a:p>
            <a:r>
              <a:t>        "capacity": 0.11295056151554247,</a:t>
            </a:r>
          </a:p>
          <a:p>
            <a:r>
              <a:t>        "units": "bn tonne-km"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"T_HDV_WTF_MDO_EX",</a:t>
            </a:r>
          </a:p>
          <a:p>
            <a:r>
              <a:t>        "vintage": 2005,</a:t>
            </a:r>
          </a:p>
          <a:p>
            <a:r>
              <a:t>        "capacity": 1.702811321,</a:t>
            </a:r>
          </a:p>
          <a:p>
            <a:r>
              <a:t>        "units": "btkm"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"T_HDV_WTF_MDO_EX",</a:t>
            </a:r>
          </a:p>
          <a:p>
            <a:r>
              <a:t>        "vintage": 2010,</a:t>
            </a:r>
          </a:p>
          <a:p>
            <a:r>
              <a:t>        "capacity": 1.779041743,</a:t>
            </a:r>
          </a:p>
          <a:p>
            <a:r>
              <a:t>        "units": "btkm"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"T_HDV_WTF_MDO_EX",</a:t>
            </a:r>
          </a:p>
          <a:p>
            <a:r>
              <a:t>        "vintage": 2015,</a:t>
            </a:r>
          </a:p>
          <a:p>
            <a:r>
              <a:t>        "capacity": 2.876054141,</a:t>
            </a:r>
          </a:p>
          <a:p>
            <a:r>
              <a:t>        "units": "btkm"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"T_HDV_WTF_MDO_EX",</a:t>
            </a:r>
          </a:p>
          <a:p>
            <a:r>
              <a:t>        "vintage": 2020,</a:t>
            </a:r>
          </a:p>
          <a:p>
            <a:r>
              <a:t>        "capacity": 1.26014774,</a:t>
            </a:r>
          </a:p>
          <a:p>
            <a:r>
              <a:t>        "units": "btkm"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"comparison_grain": "Sum all existing cohorts at each version baseline; aggregate class powertrains where label specifies; no survival adjustment",</a:t>
            </a:r>
          </a:p>
          <a:p>
            <a:r>
              <a:t>    "status": "explicit_inventory_bridge",</a:t>
            </a:r>
          </a:p>
          <a:p>
            <a:r>
              <a:t>    "baseline_year_legacy": 2021,</a:t>
            </a:r>
          </a:p>
          <a:p>
            <a:r>
              <a:t>    "baseline_year_candidate": 2023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"Cars, all powertrains",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"tech_pattern": "T_LDV_C_%",</a:t>
            </a:r>
          </a:p>
          <a:p>
            <a:r>
              <a:t>    "candidate": 3605.2670000000003,</a:t>
            </a:r>
          </a:p>
          <a:p>
            <a:r>
              <a:t>    "legacy": 3815.525682179,</a:t>
            </a:r>
          </a:p>
          <a:p>
            <a:r>
              <a:t>    "units": "k vehicles",</a:t>
            </a:r>
          </a:p>
          <a:p>
            <a:r>
              <a:t>    "delta": -210.2586821789996,</a:t>
            </a:r>
          </a:p>
          <a:p>
            <a:r>
              <a:t>    "relative_percent": -5.510608489966273,</a:t>
            </a:r>
          </a:p>
          <a:p>
            <a:r>
              <a:t>    "candidate_constituent_rows": [</a:t>
            </a:r>
          </a:p>
          <a:p>
            <a:r>
              <a:t>      {</a:t>
            </a:r>
          </a:p>
          <a:p>
            <a:r>
              <a:t>        "tech": "T_LDV_C_BEV_EX",</a:t>
            </a:r>
          </a:p>
          <a:p>
            <a:r>
              <a:t>        "vintage": 2015,</a:t>
            </a:r>
          </a:p>
          <a:p>
            <a:r>
              <a:t>        "capacity": 2.674683469899783,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"T_LDV_C_BEV_EX",</a:t>
            </a:r>
          </a:p>
          <a:p>
            <a:r>
              <a:t>        "vintage": 2020,</a:t>
            </a:r>
          </a:p>
          <a:p>
            <a:r>
              <a:t>        "capacity": 19.52738470420391,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"T_LDV_C_BEV_EX",</a:t>
            </a:r>
          </a:p>
          <a:p>
            <a:r>
              <a:t>        "vintage": 2023,</a:t>
            </a:r>
          </a:p>
          <a:p>
            <a:r>
              <a:t>        "capacity": 45.982086155749144,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"T_LDV_C_DSL_EX",</a:t>
            </a:r>
          </a:p>
          <a:p>
            <a:r>
              <a:t>        "vintage": 2000,</a:t>
            </a:r>
          </a:p>
          <a:p>
            <a:r>
              <a:t>        "capacity": 0.7089840682683646,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"T_LDV_C_DSL_EX",</a:t>
            </a:r>
          </a:p>
          <a:p>
            <a:r>
              <a:t>        "vintage": 2005,</a:t>
            </a:r>
          </a:p>
          <a:p>
            <a:r>
              <a:t>        "capacity": 8.158799630025849,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"T_LDV_C_DSL_EX",</a:t>
            </a:r>
          </a:p>
          <a:p>
            <a:r>
              <a:t>        "vintage": 2010,</a:t>
            </a:r>
          </a:p>
          <a:p>
            <a:r>
              <a:t>        "capacity": 16.69728627212287,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"T_LDV_C_DSL_EX",</a:t>
            </a:r>
          </a:p>
          <a:p>
            <a:r>
              <a:t>        "vintage": 2015,</a:t>
            </a:r>
          </a:p>
          <a:p>
            <a:r>
              <a:t>        "capacity": 30.335333581273563,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"T_LDV_C_DSL_EX",</a:t>
            </a:r>
          </a:p>
          <a:p>
            <a:r>
              <a:t>        "vintage": 2020,</a:t>
            </a:r>
          </a:p>
          <a:p>
            <a:r>
              <a:t>        "capacity": 2.4620661398394668,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"T_LDV_C_DSL_EX",</a:t>
            </a:r>
          </a:p>
          <a:p>
            <a:r>
              <a:t>        "vintage": 2023,</a:t>
            </a:r>
          </a:p>
          <a:p>
            <a:r>
              <a:t>        "capacity": 0.0014101418345185356,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"T_LDV_C_GSL_EX",</a:t>
            </a:r>
          </a:p>
          <a:p>
            <a:r>
              <a:t>        "vintage": 2000,</a:t>
            </a:r>
          </a:p>
          <a:p>
            <a:r>
              <a:t>        "capacity": 25.68706314079679,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"T_LDV_C_GSL_EX",</a:t>
            </a:r>
          </a:p>
          <a:p>
            <a:r>
              <a:t>        "vintage": 2005,</a:t>
            </a:r>
          </a:p>
          <a:p>
            <a:r>
              <a:t>        "capacity": 295.5998740020417,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"T_LDV_C_GSL_EX",</a:t>
            </a:r>
          </a:p>
          <a:p>
            <a:r>
              <a:t>        "vintage": 2010,</a:t>
            </a:r>
          </a:p>
          <a:p>
            <a:r>
              <a:t>        "capacity": 604.9561138934238,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"T_LDV_C_GSL_EX",</a:t>
            </a:r>
          </a:p>
          <a:p>
            <a:r>
              <a:t>        "vintage": 2015,</a:t>
            </a:r>
          </a:p>
          <a:p>
            <a:r>
              <a:t>        "capacity": 1020.4527312692699,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"T_LDV_C_GSL_EX",</a:t>
            </a:r>
          </a:p>
          <a:p>
            <a:r>
              <a:t>        "vintage": 2020,</a:t>
            </a:r>
          </a:p>
          <a:p>
            <a:r>
              <a:t>        "capacity": 977.3758872162092,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"T_LDV_C_GSL_EX",</a:t>
            </a:r>
          </a:p>
          <a:p>
            <a:r>
              <a:t>        "vintage": 2023,</a:t>
            </a:r>
          </a:p>
          <a:p>
            <a:r>
              <a:t>        "capacity": 447.7894134429091,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"T_LDV_C_GSL_HEV_EX",</a:t>
            </a:r>
          </a:p>
          <a:p>
            <a:r>
              <a:t>        "vintage": 2015,</a:t>
            </a:r>
          </a:p>
          <a:p>
            <a:r>
              <a:t>        "capacity": 23.506684337953555,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"T_LDV_C_GSL_HEV_EX",</a:t>
            </a:r>
          </a:p>
          <a:p>
            <a:r>
              <a:t>        "vintage": 2020,</a:t>
            </a:r>
          </a:p>
          <a:p>
            <a:r>
              <a:t>        "capacity": 26.442117188035546,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"T_LDV_C_GSL_HEV_EX",</a:t>
            </a:r>
          </a:p>
          <a:p>
            <a:r>
              <a:t>        "vintage": 2023,</a:t>
            </a:r>
          </a:p>
          <a:p>
            <a:r>
              <a:t>        "capacity": 37.85033676139163,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"T_LDV_C_GSL_PHEV_EX",</a:t>
            </a:r>
          </a:p>
          <a:p>
            <a:r>
              <a:t>        "vintage": 2015,</a:t>
            </a:r>
          </a:p>
          <a:p>
            <a:r>
              <a:t>        "capacity": 2.012131779031724,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"T_LDV_C_GSL_PHEV_EX",</a:t>
            </a:r>
          </a:p>
          <a:p>
            <a:r>
              <a:t>        "vintage": 2020,</a:t>
            </a:r>
          </a:p>
          <a:p>
            <a:r>
              <a:t>        "capacity": 12.987087213784934,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"T_LDV_C_GSL_PHEV_EX",</a:t>
            </a:r>
          </a:p>
          <a:p>
            <a:r>
              <a:t>        "vintage": 2023,</a:t>
            </a:r>
          </a:p>
          <a:p>
            <a:r>
              <a:t>        "capacity": 4.059525591935191,</a:t>
            </a:r>
          </a:p>
          <a:p>
            <a:r>
              <a:t>        "units": "k vehicles"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"T_LDV_C_BEV150_EX",</a:t>
            </a:r>
          </a:p>
          <a:p>
            <a:r>
              <a:t>        "vintage": 2015,</a:t>
            </a:r>
          </a:p>
          <a:p>
            <a:r>
              <a:t>        "capacity": 3.636121987,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"T_LDV_C_BEV150_EX",</a:t>
            </a:r>
          </a:p>
          <a:p>
            <a:r>
              <a:t>        "vintage": 2020,</a:t>
            </a:r>
          </a:p>
          <a:p>
            <a:r>
              <a:t>        "capacity": 37.180792833,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"T_LDV_C_DSL_EX",</a:t>
            </a:r>
          </a:p>
          <a:p>
            <a:r>
              <a:t>        "vintage": 2010,</a:t>
            </a:r>
          </a:p>
          <a:p>
            <a:r>
              <a:t>        "capacity": 18.353157575,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"T_LDV_C_DSL_EX",</a:t>
            </a:r>
          </a:p>
          <a:p>
            <a:r>
              <a:t>        "vintage": 2015,</a:t>
            </a:r>
          </a:p>
          <a:p>
            <a:r>
              <a:t>        "capacity": 40.14663236,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"T_LDV_C_DSL_EX",</a:t>
            </a:r>
          </a:p>
          <a:p>
            <a:r>
              <a:t>        "vintage": 2020,</a:t>
            </a:r>
          </a:p>
          <a:p>
            <a:r>
              <a:t>        "capacity": 3.81484961,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"T_LDV_C_GSL_EX",</a:t>
            </a:r>
          </a:p>
          <a:p>
            <a:r>
              <a:t>        "vintage": 2010,</a:t>
            </a:r>
          </a:p>
          <a:p>
            <a:r>
              <a:t>        "capacity": 593.418761607,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"T_LDV_C_GSL_EX",</a:t>
            </a:r>
          </a:p>
          <a:p>
            <a:r>
              <a:t>        "vintage": 2015,</a:t>
            </a:r>
          </a:p>
          <a:p>
            <a:r>
              <a:t>        "capacity": 1357.132043612,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"T_LDV_C_GSL_EX",</a:t>
            </a:r>
          </a:p>
          <a:p>
            <a:r>
              <a:t>        "vintage": 2020,</a:t>
            </a:r>
          </a:p>
          <a:p>
            <a:r>
              <a:t>        "capacity": 1658.203203455,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"T_LDV_C_GSL_HEV_EX",</a:t>
            </a:r>
          </a:p>
          <a:p>
            <a:r>
              <a:t>        "vintage": 2015,</a:t>
            </a:r>
          </a:p>
          <a:p>
            <a:r>
              <a:t>        "capacity": 30.611956268,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"T_LDV_C_GSL_HEV_EX",</a:t>
            </a:r>
          </a:p>
          <a:p>
            <a:r>
              <a:t>        "vintage": 2020,</a:t>
            </a:r>
          </a:p>
          <a:p>
            <a:r>
              <a:t>        "capacity": 47.605437559,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"T_LDV_C_GSL_PHEV35_EX",</a:t>
            </a:r>
          </a:p>
          <a:p>
            <a:r>
              <a:t>        "vintage": 2015,</a:t>
            </a:r>
          </a:p>
          <a:p>
            <a:r>
              <a:t>        "capacity": 2.680419337,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"T_LDV_C_GSL_PHEV35_EX",</a:t>
            </a:r>
          </a:p>
          <a:p>
            <a:r>
              <a:t>        "vintage": 2020,</a:t>
            </a:r>
          </a:p>
          <a:p>
            <a:r>
              <a:t>        "capacity": 22.742305976,</a:t>
            </a:r>
          </a:p>
          <a:p>
            <a:r>
              <a:t>        "units": "k units"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"comparison_grain": "Sum all existing cohorts at each version baseline; aggregate class powertrains where label specifies; no survival adjustment",</a:t>
            </a:r>
          </a:p>
          <a:p>
            <a:r>
              <a:t>    "status": "explicit_inventory_bridge",</a:t>
            </a:r>
          </a:p>
          <a:p>
            <a:r>
              <a:t>    "baseline_year_legacy": 2021,</a:t>
            </a:r>
          </a:p>
          <a:p>
            <a:r>
              <a:t>    "baseline_year_candidate": 2023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"Passenger light trucks, all powertrains",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"tech_pattern": "T_LDV_LTP_%",</a:t>
            </a:r>
          </a:p>
          <a:p>
            <a:r>
              <a:t>    "candidate": 4355.4580000000005,</a:t>
            </a:r>
          </a:p>
          <a:p>
            <a:r>
              <a:t>    "legacy": 3811.315528404,</a:t>
            </a:r>
          </a:p>
          <a:p>
            <a:r>
              <a:t>    "units": "k vehicles",</a:t>
            </a:r>
          </a:p>
          <a:p>
            <a:r>
              <a:t>    "delta": 544.1424715960006,</a:t>
            </a:r>
          </a:p>
          <a:p>
            <a:r>
              <a:t>    "relative_percent": 14.277025020383505,</a:t>
            </a:r>
          </a:p>
          <a:p>
            <a:r>
              <a:t>    "candidate_constituent_rows": [</a:t>
            </a:r>
          </a:p>
          <a:p>
            <a:r>
              <a:t>      {</a:t>
            </a:r>
          </a:p>
          <a:p>
            <a:r>
              <a:t>        "tech": "T_LDV_LTP_BEV_EX",</a:t>
            </a:r>
          </a:p>
          <a:p>
            <a:r>
              <a:t>        "vintage": 2015,</a:t>
            </a:r>
          </a:p>
          <a:p>
            <a:r>
              <a:t>        "capacity": 0.06986625974411856,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"T_LDV_LTP_BEV_EX",</a:t>
            </a:r>
          </a:p>
          <a:p>
            <a:r>
              <a:t>        "vintage": 2020,</a:t>
            </a:r>
          </a:p>
          <a:p>
            <a:r>
              <a:t>        "capacity": 3.6232945990152805,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"T_LDV_LTP_BEV_EX",</a:t>
            </a:r>
          </a:p>
          <a:p>
            <a:r>
              <a:t>        "vintage": 2023,</a:t>
            </a:r>
          </a:p>
          <a:p>
            <a:r>
              <a:t>        "capacity": 35.617003366213716,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"T_LDV_LTP_DSL_EX",</a:t>
            </a:r>
          </a:p>
          <a:p>
            <a:r>
              <a:t>        "vintage": 2000,</a:t>
            </a:r>
          </a:p>
          <a:p>
            <a:r>
              <a:t>        "capacity": 0.42757932874010374,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"T_LDV_LTP_DSL_EX",</a:t>
            </a:r>
          </a:p>
          <a:p>
            <a:r>
              <a:t>        "vintage": 2005,</a:t>
            </a:r>
          </a:p>
          <a:p>
            <a:r>
              <a:t>        "capacity": 5.6681780057529085,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"T_LDV_LTP_DSL_EX",</a:t>
            </a:r>
          </a:p>
          <a:p>
            <a:r>
              <a:t>        "vintage": 2010,</a:t>
            </a:r>
          </a:p>
          <a:p>
            <a:r>
              <a:t>        "capacity": 18.248362131254495,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"T_LDV_LTP_DSL_EX",</a:t>
            </a:r>
          </a:p>
          <a:p>
            <a:r>
              <a:t>        "vintage": 2015,</a:t>
            </a:r>
          </a:p>
          <a:p>
            <a:r>
              <a:t>        "capacity": 53.0845403220947,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"T_LDV_LTP_DSL_EX",</a:t>
            </a:r>
          </a:p>
          <a:p>
            <a:r>
              <a:t>        "vintage": 2020,</a:t>
            </a:r>
          </a:p>
          <a:p>
            <a:r>
              <a:t>        "capacity": 48.87883776105934,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"T_LDV_LTP_DSL_EX",</a:t>
            </a:r>
          </a:p>
          <a:p>
            <a:r>
              <a:t>        "vintage": 2023,</a:t>
            </a:r>
          </a:p>
          <a:p>
            <a:r>
              <a:t>        "capacity": 39.01080503868643,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"T_LDV_LTP_GSL_EX",</a:t>
            </a:r>
          </a:p>
          <a:p>
            <a:r>
              <a:t>        "vintage": 2000,</a:t>
            </a:r>
          </a:p>
          <a:p>
            <a:r>
              <a:t>        "capacity": 13.471559930484917,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"T_LDV_LTP_GSL_EX",</a:t>
            </a:r>
          </a:p>
          <a:p>
            <a:r>
              <a:t>        "vintage": 2005,</a:t>
            </a:r>
          </a:p>
          <a:p>
            <a:r>
              <a:t>        "capacity": 178.58487201931672,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"T_LDV_LTP_GSL_EX",</a:t>
            </a:r>
          </a:p>
          <a:p>
            <a:r>
              <a:t>        "vintage": 2010,</a:t>
            </a:r>
          </a:p>
          <a:p>
            <a:r>
              <a:t>        "capacity": 574.9433790654834,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"T_LDV_LTP_GSL_EX",</a:t>
            </a:r>
          </a:p>
          <a:p>
            <a:r>
              <a:t>        "vintage": 2015,</a:t>
            </a:r>
          </a:p>
          <a:p>
            <a:r>
              <a:t>        "capacity": 1187.1348069338435,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"T_LDV_LTP_GSL_EX",</a:t>
            </a:r>
          </a:p>
          <a:p>
            <a:r>
              <a:t>        "vintage": 2020,</a:t>
            </a:r>
          </a:p>
          <a:p>
            <a:r>
              <a:t>        "capacity": 1309.1857462543965,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"T_LDV_LTP_GSL_EX",</a:t>
            </a:r>
          </a:p>
          <a:p>
            <a:r>
              <a:t>        "vintage": 2023,</a:t>
            </a:r>
          </a:p>
          <a:p>
            <a:r>
              <a:t>        "capacity": 789.0053799756374,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"T_LDV_LTP_GSL_HEV_EX",</a:t>
            </a:r>
          </a:p>
          <a:p>
            <a:r>
              <a:t>        "vintage": 2015,</a:t>
            </a:r>
          </a:p>
          <a:p>
            <a:r>
              <a:t>        "capacity": 3.0194909149354006,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"T_LDV_LTP_GSL_HEV_EX",</a:t>
            </a:r>
          </a:p>
          <a:p>
            <a:r>
              <a:t>        "vintage": 2020,</a:t>
            </a:r>
          </a:p>
          <a:p>
            <a:r>
              <a:t>        "capacity": 14.798811008240282,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"T_LDV_LTP_GSL_HEV_EX",</a:t>
            </a:r>
          </a:p>
          <a:p>
            <a:r>
              <a:t>        "vintage": 2023,</a:t>
            </a:r>
          </a:p>
          <a:p>
            <a:r>
              <a:t>        "capacity": 65.1340683704586,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"T_LDV_LTP_GSL_PHEV_EX",</a:t>
            </a:r>
          </a:p>
          <a:p>
            <a:r>
              <a:t>        "vintage": 2015,</a:t>
            </a:r>
          </a:p>
          <a:p>
            <a:r>
              <a:t>        "capacity": 0.08367493022246078,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"T_LDV_LTP_GSL_PHEV_EX",</a:t>
            </a:r>
          </a:p>
          <a:p>
            <a:r>
              <a:t>        "vintage": 2020,</a:t>
            </a:r>
          </a:p>
          <a:p>
            <a:r>
              <a:t>        "capacity": 3.427231696864431,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"T_LDV_LTP_GSL_PHEV_EX",</a:t>
            </a:r>
          </a:p>
          <a:p>
            <a:r>
              <a:t>        "vintage": 2023,</a:t>
            </a:r>
          </a:p>
          <a:p>
            <a:r>
              <a:t>        "capacity": 12.040512087555708,</a:t>
            </a:r>
          </a:p>
          <a:p>
            <a:r>
              <a:t>        "units": "k vehicles"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"T_LDV_LTP_BEV300_EX",</a:t>
            </a:r>
          </a:p>
          <a:p>
            <a:r>
              <a:t>        "vintage": 2015,</a:t>
            </a:r>
          </a:p>
          <a:p>
            <a:r>
              <a:t>        "capacity": 0.07185589,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"T_LDV_LTP_BEV300_EX",</a:t>
            </a:r>
          </a:p>
          <a:p>
            <a:r>
              <a:t>        "vintage": 2020,</a:t>
            </a:r>
          </a:p>
          <a:p>
            <a:r>
              <a:t>        "capacity": 4.376519583,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"T_LDV_LTP_DSL_EX",</a:t>
            </a:r>
          </a:p>
          <a:p>
            <a:r>
              <a:t>        "vintage": 2010,</a:t>
            </a:r>
          </a:p>
          <a:p>
            <a:r>
              <a:t>        "capacity": 24.959817936,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"T_LDV_LTP_DSL_EX",</a:t>
            </a:r>
          </a:p>
          <a:p>
            <a:r>
              <a:t>        "vintage": 2015,</a:t>
            </a:r>
          </a:p>
          <a:p>
            <a:r>
              <a:t>        "capacity": 56.380804259,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"T_LDV_LTP_DSL_EX",</a:t>
            </a:r>
          </a:p>
          <a:p>
            <a:r>
              <a:t>        "vintage": 2020,</a:t>
            </a:r>
          </a:p>
          <a:p>
            <a:r>
              <a:t>        "capacity": 58.095394415,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"T_LDV_LTP_GSL_EX",</a:t>
            </a:r>
          </a:p>
          <a:p>
            <a:r>
              <a:t>        "vintage": 2010,</a:t>
            </a:r>
          </a:p>
          <a:p>
            <a:r>
              <a:t>        "capacity": 790.394234638,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"T_LDV_LTP_GSL_EX",</a:t>
            </a:r>
          </a:p>
          <a:p>
            <a:r>
              <a:t>        "vintage": 2015,</a:t>
            </a:r>
          </a:p>
          <a:p>
            <a:r>
              <a:t>        "capacity": 1281.35795142,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"T_LDV_LTP_GSL_EX",</a:t>
            </a:r>
          </a:p>
          <a:p>
            <a:r>
              <a:t>        "vintage": 2020,</a:t>
            </a:r>
          </a:p>
          <a:p>
            <a:r>
              <a:t>        "capacity": 1570.01071173,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"T_LDV_LTP_GSL_HEV_EX",</a:t>
            </a:r>
          </a:p>
          <a:p>
            <a:r>
              <a:t>        "vintage": 2015,</a:t>
            </a:r>
          </a:p>
          <a:p>
            <a:r>
              <a:t>        "capacity": 3.293447957,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"T_LDV_LTP_GSL_HEV_EX",</a:t>
            </a:r>
          </a:p>
          <a:p>
            <a:r>
              <a:t>        "vintage": 2020,</a:t>
            </a:r>
          </a:p>
          <a:p>
            <a:r>
              <a:t>        "capacity": 17.865808047,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"T_LDV_LTP_GSL_PHEV35_EX",</a:t>
            </a:r>
          </a:p>
          <a:p>
            <a:r>
              <a:t>        "vintage": 2015,</a:t>
            </a:r>
          </a:p>
          <a:p>
            <a:r>
              <a:t>        "capacity": 0.081861184,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"T_LDV_LTP_GSL_PHEV35_EX",</a:t>
            </a:r>
          </a:p>
          <a:p>
            <a:r>
              <a:t>        "vintage": 2020,</a:t>
            </a:r>
          </a:p>
          <a:p>
            <a:r>
              <a:t>        "capacity": 4.427121345,</a:t>
            </a:r>
          </a:p>
          <a:p>
            <a:r>
              <a:t>        "units": "k units"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"comparison_grain": "Sum all existing cohorts at each version baseline; aggregate class powertrains where label specifies; no survival adjustment",</a:t>
            </a:r>
          </a:p>
          <a:p>
            <a:r>
              <a:t>    "status": "explicit_inventory_bridge",</a:t>
            </a:r>
          </a:p>
          <a:p>
            <a:r>
              <a:t>    "baseline_year_legacy": 2021,</a:t>
            </a:r>
          </a:p>
          <a:p>
            <a:r>
              <a:t>    "baseline_year_candidate": 2023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"Medium trucks, all powertrains",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"tech_pattern": "T_MDV_T_%",</a:t>
            </a:r>
          </a:p>
          <a:p>
            <a:r>
              <a:t>    "candidate": 421.755,</a:t>
            </a:r>
          </a:p>
          <a:p>
            <a:r>
              <a:t>    "legacy": 383.203392067,</a:t>
            </a:r>
          </a:p>
          <a:p>
            <a:r>
              <a:t>    "units": "k vehicles",</a:t>
            </a:r>
          </a:p>
          <a:p>
            <a:r>
              <a:t>    "delta": 38.551607933000014,</a:t>
            </a:r>
          </a:p>
          <a:p>
            <a:r>
              <a:t>    "relative_percent": 10.060351429837965,</a:t>
            </a:r>
          </a:p>
          <a:p>
            <a:r>
              <a:t>    "candidate_constituent_rows": [</a:t>
            </a:r>
          </a:p>
          <a:p>
            <a:r>
              <a:t>      {</a:t>
            </a:r>
          </a:p>
          <a:p>
            <a:r>
              <a:t>        "tech": "T_MDV_T_BEV_EX",</a:t>
            </a:r>
          </a:p>
          <a:p>
            <a:r>
              <a:t>        "vintage": 2023,</a:t>
            </a:r>
          </a:p>
          <a:p>
            <a:r>
              <a:t>        "capacity": 2.8884338877093185,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"T_MDV_T_DSL_EX",</a:t>
            </a:r>
          </a:p>
          <a:p>
            <a:r>
              <a:t>        "vintage": 2000,</a:t>
            </a:r>
          </a:p>
          <a:p>
            <a:r>
              <a:t>        "capacity": 2.1207985447577116,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"T_MDV_T_DSL_EX",</a:t>
            </a:r>
          </a:p>
          <a:p>
            <a:r>
              <a:t>        "vintage": 2005,</a:t>
            </a:r>
          </a:p>
          <a:p>
            <a:r>
              <a:t>        "capacity": 22.314117579570503,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"T_MDV_T_DSL_EX",</a:t>
            </a:r>
          </a:p>
          <a:p>
            <a:r>
              <a:t>        "vintage": 2010,</a:t>
            </a:r>
          </a:p>
          <a:p>
            <a:r>
              <a:t>        "capacity": 39.59979835677203,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"T_MDV_T_DSL_EX",</a:t>
            </a:r>
          </a:p>
          <a:p>
            <a:r>
              <a:t>        "vintage": 2015,</a:t>
            </a:r>
          </a:p>
          <a:p>
            <a:r>
              <a:t>        "capacity": 66.19286990385817,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"T_MDV_T_DSL_EX",</a:t>
            </a:r>
          </a:p>
          <a:p>
            <a:r>
              <a:t>        "vintage": 2020,</a:t>
            </a:r>
          </a:p>
          <a:p>
            <a:r>
              <a:t>        "capacity": 92.13810574459319,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"T_MDV_T_DSL_EX",</a:t>
            </a:r>
          </a:p>
          <a:p>
            <a:r>
              <a:t>        "vintage": 2023,</a:t>
            </a:r>
          </a:p>
          <a:p>
            <a:r>
              <a:t>        "capacity": 58.727693525301454,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"T_MDV_T_GSL_EX",</a:t>
            </a:r>
          </a:p>
          <a:p>
            <a:r>
              <a:t>        "vintage": 2000,</a:t>
            </a:r>
          </a:p>
          <a:p>
            <a:r>
              <a:t>        "capacity": 0.9962799441234763,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"T_MDV_T_GSL_EX",</a:t>
            </a:r>
          </a:p>
          <a:p>
            <a:r>
              <a:t>        "vintage": 2005,</a:t>
            </a:r>
          </a:p>
          <a:p>
            <a:r>
              <a:t>        "capacity": 10.482423175124797,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"T_MDV_T_GSL_EX",</a:t>
            </a:r>
          </a:p>
          <a:p>
            <a:r>
              <a:t>        "vintage": 2010,</a:t>
            </a:r>
          </a:p>
          <a:p>
            <a:r>
              <a:t>        "capacity": 18.60265558541911,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"T_MDV_T_GSL_EX",</a:t>
            </a:r>
          </a:p>
          <a:p>
            <a:r>
              <a:t>        "vintage": 2015,</a:t>
            </a:r>
          </a:p>
          <a:p>
            <a:r>
              <a:t>        "capacity": 31.09518765570558,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"T_MDV_T_GSL_EX",</a:t>
            </a:r>
          </a:p>
          <a:p>
            <a:r>
              <a:t>        "vintage": 2020,</a:t>
            </a:r>
          </a:p>
          <a:p>
            <a:r>
              <a:t>        "capacity": 45.03747680977485,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"T_MDV_T_GSL_EX",</a:t>
            </a:r>
          </a:p>
          <a:p>
            <a:r>
              <a:t>        "vintage": 2023,</a:t>
            </a:r>
          </a:p>
          <a:p>
            <a:r>
              <a:t>        "capacity": 31.559159287289816,</a:t>
            </a:r>
          </a:p>
          <a:p>
            <a:r>
              <a:t>        "units": "k vehicles"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"T_MDV_T_DSL_EX",</a:t>
            </a:r>
          </a:p>
          <a:p>
            <a:r>
              <a:t>        "vintage": 2005,</a:t>
            </a:r>
          </a:p>
          <a:p>
            <a:r>
              <a:t>        "capacity": 12.076213323,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"T_MDV_T_DSL_EX",</a:t>
            </a:r>
          </a:p>
          <a:p>
            <a:r>
              <a:t>        "vintage": 2010,</a:t>
            </a:r>
          </a:p>
          <a:p>
            <a:r>
              <a:t>        "capacity": 46.70432986,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"T_MDV_T_DSL_EX",</a:t>
            </a:r>
          </a:p>
          <a:p>
            <a:r>
              <a:t>        "vintage": 2015,</a:t>
            </a:r>
          </a:p>
          <a:p>
            <a:r>
              <a:t>        "capacity": 62.239785979,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"T_MDV_T_DSL_EX",</a:t>
            </a:r>
          </a:p>
          <a:p>
            <a:r>
              <a:t>        "vintage": 2020,</a:t>
            </a:r>
          </a:p>
          <a:p>
            <a:r>
              <a:t>        "capacity": 112.52878599,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"T_MDV_T_GSL_EX",</a:t>
            </a:r>
          </a:p>
          <a:p>
            <a:r>
              <a:t>        "vintage": 2005,</a:t>
            </a:r>
          </a:p>
          <a:p>
            <a:r>
              <a:t>        "capacity": 8.050808882,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"T_MDV_T_GSL_EX",</a:t>
            </a:r>
          </a:p>
          <a:p>
            <a:r>
              <a:t>        "vintage": 2010,</a:t>
            </a:r>
          </a:p>
          <a:p>
            <a:r>
              <a:t>        "capacity": 31.136219907,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"T_MDV_T_GSL_EX",</a:t>
            </a:r>
          </a:p>
          <a:p>
            <a:r>
              <a:t>        "vintage": 2015,</a:t>
            </a:r>
          </a:p>
          <a:p>
            <a:r>
              <a:t>        "capacity": 41.493190653,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"T_MDV_T_GSL_EX",</a:t>
            </a:r>
          </a:p>
          <a:p>
            <a:r>
              <a:t>        "vintage": 2020,</a:t>
            </a:r>
          </a:p>
          <a:p>
            <a:r>
              <a:t>        "capacity": 68.974057473,</a:t>
            </a:r>
          </a:p>
          <a:p>
            <a:r>
              <a:t>        "units": "k units"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"comparison_grain": "Sum all existing cohorts at each version baseline; aggregate class powertrains where label specifies; no survival adjustment",</a:t>
            </a:r>
          </a:p>
          <a:p>
            <a:r>
              <a:t>    "status": "explicit_inventory_bridge",</a:t>
            </a:r>
          </a:p>
          <a:p>
            <a:r>
              <a:t>    "baseline_year_legacy": 2021,</a:t>
            </a:r>
          </a:p>
          <a:p>
            <a:r>
              <a:t>    "baseline_year_candidate": 2023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"Heavy trucks, all powertrains",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"tech_pattern": "T_HDV_T_%",</a:t>
            </a:r>
          </a:p>
          <a:p>
            <a:r>
              <a:t>    "candidate": 143.136,</a:t>
            </a:r>
          </a:p>
          <a:p>
            <a:r>
              <a:t>    "legacy": 134.550087303,</a:t>
            </a:r>
          </a:p>
          <a:p>
            <a:r>
              <a:t>    "units": "k vehicles",</a:t>
            </a:r>
          </a:p>
          <a:p>
            <a:r>
              <a:t>    "delta": 8.585912696999998,</a:t>
            </a:r>
          </a:p>
          <a:p>
            <a:r>
              <a:t>    "relative_percent": 6.381201877383358,</a:t>
            </a:r>
          </a:p>
          <a:p>
            <a:r>
              <a:t>    "candidate_constituent_rows": [</a:t>
            </a:r>
          </a:p>
          <a:p>
            <a:r>
              <a:t>      {</a:t>
            </a:r>
          </a:p>
          <a:p>
            <a:r>
              <a:t>        "tech": "T_HDV_T_DSL_EX",</a:t>
            </a:r>
          </a:p>
          <a:p>
            <a:r>
              <a:t>        "vintage": 2000,</a:t>
            </a:r>
          </a:p>
          <a:p>
            <a:r>
              <a:t>        "capacity": 1.0578799221929738,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"T_HDV_T_DSL_EX",</a:t>
            </a:r>
          </a:p>
          <a:p>
            <a:r>
              <a:t>        "vintage": 2005,</a:t>
            </a:r>
          </a:p>
          <a:p>
            <a:r>
              <a:t>        "capacity": 11.130551285613842,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"T_HDV_T_DSL_EX",</a:t>
            </a:r>
          </a:p>
          <a:p>
            <a:r>
              <a:t>        "vintage": 2010,</a:t>
            </a:r>
          </a:p>
          <a:p>
            <a:r>
              <a:t>        "capacity": 19.752857577194035,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"T_HDV_T_DSL_EX",</a:t>
            </a:r>
          </a:p>
          <a:p>
            <a:r>
              <a:t>        "vintage": 2015,</a:t>
            </a:r>
          </a:p>
          <a:p>
            <a:r>
              <a:t>        "capacity": 33.01780276901451,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"T_HDV_T_DSL_EX",</a:t>
            </a:r>
          </a:p>
          <a:p>
            <a:r>
              <a:t>        "vintage": 2020,</a:t>
            </a:r>
          </a:p>
          <a:p>
            <a:r>
              <a:t>        "capacity": 46.554905536394415,</a:t>
            </a:r>
          </a:p>
          <a:p>
            <a:r>
              <a:t>        "units": "k vehicles"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"tech": "T_HDV_T_DSL_EX",</a:t>
            </a:r>
          </a:p>
          <a:p>
            <a:r>
              <a:t>        "vintage": 2023,</a:t>
            </a:r>
          </a:p>
          <a:p>
            <a:r>
              <a:t>        "capacity": 31.622002909590226,</a:t>
            </a:r>
          </a:p>
          <a:p>
            <a:r>
              <a:t>        "units": "k vehicles"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"T_HDV_T_DSL_EX",</a:t>
            </a:r>
          </a:p>
          <a:p>
            <a:r>
              <a:t>        "vintage": 2005,</a:t>
            </a:r>
          </a:p>
          <a:p>
            <a:r>
              <a:t>        "capacity": 9.730347327,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"T_HDV_T_DSL_EX",</a:t>
            </a:r>
          </a:p>
          <a:p>
            <a:r>
              <a:t>        "vintage": 2010,</a:t>
            </a:r>
          </a:p>
          <a:p>
            <a:r>
              <a:t>        "capacity": 26.759889658,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"T_HDV_T_DSL_EX",</a:t>
            </a:r>
          </a:p>
          <a:p>
            <a:r>
              <a:t>        "vintage": 2015,</a:t>
            </a:r>
          </a:p>
          <a:p>
            <a:r>
              <a:t>        "capacity": 35.661143412,</a:t>
            </a:r>
          </a:p>
          <a:p>
            <a:r>
              <a:t>        "units": "k units"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"T_HDV_T_DSL_EX",</a:t>
            </a:r>
          </a:p>
          <a:p>
            <a:r>
              <a:t>        "vintage": 2020,</a:t>
            </a:r>
          </a:p>
          <a:p>
            <a:r>
              <a:t>        "capacity": 62.398706906,</a:t>
            </a:r>
          </a:p>
          <a:p>
            <a:r>
              <a:t>        "units": "k units"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"comparison_grain": "Sum all existing cohorts at each version baseline; aggregate class powertrains where label specifies; no survival adjustment",</a:t>
            </a:r>
          </a:p>
          <a:p>
            <a:r>
              <a:t>    "status": "explicit_inventory_bridge",</a:t>
            </a:r>
          </a:p>
          <a:p>
            <a:r>
              <a:t>    "baseline_year_legacy": 2021,</a:t>
            </a:r>
          </a:p>
          <a:p>
            <a:r>
              <a:t>    "baseline_year_candidate": 2023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existing_capacity: Reported driver: public port counts and EV-to-port ratios replace legacy energy-based capacity calibration.</a:t>
            </a:r>
          </a:p>
          <a:p>
            <a:r>
              <a:t>Comparison: Paired native bars in GW, each version at its own baseline; use the label Legacy inventory and New 2023 inventory.</a:t>
            </a:r>
          </a:p>
          <a:p>
            <a:r>
              <a:t>Interpretation: This is a group inventory comparison across different baseline/cohort representations, not a same-vintage key match. Legacy MHDV inventory consists only of HDV charger rows; no MDV existing charger rows are present. Label this coverage difference. Legacy LDV sum=0.092827452 BEV + 0.160443259 PHEV=0.253270711 GW. Legacy HDV sum=0.244281279 GW. New LDV=0.8870326014006562 GW, new MHDV=0.2118184850986834 GW.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"LDV chargers",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"tech": "T_LDV_CHRG_EX",</a:t>
            </a:r>
          </a:p>
          <a:p>
            <a:r>
              <a:t>    "vintage": 2023,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"T_LDV_CHRG_EX",</a:t>
            </a:r>
          </a:p>
          <a:p>
            <a:r>
              <a:t>      "vintage": 2023</a:t>
            </a:r>
          </a:p>
          <a:p>
            <a:r>
              <a:t>    },</a:t>
            </a:r>
          </a:p>
          <a:p>
            <a:r>
              <a:t>    "candidate": 0.8870326014006562,</a:t>
            </a:r>
          </a:p>
          <a:p>
            <a:r>
              <a:t>    "candidate_units": "GW",</a:t>
            </a:r>
          </a:p>
          <a:p>
            <a:r>
              <a:t>    "units": "GW",</a:t>
            </a:r>
          </a:p>
          <a:p>
            <a:r>
              <a:t>    "unit_basis": "declared units",</a:t>
            </a:r>
          </a:p>
          <a:p>
            <a:r>
              <a:t>    "comparison_grain": "Sum all existing legacy charger cohorts by demand class; compare with new combined 2023 stock. No retirement adjustment applied.",</a:t>
            </a:r>
          </a:p>
          <a:p>
            <a:r>
              <a:t>    "status": "explicit_inventory_bridge",</a:t>
            </a:r>
          </a:p>
          <a:p>
            <a:r>
              <a:t>    "legacy": 0.253270711,</a:t>
            </a:r>
          </a:p>
          <a:p>
            <a:r>
              <a:t>    "delta": 0.6337618904006562,</a:t>
            </a:r>
          </a:p>
          <a:p>
            <a:r>
              <a:t>    "relative_percent": 250.23102272597808,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"T_LDV_BEV_CHRG",</a:t>
            </a:r>
          </a:p>
          <a:p>
            <a:r>
              <a:t>        "vintage": 2015,</a:t>
            </a:r>
          </a:p>
          <a:p>
            <a:r>
              <a:t>        "capacity": 0.007375338,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BEV classes."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"T_LDV_BEV_CHRG",</a:t>
            </a:r>
          </a:p>
          <a:p>
            <a:r>
              <a:t>        "vintage": 2020,</a:t>
            </a:r>
          </a:p>
          <a:p>
            <a:r>
              <a:t>        "capacity": 0.085452114,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BEV classes."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"T_LDV_PHEV_CHRG",</a:t>
            </a:r>
          </a:p>
          <a:p>
            <a:r>
              <a:t>        "vintage": 2015,</a:t>
            </a:r>
          </a:p>
          <a:p>
            <a:r>
              <a:t>        "capacity": 0.011714196,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PHEV classes."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"T_LDV_PHEV_CHRG",</a:t>
            </a:r>
          </a:p>
          <a:p>
            <a:r>
              <a:t>        "vintage": 2020,</a:t>
            </a:r>
          </a:p>
          <a:p>
            <a:r>
              <a:t>        "capacity": 0.148729063,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PHEV classes."</a:t>
            </a:r>
          </a:p>
          <a:p>
            <a:r>
              <a:t>      }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"MHDV chargers",</a:t>
            </a:r>
          </a:p>
          <a:p>
            <a:r>
              <a:t>    "table": "existing_capacity",</a:t>
            </a:r>
          </a:p>
          <a:p>
            <a:r>
              <a:t>    "region": "ON",</a:t>
            </a:r>
          </a:p>
          <a:p>
            <a:r>
              <a:t>    "tech": "T_MHDV_CHRG_EX",</a:t>
            </a:r>
          </a:p>
          <a:p>
            <a:r>
              <a:t>    "vintage": 2023,</a:t>
            </a:r>
          </a:p>
          <a:p>
            <a:r>
              <a:t>    "keys": {</a:t>
            </a:r>
          </a:p>
          <a:p>
            <a:r>
              <a:t>      "region": "ON",</a:t>
            </a:r>
          </a:p>
          <a:p>
            <a:r>
              <a:t>      "tech": "T_MHDV_CHRG_EX",</a:t>
            </a:r>
          </a:p>
          <a:p>
            <a:r>
              <a:t>      "vintage": 2023</a:t>
            </a:r>
          </a:p>
          <a:p>
            <a:r>
              <a:t>    },</a:t>
            </a:r>
          </a:p>
          <a:p>
            <a:r>
              <a:t>    "candidate": 0.2118184850986834,</a:t>
            </a:r>
          </a:p>
          <a:p>
            <a:r>
              <a:t>    "candidate_units": "GW",</a:t>
            </a:r>
          </a:p>
          <a:p>
            <a:r>
              <a:t>    "units": "GW",</a:t>
            </a:r>
          </a:p>
          <a:p>
            <a:r>
              <a:t>    "unit_basis": "declared units",</a:t>
            </a:r>
          </a:p>
          <a:p>
            <a:r>
              <a:t>    "comparison_grain": "Sum all existing legacy charger cohorts by demand class; compare with new combined 2023 stock. No retirement adjustment applied.",</a:t>
            </a:r>
          </a:p>
          <a:p>
            <a:r>
              <a:t>    "status": "explicit_inventory_bridge",</a:t>
            </a:r>
          </a:p>
          <a:p>
            <a:r>
              <a:t>    "legacy": 0.24428127900000002,</a:t>
            </a:r>
          </a:p>
          <a:p>
            <a:r>
              <a:t>    "delta": -0.03246279390131662,</a:t>
            </a:r>
          </a:p>
          <a:p>
            <a:r>
              <a:t>    "relative_percent": -13.289104279381403,</a:t>
            </a:r>
          </a:p>
          <a:p>
            <a:r>
              <a:t>    "legacy_constituent_rows": [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"T_HDV_CHRG",</a:t>
            </a:r>
          </a:p>
          <a:p>
            <a:r>
              <a:t>        "vintage": 2010,</a:t>
            </a:r>
          </a:p>
          <a:p>
            <a:r>
              <a:t>        "capacity": 0.024583233,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BEV classes."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"T_HDV_CHRG",</a:t>
            </a:r>
          </a:p>
          <a:p>
            <a:r>
              <a:t>        "vintage": 2015,</a:t>
            </a:r>
          </a:p>
          <a:p>
            <a:r>
              <a:t>        "capacity": 0.086878136,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BEV classes."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"region": "ON",</a:t>
            </a:r>
          </a:p>
          <a:p>
            <a:r>
              <a:t>        "tech": "T_HDV_CHRG",</a:t>
            </a:r>
          </a:p>
          <a:p>
            <a:r>
              <a:t>        "vintage": 2020,</a:t>
            </a:r>
          </a:p>
          <a:p>
            <a:r>
              <a:t>        "capacity": 0.13281991,</a:t>
            </a:r>
          </a:p>
          <a:p>
            <a:r>
              <a:t>        "units": "GW",</a:t>
            </a:r>
          </a:p>
          <a:p>
            <a:r>
              <a:t>        "notes": "Existing capacity of EV chargers estimated from energy consumption of BEV classes."</a:t>
            </a:r>
          </a:p>
          <a:p>
            <a:r>
              <a:t>      }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Ontario. Numeric source pair:</a:t>
            </a:r>
          </a:p>
          <a:p>
            <a:r>
              <a:t>Legacy: C:\Users\rashi\ESM_databases\canoe-transportation\legacy_backend\canoe_transport_baseline.sqlite</a:t>
            </a:r>
          </a:p>
          <a:p>
            <a:r>
              <a:t>Legacy SHA256: 72dcd117b038092a8651305880bce56f158a771280ddcec3a45dbc600fa1a65f</a:t>
            </a:r>
          </a:p>
          <a:p>
            <a:r>
              <a:t>New backend: C:\Users\rashi\ESM_databases\canoe-transportation\outputs\sqlite\legacy_reproduction.sqlite</a:t>
            </a:r>
          </a:p>
          <a:p>
            <a:r>
              <a:t>New SHA256: 8b5ee4b368ef5d2d3d4d008e393ff3f8b320947cd38c9af85d67b6a6a908c9ca</a:t>
            </a:r>
          </a:p>
          <a:p>
            <a:r>
              <a:t>New database build: 2026-10-13, legacy_comparison scenario.</a:t>
            </a:r>
          </a:p>
          <a:p>
            <a:r>
              <a:t>Row-level evidence: outputs/validation/transport_comparison/rows.csv</a:t>
            </a:r>
          </a:p>
          <a:p>
            <a:r>
              <a:t>rows.csv SHA256: 54689bf3e4e4121e714259dcf9d745c188d880aa7e32802e91fa9f1eeba28fd6</a:t>
            </a:r>
          </a:p>
          <a:p>
            <a:r>
              <a:t>Explanations: user-supplied observations, 2026-10-13. They are reported drivers, not a quantitative decomposition of each gap.</a:t>
            </a:r>
          </a:p>
          <a:p>
            <a:endParaRPr/>
          </a:p>
          <a:p>
            <a:r>
              <a:t>limit_annual_capacity_factor: Reported driver: changed CEUD activity-to-stock averages, using the latest five eligible periods and excluding 2020-2021.</a:t>
            </a:r>
          </a:p>
          <a:p>
            <a:r>
              <a:t>Comparison: Three native bar series: legacy minimum, legacy maximum, new equality. Scale fractions by 100 to show capacity-factor percent. Table legacy interval and new equality; never treat a bound or midpoint as a legacy observation.</a:t>
            </a:r>
          </a:p>
          <a:p>
            <a:r>
              <a:t>Interpretation: Rows compare future cohort at installation period: vintage 2025, comparison_period 2025. All listed class powertrains share the same new value and the same legacy interval; select one explicit technology per class instead of duplicating bars. The diagnostic legacy field is the nearest bound used for distance-outside-interval ranking, not a point estimate. Use legacy_lower and legacy_upper. Do not attribute the entire output difference quantitatively to the averaging window based on these final rows alone.</a:t>
            </a:r>
          </a:p>
          <a:p>
            <a:endParaRPr/>
          </a:p>
          <a:p>
            <a:r>
              <a:t>Plotted records and source keys: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"label": "Cars",</a:t>
            </a:r>
          </a:p>
          <a:p>
            <a:r>
              <a:t>    "table": "limit_annual_capacity_factor",</a:t>
            </a:r>
          </a:p>
          <a:p>
            <a:r>
              <a:t>    "region": "ON",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"operator": "e",</a:t>
            </a:r>
          </a:p>
          <a:p>
            <a:r>
              <a:t>      "output_comm": "T_D_pkm_ldv_c",</a:t>
            </a:r>
          </a:p>
          <a:p>
            <a:r>
              <a:t>      "region": "ON",</a:t>
            </a:r>
          </a:p>
          <a:p>
            <a:r>
              <a:t>      "tech_or_group": "T_LDV_C_GSL_N",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0.020756891109511903,</a:t>
            </a:r>
          </a:p>
          <a:p>
            <a:r>
              <a:t>    "legacy": 0.018861811,</a:t>
            </a:r>
          </a:p>
          <a:p>
            <a:r>
              <a:t>    "candidate_units": "fraction",</a:t>
            </a:r>
          </a:p>
          <a:p>
            <a:r>
              <a:t>    "legacy_units": "fraction",</a:t>
            </a:r>
          </a:p>
          <a:p>
            <a:r>
              <a:t>    "units": "fraction",</a:t>
            </a:r>
          </a:p>
          <a:p>
            <a:r>
              <a:t>    "unit_basis": "declared units",</a:t>
            </a:r>
          </a:p>
          <a:p>
            <a:r>
              <a:t>    "comparison_grain": "new-cohort value at installation period; distance outside legacy [minimum, maximum]",</a:t>
            </a:r>
          </a:p>
          <a:p>
            <a:r>
              <a:t>    "delta": 0.0018950801095119034,</a:t>
            </a:r>
          </a:p>
          <a:p>
            <a:r>
              <a:t>    "absolute_difference": 0.0018950801095119034,</a:t>
            </a:r>
          </a:p>
          <a:p>
            <a:r>
              <a:t>    "relative_percent": 10.047180037547315,</a:t>
            </a:r>
          </a:p>
          <a:p>
            <a:r>
              <a:t>    "comparison_period": 2025,</a:t>
            </a:r>
          </a:p>
          <a:p>
            <a:r>
              <a:t>    "legacy_lower": 0.018842949189,</a:t>
            </a:r>
          </a:p>
          <a:p>
            <a:r>
              <a:t>    "legacy_upper": 0.018861811,</a:t>
            </a:r>
          </a:p>
          <a:p>
            <a:r>
              <a:t>    "status": "different",</a:t>
            </a:r>
          </a:p>
          <a:p>
            <a:r>
              <a:t>    "output_comm": "T_D_pkm_ldv_c",</a:t>
            </a:r>
          </a:p>
          <a:p>
            <a:r>
              <a:t>    "tech_or_group": "T_LDV_C_GSL_N",</a:t>
            </a:r>
          </a:p>
          <a:p>
            <a:r>
              <a:t>    "operator": "e",</a:t>
            </a:r>
          </a:p>
          <a:p>
            <a:r>
              <a:t>    "legacy_bar_lower": 0.018842949189,</a:t>
            </a:r>
          </a:p>
          <a:p>
            <a:r>
              <a:t>    "legacy_bar_upper": 0.018861811,</a:t>
            </a:r>
          </a:p>
          <a:p>
            <a:r>
              <a:t>    "new_equality": 0.020756891109511903,</a:t>
            </a:r>
          </a:p>
          <a:p>
            <a:r>
              <a:t>    "chart_scale_factor": 100,</a:t>
            </a:r>
          </a:p>
          <a:p>
            <a:r>
              <a:t>    "display_units": "% of potential annual activity",</a:t>
            </a:r>
          </a:p>
          <a:p>
            <a:r>
              <a:t>    "point_change_vs_upper": 0.18950801095119035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"Medium trucks",</a:t>
            </a:r>
          </a:p>
          <a:p>
            <a:r>
              <a:t>    "table": "limit_annual_capacity_factor",</a:t>
            </a:r>
          </a:p>
          <a:p>
            <a:r>
              <a:t>    "region": "ON",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"operator": "e",</a:t>
            </a:r>
          </a:p>
          <a:p>
            <a:r>
              <a:t>      "output_comm": "T_D_tkm_mdv_t",</a:t>
            </a:r>
          </a:p>
          <a:p>
            <a:r>
              <a:t>      "region": "ON",</a:t>
            </a:r>
          </a:p>
          <a:p>
            <a:r>
              <a:t>      "tech_or_group": "T_MDV_T_DSL_N",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0.028953754237791396,</a:t>
            </a:r>
          </a:p>
          <a:p>
            <a:r>
              <a:t>    "legacy": 0.026242254,</a:t>
            </a:r>
          </a:p>
          <a:p>
            <a:r>
              <a:t>    "candidate_units": "fraction",</a:t>
            </a:r>
          </a:p>
          <a:p>
            <a:r>
              <a:t>    "legacy_units": "fraction",</a:t>
            </a:r>
          </a:p>
          <a:p>
            <a:r>
              <a:t>    "units": "fraction",</a:t>
            </a:r>
          </a:p>
          <a:p>
            <a:r>
              <a:t>    "unit_basis": "declared units",</a:t>
            </a:r>
          </a:p>
          <a:p>
            <a:r>
              <a:t>    "comparison_grain": "new-cohort value at installation period; distance outside legacy [minimum, maximum]",</a:t>
            </a:r>
          </a:p>
          <a:p>
            <a:r>
              <a:t>    "delta": 0.0027115002377913963,</a:t>
            </a:r>
          </a:p>
          <a:p>
            <a:r>
              <a:t>    "absolute_difference": 0.0027115002377913963,</a:t>
            </a:r>
          </a:p>
          <a:p>
            <a:r>
              <a:t>    "relative_percent": 10.332573710289507,</a:t>
            </a:r>
          </a:p>
          <a:p>
            <a:r>
              <a:t>    "comparison_period": 2025,</a:t>
            </a:r>
          </a:p>
          <a:p>
            <a:r>
              <a:t>    "legacy_lower": 0.026216011746,</a:t>
            </a:r>
          </a:p>
          <a:p>
            <a:r>
              <a:t>    "legacy_upper": 0.026242254,</a:t>
            </a:r>
          </a:p>
          <a:p>
            <a:r>
              <a:t>    "status": "different",</a:t>
            </a:r>
          </a:p>
          <a:p>
            <a:r>
              <a:t>    "output_comm": "T_D_tkm_mdv_t",</a:t>
            </a:r>
          </a:p>
          <a:p>
            <a:r>
              <a:t>    "tech_or_group": "T_MDV_T_DSL_N",</a:t>
            </a:r>
          </a:p>
          <a:p>
            <a:r>
              <a:t>    "operator": "e",</a:t>
            </a:r>
          </a:p>
          <a:p>
            <a:r>
              <a:t>    "legacy_bar_lower": 0.026216011746,</a:t>
            </a:r>
          </a:p>
          <a:p>
            <a:r>
              <a:t>    "legacy_bar_upper": 0.026242254,</a:t>
            </a:r>
          </a:p>
          <a:p>
            <a:r>
              <a:t>    "new_equality": 0.028953754237791396,</a:t>
            </a:r>
          </a:p>
          <a:p>
            <a:r>
              <a:t>    "chart_scale_factor": 100,</a:t>
            </a:r>
          </a:p>
          <a:p>
            <a:r>
              <a:t>    "display_units": "% of potential annual activity",</a:t>
            </a:r>
          </a:p>
          <a:p>
            <a:r>
              <a:t>    "point_change_vs_upper": 0.27115002377913966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"Heavy trucks",</a:t>
            </a:r>
          </a:p>
          <a:p>
            <a:r>
              <a:t>    "table": "limit_annual_capacity_factor",</a:t>
            </a:r>
          </a:p>
          <a:p>
            <a:r>
              <a:t>    "region": "ON",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"operator": "e",</a:t>
            </a:r>
          </a:p>
          <a:p>
            <a:r>
              <a:t>      "output_comm": "T_D_tkm_hdv_t",</a:t>
            </a:r>
          </a:p>
          <a:p>
            <a:r>
              <a:t>      "region": "ON",</a:t>
            </a:r>
          </a:p>
          <a:p>
            <a:r>
              <a:t>      "tech_or_group": "T_HDV_T_DSL_N",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0.2366269659840278,</a:t>
            </a:r>
          </a:p>
          <a:p>
            <a:r>
              <a:t>    "legacy": 0.207244942,</a:t>
            </a:r>
          </a:p>
          <a:p>
            <a:r>
              <a:t>    "candidate_units": "fraction",</a:t>
            </a:r>
          </a:p>
          <a:p>
            <a:r>
              <a:t>    "legacy_units": "fraction",</a:t>
            </a:r>
          </a:p>
          <a:p>
            <a:r>
              <a:t>    "units": "fraction",</a:t>
            </a:r>
          </a:p>
          <a:p>
            <a:r>
              <a:t>    "unit_basis": "declared units",</a:t>
            </a:r>
          </a:p>
          <a:p>
            <a:r>
              <a:t>    "comparison_grain": "new-cohort value at installation period; distance outside legacy [minimum, maximum]",</a:t>
            </a:r>
          </a:p>
          <a:p>
            <a:r>
              <a:t>    "delta": 0.02938202398402781,</a:t>
            </a:r>
          </a:p>
          <a:p>
            <a:r>
              <a:t>    "absolute_difference": 0.02938202398402781,</a:t>
            </a:r>
          </a:p>
          <a:p>
            <a:r>
              <a:t>    "relative_percent": 14.177438397520849,</a:t>
            </a:r>
          </a:p>
          <a:p>
            <a:r>
              <a:t>    "comparison_period": 2025,</a:t>
            </a:r>
          </a:p>
          <a:p>
            <a:r>
              <a:t>    "legacy_lower": 0.207037697058,</a:t>
            </a:r>
          </a:p>
          <a:p>
            <a:r>
              <a:t>    "legacy_upper": 0.207244942,</a:t>
            </a:r>
          </a:p>
          <a:p>
            <a:r>
              <a:t>    "status": "different",</a:t>
            </a:r>
          </a:p>
          <a:p>
            <a:r>
              <a:t>    "output_comm": "T_D_tkm_hdv_t",</a:t>
            </a:r>
          </a:p>
          <a:p>
            <a:r>
              <a:t>    "tech_or_group": "T_HDV_T_DSL_N",</a:t>
            </a:r>
          </a:p>
          <a:p>
            <a:r>
              <a:t>    "operator": "e",</a:t>
            </a:r>
          </a:p>
          <a:p>
            <a:r>
              <a:t>    "legacy_bar_lower": 0.207037697058,</a:t>
            </a:r>
          </a:p>
          <a:p>
            <a:r>
              <a:t>    "legacy_bar_upper": 0.207244942,</a:t>
            </a:r>
          </a:p>
          <a:p>
            <a:r>
              <a:t>    "new_equality": 0.2366269659840278,</a:t>
            </a:r>
          </a:p>
          <a:p>
            <a:r>
              <a:t>    "chart_scale_factor": 100,</a:t>
            </a:r>
          </a:p>
          <a:p>
            <a:r>
              <a:t>    "display_units": "% of potential annual activity",</a:t>
            </a:r>
          </a:p>
          <a:p>
            <a:r>
              <a:t>    "point_change_vs_upper": 2.938202398402781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"label": "Intercity buses",</a:t>
            </a:r>
          </a:p>
          <a:p>
            <a:r>
              <a:t>    "table": "limit_annual_capacity_factor",</a:t>
            </a:r>
          </a:p>
          <a:p>
            <a:r>
              <a:t>    "region": "ON",</a:t>
            </a:r>
          </a:p>
          <a:p>
            <a:r>
              <a:t>    "vintage": 2025,</a:t>
            </a:r>
          </a:p>
          <a:p>
            <a:r>
              <a:t>    "keys": {</a:t>
            </a:r>
          </a:p>
          <a:p>
            <a:r>
              <a:t>      "operator": "e",</a:t>
            </a:r>
          </a:p>
          <a:p>
            <a:r>
              <a:t>      "output_comm": "T_D_pkm_hdv_bic",</a:t>
            </a:r>
          </a:p>
          <a:p>
            <a:r>
              <a:t>      "region": "ON",</a:t>
            </a:r>
          </a:p>
          <a:p>
            <a:r>
              <a:t>      "tech_or_group": "T_HDV_BIC_DSL_N",</a:t>
            </a:r>
          </a:p>
          <a:p>
            <a:r>
              <a:t>      "vintage": 2025</a:t>
            </a:r>
          </a:p>
          <a:p>
            <a:r>
              <a:t>    },</a:t>
            </a:r>
          </a:p>
          <a:p>
            <a:r>
              <a:t>    "candidate": 0.052633521939548886,</a:t>
            </a:r>
          </a:p>
          <a:p>
            <a:r>
              <a:t>    "legacy": 0.041296921,</a:t>
            </a:r>
          </a:p>
          <a:p>
            <a:r>
              <a:t>    "candidate_units": "fraction",</a:t>
            </a:r>
          </a:p>
          <a:p>
            <a:r>
              <a:t>    "legacy_units": "fraction",</a:t>
            </a:r>
          </a:p>
          <a:p>
            <a:r>
              <a:t>    "units": "fraction",</a:t>
            </a:r>
          </a:p>
          <a:p>
            <a:r>
              <a:t>    "unit_basis": "declared units",</a:t>
            </a:r>
          </a:p>
          <a:p>
            <a:r>
              <a:t>    "comparison_grain": "new-cohort value at installation period; distance outside legacy [minimum, maximum]",</a:t>
            </a:r>
          </a:p>
          <a:p>
            <a:r>
              <a:t>    "delta": 0.011336600939548885,</a:t>
            </a:r>
          </a:p>
          <a:p>
            <a:r>
              <a:t>    "absolute_difference": 0.011336600939548885,</a:t>
            </a:r>
          </a:p>
          <a:p>
            <a:r>
              <a:t>    "relative_percent": 27.451443509672032,</a:t>
            </a:r>
          </a:p>
          <a:p>
            <a:r>
              <a:t>    "comparison_period": 2025,</a:t>
            </a:r>
          </a:p>
          <a:p>
            <a:r>
              <a:t>    "legacy_lower": 0.041255624079,</a:t>
            </a:r>
          </a:p>
          <a:p>
            <a:r>
              <a:t>    "legacy_upper": 0.041296921,</a:t>
            </a:r>
          </a:p>
          <a:p>
            <a:r>
              <a:t>    "status": "different",</a:t>
            </a:r>
          </a:p>
          <a:p>
            <a:r>
              <a:t>    "output_comm": "T_D_pkm_hdv_bic",</a:t>
            </a:r>
          </a:p>
          <a:p>
            <a:r>
              <a:t>    "tech_or_group": "T_HDV_BIC_DSL_N",</a:t>
            </a:r>
          </a:p>
          <a:p>
            <a:r>
              <a:t>    "operator": "e",</a:t>
            </a:r>
          </a:p>
          <a:p>
            <a:r>
              <a:t>    "legacy_bar_lower": 0.041255624079,</a:t>
            </a:r>
          </a:p>
          <a:p>
            <a:r>
              <a:t>    "legacy_bar_upper": 0.041296921,</a:t>
            </a:r>
          </a:p>
          <a:p>
            <a:r>
              <a:t>    "new_equality": 0.052633521939548886,</a:t>
            </a:r>
          </a:p>
          <a:p>
            <a:r>
              <a:t>    "chart_scale_factor": 100,</a:t>
            </a:r>
          </a:p>
          <a:p>
            <a:r>
              <a:t>    "display_units": "% of potential annual activity",</a:t>
            </a:r>
          </a:p>
          <a:p>
            <a:r>
              <a:t>    "point_change_vs_upper": 1.1336600939548886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EB3D7C-F15F-459A-943F-6B4DCD78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C821251-4EF8-4DC2-86F0-C8FDEF8C2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C357A50-3B41-4042-967C-7F4C0F08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4918F8E-AB13-4E3B-BC50-D9AA3095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604B127-54AA-42C7-9097-BA3C3B8E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0D66DB3-2858-4AA7-B015-6B9CBEE3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19B89EF-2823-48C3-ACBE-E24F6C8A2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5CEA760-D801-4A91-B157-549CB412F0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8E9B112-921D-4D43-80D2-3D8D626F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53178A-0E75-4024-B8B0-F6E8223C3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OE TRANSPORTATION">
            <a:extLst>
              <a:ext uri="{FF2B5EF4-FFF2-40B4-BE49-F238E27FC236}">
                <a16:creationId xmlns:a16="http://schemas.microsoft.com/office/drawing/2014/main" id="{A7630ADA-06F1-4900-80FD-C2AE14B169C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EC2"/>
                </a:solidFill>
                <a:latin typeface="Arial"/>
                <a:ea typeface="Arial"/>
                <a:cs typeface="Arial"/>
              </a:rPr>
              <a:t>CANOE TRANSPORTATION</a:t>
            </a:r>
          </a:p>
        </p:txBody>
      </p:sp>
      <p:sp>
        <p:nvSpPr>
          <p:cNvPr id="2" name="Legacy and new backend&#10;Observed differences">
            <a:extLst>
              <a:ext uri="{FF2B5EF4-FFF2-40B4-BE49-F238E27FC236}">
                <a16:creationId xmlns:a16="http://schemas.microsoft.com/office/drawing/2014/main" id="{4F5A1340-1956-4D46-9601-264369BDB95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 and new backend</a:t>
            </a:r>
          </a:p>
          <a:p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differences</a:t>
            </a:r>
          </a:p>
        </p:txBody>
      </p:sp>
      <p:sp>
        <p:nvSpPr>
          <p:cNvPr id="3" name="Ontario comparison">
            <a:extLst>
              <a:ext uri="{FF2B5EF4-FFF2-40B4-BE49-F238E27FC236}">
                <a16:creationId xmlns:a16="http://schemas.microsoft.com/office/drawing/2014/main" id="{99CB8806-10EB-4AA8-9E7E-EA6E72609A6A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Ontario comparison</a:t>
            </a:r>
          </a:p>
        </p:txBody>
      </p:sp>
      <p:sp>
        <p:nvSpPr>
          <p:cNvPr id="4" name="Legacy: canoe_transport_baseline.sqlite&#10;New: leg">
            <a:extLst>
              <a:ext uri="{FF2B5EF4-FFF2-40B4-BE49-F238E27FC236}">
                <a16:creationId xmlns:a16="http://schemas.microsoft.com/office/drawing/2014/main" id="{4F319803-9342-4915-BBF7-FCC38C4D21B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Legacy: canoe_transport_baseline.sqlite</a:t>
            </a:r>
          </a:p>
          <a:p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New: legacy_reproduction.sqlite, generated 13 October 2026</a:t>
            </a:r>
          </a:p>
        </p:txBody>
      </p:sp>
      <p:sp>
        <p:nvSpPr>
          <p:cNvPr id="5" name="Seven parameters, grouped by affected technology">
            <a:extLst>
              <a:ext uri="{FF2B5EF4-FFF2-40B4-BE49-F238E27FC236}">
                <a16:creationId xmlns:a16="http://schemas.microsoft.com/office/drawing/2014/main" id="{C25476A1-8215-4634-AD88-56AD370C50C0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Seven parameters, grouped by affected technology and difference driver.</a:t>
            </a:r>
          </a:p>
          <a:p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Bars show selected class examples. Percentage changes use the legacy value as the base.</a:t>
            </a:r>
          </a:p>
          <a:p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Most future examples use 2025 model values. Each slide states its time slice.</a:t>
            </a:r>
          </a:p>
        </p:txBody>
      </p:sp>
    </p:spTree>
    <p:extLst>
      <p:ext uri="{BB962C8B-B14F-4D97-AF65-F5344CB8AC3E}">
        <p14:creationId xmlns:p14="http://schemas.microsoft.com/office/powerpoint/2010/main" val="152806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st_fixed">
            <a:extLst>
              <a:ext uri="{FF2B5EF4-FFF2-40B4-BE49-F238E27FC236}">
                <a16:creationId xmlns:a16="http://schemas.microsoft.com/office/drawing/2014/main" id="{636BBD1A-6E13-43F7-8B53-F7034B12BF8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cost_fixed</a:t>
            </a:r>
          </a:p>
        </p:txBody>
      </p:sp>
      <p:sp>
        <p:nvSpPr>
          <p:cNvPr id="2" name="Small differences in charger fixed costs">
            <a:extLst>
              <a:ext uri="{FF2B5EF4-FFF2-40B4-BE49-F238E27FC236}">
                <a16:creationId xmlns:a16="http://schemas.microsoft.com/office/drawing/2014/main" id="{AF04BD1D-6A69-4709-8C0B-53EF22AD7B51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Small differences in charger fixed costs</a:t>
            </a:r>
          </a:p>
        </p:txBody>
      </p:sp>
      <p:sp>
        <p:nvSpPr>
          <p:cNvPr id="3" name="2025 vintage and period. Both charger classes di">
            <a:extLst>
              <a:ext uri="{FF2B5EF4-FFF2-40B4-BE49-F238E27FC236}">
                <a16:creationId xmlns:a16="http://schemas.microsoft.com/office/drawing/2014/main" id="{7FDC30A0-BDA5-4628-9459-3D195B318A36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Both charger classes differ by less than 1% in this example.</a:t>
            </a:r>
          </a:p>
        </p:txBody>
      </p:sp>
      <p:sp>
        <p:nvSpPr>
          <p:cNvPr id="4" name="Ontario. Matching legacy class rates bridge to t">
            <a:extLst>
              <a:ext uri="{FF2B5EF4-FFF2-40B4-BE49-F238E27FC236}">
                <a16:creationId xmlns:a16="http://schemas.microsoft.com/office/drawing/2014/main" id="{FD90ACFD-BE75-475A-8044-37A1E3BCCFC0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Matching legacy class rates bridge to the new shared charger classes.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CBB6E417-E9CA-4487-A59F-CB841BB8E6E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1918ABCD-5D22-4AA4-965E-83D121F96E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2942802"/>
              </p:ext>
            </p:extLst>
          </p:nvPr>
        </p:nvGraphicFramePr>
        <p:xfrm>
          <a:off x="523875" y="1924050"/>
          <a:ext cx="6858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aggregation weights">
            <a:extLst>
              <a:ext uri="{FF2B5EF4-FFF2-40B4-BE49-F238E27FC236}">
                <a16:creationId xmlns:a16="http://schemas.microsoft.com/office/drawing/2014/main" id="{B2ED6A22-4DA3-4890-97B9-804C31D325BE}"/>
              </a:ext>
            </a:extLst>
          </p:cNvPr>
          <p:cNvSpPr>
            <a:spLocks noGrp="1"/>
          </p:cNvSpPr>
          <p:nvPr/>
        </p:nvSpPr>
        <p:spPr>
          <a:xfrm>
            <a:off x="7791450" y="2143125"/>
            <a:ext cx="3619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Rounded aggregation weights</a:t>
            </a:r>
          </a:p>
        </p:txBody>
      </p:sp>
      <p:sp>
        <p:nvSpPr>
          <p:cNvPr id="8" name="LDV and MHDV chargers share the same reported di">
            <a:extLst>
              <a:ext uri="{FF2B5EF4-FFF2-40B4-BE49-F238E27FC236}">
                <a16:creationId xmlns:a16="http://schemas.microsoft.com/office/drawing/2014/main" id="{5362CF90-2892-425A-8A13-BCC09FCA00CD}"/>
              </a:ext>
            </a:extLst>
          </p:cNvPr>
          <p:cNvSpPr>
            <a:spLocks noGrp="1"/>
          </p:cNvSpPr>
          <p:nvPr/>
        </p:nvSpPr>
        <p:spPr>
          <a:xfrm>
            <a:off x="7791450" y="3190875"/>
            <a:ext cx="3619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34"/>
                </a:solidFill>
                <a:latin typeface="Arial"/>
                <a:ea typeface="Arial"/>
                <a:cs typeface="Arial"/>
              </a:rPr>
              <a:t>LDV and MHDV chargers share the same reported difference driver.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3B0310-BFA4-4C72-8590-18F0E5225FEF}"/>
              </a:ext>
            </a:extLst>
          </p:cNvPr>
          <p:cNvGraphicFramePr/>
          <p:nvPr/>
        </p:nvGraphicFramePr>
        <p:xfrm>
          <a:off x="514350" y="4972050"/>
          <a:ext cx="11163300" cy="1266825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Cost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16.064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16.205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MHDV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11.989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12.065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0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st_invest">
            <a:extLst>
              <a:ext uri="{FF2B5EF4-FFF2-40B4-BE49-F238E27FC236}">
                <a16:creationId xmlns:a16="http://schemas.microsoft.com/office/drawing/2014/main" id="{D9742D76-40CF-4248-B413-F1C05121FC5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heavy off-road modes">
            <a:extLst>
              <a:ext uri="{FF2B5EF4-FFF2-40B4-BE49-F238E27FC236}">
                <a16:creationId xmlns:a16="http://schemas.microsoft.com/office/drawing/2014/main" id="{A10FE0CD-4D1A-48A4-9EED-BE8CC389CE50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heavy off-road modes</a:t>
            </a:r>
          </a:p>
        </p:txBody>
      </p:sp>
      <p:sp>
        <p:nvSpPr>
          <p:cNvPr id="3" name="2025 vintage. Differences reflect capital costs ">
            <a:extLst>
              <a:ext uri="{FF2B5EF4-FFF2-40B4-BE49-F238E27FC236}">
                <a16:creationId xmlns:a16="http://schemas.microsoft.com/office/drawing/2014/main" id="{B700DB53-150F-4779-B84C-13E6450B232C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Differences reflect capital costs per unit of transport service.</a:t>
            </a:r>
          </a:p>
        </p:txBody>
      </p:sp>
      <p:sp>
        <p:nvSpPr>
          <p:cNvPr id="4" name="Ontario. Selected examples, not fleet averages.">
            <a:extLst>
              <a:ext uri="{FF2B5EF4-FFF2-40B4-BE49-F238E27FC236}">
                <a16:creationId xmlns:a16="http://schemas.microsoft.com/office/drawing/2014/main" id="{EFEF497F-9FA3-4D08-B034-5C70A9800A5B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921643BC-3A70-40A9-B1AE-70646171BA5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37A5F79B-4316-4E2F-B63A-FA26736B815C}"/>
              </a:ext>
            </a:extLst>
          </p:cNvPr>
          <p:cNvGraphicFramePr/>
          <p:nvPr/>
        </p:nvGraphicFramePr>
        <p:xfrm>
          <a:off x="514350" y="1819275"/>
          <a:ext cx="11163300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8BCA5D-F5C4-4E4D-B2B0-85C0B86AD90A}"/>
              </a:ext>
            </a:extLst>
          </p:cNvPr>
          <p:cNvGraphicFramePr/>
          <p:nvPr/>
        </p:nvGraphicFramePr>
        <p:xfrm>
          <a:off x="514350" y="4933950"/>
          <a:ext cx="11163300" cy="1381125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heavy off-road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CIMS replaces OEO capital costs, normalized to demand-service units.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Service output comes from FAA operational data.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13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st_invest">
            <a:extLst>
              <a:ext uri="{FF2B5EF4-FFF2-40B4-BE49-F238E27FC236}">
                <a16:creationId xmlns:a16="http://schemas.microsoft.com/office/drawing/2014/main" id="{45FED48B-9BC0-435D-BBE2-6BF0E379D30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road vehicles">
            <a:extLst>
              <a:ext uri="{FF2B5EF4-FFF2-40B4-BE49-F238E27FC236}">
                <a16:creationId xmlns:a16="http://schemas.microsoft.com/office/drawing/2014/main" id="{EC7A2B57-8006-46B7-A9FF-6BC4ED61EBE9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road vehicles</a:t>
            </a:r>
          </a:p>
        </p:txBody>
      </p:sp>
      <p:sp>
        <p:nvSpPr>
          <p:cNvPr id="3" name="2025 vintage. Truck examples show larger differe">
            <a:extLst>
              <a:ext uri="{FF2B5EF4-FFF2-40B4-BE49-F238E27FC236}">
                <a16:creationId xmlns:a16="http://schemas.microsoft.com/office/drawing/2014/main" id="{DB462788-09C4-4E5F-9901-E4937932B050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Truck examples show larger differences than cars and light trucks.</a:t>
            </a:r>
          </a:p>
        </p:txBody>
      </p:sp>
      <p:sp>
        <p:nvSpPr>
          <p:cNvPr id="4" name="Ontario. Selected examples, not fleet averages.">
            <a:extLst>
              <a:ext uri="{FF2B5EF4-FFF2-40B4-BE49-F238E27FC236}">
                <a16:creationId xmlns:a16="http://schemas.microsoft.com/office/drawing/2014/main" id="{C3949C1C-0B99-4609-997D-849D48A781A8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F82F24D3-9F6A-4365-B2DB-B69DC59758A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B0762B8-589A-4123-BF48-1BBBC77DEB0B}"/>
              </a:ext>
            </a:extLst>
          </p:cNvPr>
          <p:cNvGraphicFramePr/>
          <p:nvPr/>
        </p:nvGraphicFramePr>
        <p:xfrm>
          <a:off x="514350" y="1809750"/>
          <a:ext cx="6543675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8ED1F0-AEEF-4DD7-B88D-44C07C888226}"/>
              </a:ext>
            </a:extLst>
          </p:cNvPr>
          <p:cNvGraphicFramePr/>
          <p:nvPr/>
        </p:nvGraphicFramePr>
        <p:xfrm>
          <a:off x="7381875" y="1952625"/>
          <a:ext cx="4295775" cy="4248150"/>
        </p:xfrm>
        <a:graphic>
          <a:graphicData uri="http://schemas.openxmlformats.org/drawingml/2006/table">
            <a:tbl>
              <a:tblPr/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NLR ATB retail price / 1.5 should preserve a similar cost basis. Aggregation weights are the expected main driver.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Hypothesis: the changed regional / long-haul mix explains the larger gap.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Gasoline 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lacks the gasoline input included in legacy Islam et al. (2023) results.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3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st_variable">
            <a:extLst>
              <a:ext uri="{FF2B5EF4-FFF2-40B4-BE49-F238E27FC236}">
                <a16:creationId xmlns:a16="http://schemas.microsoft.com/office/drawing/2014/main" id="{A7F001C7-2262-401B-BC21-A29DBEE8B3C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Operating cost for heavy off-road modes">
            <a:extLst>
              <a:ext uri="{FF2B5EF4-FFF2-40B4-BE49-F238E27FC236}">
                <a16:creationId xmlns:a16="http://schemas.microsoft.com/office/drawing/2014/main" id="{C0EFC330-F1EE-42D6-B99E-069A592DD4A3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Operating cost for heavy off-road modes</a:t>
            </a:r>
          </a:p>
        </p:txBody>
      </p:sp>
      <p:sp>
        <p:nvSpPr>
          <p:cNvPr id="3" name="2025 vintage and period. Marine uses its own sca">
            <a:extLst>
              <a:ext uri="{FF2B5EF4-FFF2-40B4-BE49-F238E27FC236}">
                <a16:creationId xmlns:a16="http://schemas.microsoft.com/office/drawing/2014/main" id="{2E5C6868-3E18-40A5-B8E2-119CC700E3B1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Marine uses its own scale so the other classes remain visible.</a:t>
            </a:r>
          </a:p>
        </p:txBody>
      </p:sp>
      <p:sp>
        <p:nvSpPr>
          <p:cNvPr id="4" name="Ontario. The listed methods do not quantify ever">
            <a:extLst>
              <a:ext uri="{FF2B5EF4-FFF2-40B4-BE49-F238E27FC236}">
                <a16:creationId xmlns:a16="http://schemas.microsoft.com/office/drawing/2014/main" id="{17AAB24A-E05C-4851-BEBB-19EE9CB7F455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The listed methods do not quantify every part of the observed cost gap.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BD8F9F78-44E7-4BA9-A674-B8FD17AC004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EC86D78B-CDE9-47D0-BE17-25F1DE42424E}"/>
              </a:ext>
            </a:extLst>
          </p:cNvPr>
          <p:cNvGraphicFramePr/>
          <p:nvPr/>
        </p:nvGraphicFramePr>
        <p:xfrm>
          <a:off x="514350" y="1866900"/>
          <a:ext cx="5000625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1C9E15B3-6AAE-4F04-9C8E-A3EB1C1FAD5E}"/>
              </a:ext>
            </a:extLst>
          </p:cNvPr>
          <p:cNvGraphicFramePr/>
          <p:nvPr/>
        </p:nvGraphicFramePr>
        <p:xfrm>
          <a:off x="5924550" y="1866900"/>
          <a:ext cx="5753100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FCBE06-DD3C-420D-AD55-23B71E5E5D8E}"/>
              </a:ext>
            </a:extLst>
          </p:cNvPr>
          <p:cNvGraphicFramePr/>
          <p:nvPr/>
        </p:nvGraphicFramePr>
        <p:xfrm>
          <a:off x="514350" y="4914900"/>
          <a:ext cx="11163300" cy="1381125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and rail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Revised capital costs feed into OEO capital-to-operating cost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FAA operational data supplies operating costs.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3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st_variable">
            <a:extLst>
              <a:ext uri="{FF2B5EF4-FFF2-40B4-BE49-F238E27FC236}">
                <a16:creationId xmlns:a16="http://schemas.microsoft.com/office/drawing/2014/main" id="{591DA3B6-9310-443B-9F40-581EAA78E4B7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Road operating costs now use formulas">
            <a:extLst>
              <a:ext uri="{FF2B5EF4-FFF2-40B4-BE49-F238E27FC236}">
                <a16:creationId xmlns:a16="http://schemas.microsoft.com/office/drawing/2014/main" id="{26FB41F4-9FAE-46C0-8B23-47905A3A1ED1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operating costs now use formulas</a:t>
            </a:r>
          </a:p>
        </p:txBody>
      </p:sp>
      <p:sp>
        <p:nvSpPr>
          <p:cNvPr id="3" name="2025 vintage and period. The direction of change">
            <a:extLst>
              <a:ext uri="{FF2B5EF4-FFF2-40B4-BE49-F238E27FC236}">
                <a16:creationId xmlns:a16="http://schemas.microsoft.com/office/drawing/2014/main" id="{54F115A7-BEB3-4F2E-952E-BE1499DAD2CD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The direction of change varies across vehicle classes.</a:t>
            </a:r>
          </a:p>
        </p:txBody>
      </p:sp>
      <p:sp>
        <p:nvSpPr>
          <p:cNvPr id="4" name="Ontario. Selected examples, not fleet averages.">
            <a:extLst>
              <a:ext uri="{FF2B5EF4-FFF2-40B4-BE49-F238E27FC236}">
                <a16:creationId xmlns:a16="http://schemas.microsoft.com/office/drawing/2014/main" id="{A3FCEF16-9F92-4F0D-B82A-3831DEB12D60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C505FE3A-DE22-40AC-9683-213C9EF7DFC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4F24CF13-D2D1-4757-9B9B-70490AE9029B}"/>
              </a:ext>
            </a:extLst>
          </p:cNvPr>
          <p:cNvGraphicFramePr/>
          <p:nvPr/>
        </p:nvGraphicFramePr>
        <p:xfrm>
          <a:off x="514350" y="1828800"/>
          <a:ext cx="11163300" cy="3057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B6DAA5-524F-4582-A72A-9E8CB571BDE0}"/>
              </a:ext>
            </a:extLst>
          </p:cNvPr>
          <p:cNvGraphicFramePr/>
          <p:nvPr/>
        </p:nvGraphicFramePr>
        <p:xfrm>
          <a:off x="514350" y="5114925"/>
          <a:ext cx="11163300" cy="1171575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Hard-coded costs fetched directly from the BEAN model.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Costs calculated with formulas.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65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emand">
            <a:extLst>
              <a:ext uri="{FF2B5EF4-FFF2-40B4-BE49-F238E27FC236}">
                <a16:creationId xmlns:a16="http://schemas.microsoft.com/office/drawing/2014/main" id="{B991869B-7B7D-4E2F-B129-F559EC467017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2" name="Demand changes with the edition and base year">
            <a:extLst>
              <a:ext uri="{FF2B5EF4-FFF2-40B4-BE49-F238E27FC236}">
                <a16:creationId xmlns:a16="http://schemas.microsoft.com/office/drawing/2014/main" id="{BDD4A078-32CC-4A30-A1ED-B38BC4743681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Demand changes with the edition and base year</a:t>
            </a:r>
          </a:p>
        </p:txBody>
      </p:sp>
      <p:sp>
        <p:nvSpPr>
          <p:cNvPr id="3" name="2025 model period. Marine is shown alongside sel">
            <a:extLst>
              <a:ext uri="{FF2B5EF4-FFF2-40B4-BE49-F238E27FC236}">
                <a16:creationId xmlns:a16="http://schemas.microsoft.com/office/drawing/2014/main" id="{E20D40FF-16E8-45EA-B05B-30415C732067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model period. Marine is shown alongside selected examples of the other modes.</a:t>
            </a:r>
          </a:p>
        </p:txBody>
      </p:sp>
      <p:sp>
        <p:nvSpPr>
          <p:cNvPr id="4" name="Ontario. Model-period demand, not an observed 20">
            <a:extLst>
              <a:ext uri="{FF2B5EF4-FFF2-40B4-BE49-F238E27FC236}">
                <a16:creationId xmlns:a16="http://schemas.microsoft.com/office/drawing/2014/main" id="{FDC0A7D3-58CC-46B5-A836-E54B4D127312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Model-period demand, not an observed 2025 measurement.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1EF41FEB-3C01-4368-8B47-31FC58EE16E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0430CB69-4BB3-48FA-B62D-E1B7FBA4ED07}"/>
              </a:ext>
            </a:extLst>
          </p:cNvPr>
          <p:cNvGraphicFramePr/>
          <p:nvPr/>
        </p:nvGraphicFramePr>
        <p:xfrm>
          <a:off x="514350" y="1838325"/>
          <a:ext cx="11163300" cy="301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784AAB-7DEC-42F5-AC28-DB08C6991B65}"/>
              </a:ext>
            </a:extLst>
          </p:cNvPr>
          <p:cNvGraphicFramePr/>
          <p:nvPr/>
        </p:nvGraphicFramePr>
        <p:xfrm>
          <a:off x="514350" y="4991100"/>
          <a:ext cx="11163300" cy="1314450"/>
        </p:xfrm>
        <a:graphic>
          <a:graphicData uri="http://schemas.openxmlformats.org/drawingml/2006/table">
            <a:tbl>
              <a:tblPr/>
              <a:tblGrid>
                <a:gridCol w="25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modes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CEUD edition change substantially alters marine energy use.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other modes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Future demand is indexed to 2023 demand instead of 2019.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4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fficiency">
            <a:extLst>
              <a:ext uri="{FF2B5EF4-FFF2-40B4-BE49-F238E27FC236}">
                <a16:creationId xmlns:a16="http://schemas.microsoft.com/office/drawing/2014/main" id="{6A13DB89-BFC3-48F4-AC70-CEBFDBDD734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us efficiency uses CEUD backcasting">
            <a:extLst>
              <a:ext uri="{FF2B5EF4-FFF2-40B4-BE49-F238E27FC236}">
                <a16:creationId xmlns:a16="http://schemas.microsoft.com/office/drawing/2014/main" id="{31049B95-12BA-4F1E-8903-CCEE2FFBA0EB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bus efficiency uses CEUD backcasting</a:t>
            </a:r>
          </a:p>
        </p:txBody>
      </p:sp>
      <p:sp>
        <p:nvSpPr>
          <p:cNvPr id="3" name="2020 vintage. Values show transport service per ">
            <a:extLst>
              <a:ext uri="{FF2B5EF4-FFF2-40B4-BE49-F238E27FC236}">
                <a16:creationId xmlns:a16="http://schemas.microsoft.com/office/drawing/2014/main" id="{09F2F582-1598-4399-9138-3F7678C92E42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Values show transport service per unit of energy.</a:t>
            </a:r>
          </a:p>
        </p:txBody>
      </p:sp>
      <p:sp>
        <p:nvSpPr>
          <p:cNvPr id="4" name="Ontario. Selected examples, not fleet averages.">
            <a:extLst>
              <a:ext uri="{FF2B5EF4-FFF2-40B4-BE49-F238E27FC236}">
                <a16:creationId xmlns:a16="http://schemas.microsoft.com/office/drawing/2014/main" id="{88D92F79-8AFA-4BC6-A0C4-455BAECF3726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1E45CD17-4051-4F76-B588-FF94CC0D6B1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9E0A6619-E8D1-4802-BD14-3AB60CC90BBC}"/>
              </a:ext>
            </a:extLst>
          </p:cNvPr>
          <p:cNvGraphicFramePr/>
          <p:nvPr/>
        </p:nvGraphicFramePr>
        <p:xfrm>
          <a:off x="514350" y="1866900"/>
          <a:ext cx="6810375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F19497-52BD-4CBA-A291-0F5DD993E32D}"/>
              </a:ext>
            </a:extLst>
          </p:cNvPr>
          <p:cNvGraphicFramePr/>
          <p:nvPr/>
        </p:nvGraphicFramePr>
        <p:xfrm>
          <a:off x="7600950" y="2133600"/>
          <a:ext cx="4076700" cy="337185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Existing-stock method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GREET gasoline-to-diesel and CNG-to-diesel scaling, with improvements indexed to ATB.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values backcast using CEUD energy intensities.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83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fficiency">
            <a:extLst>
              <a:ext uri="{FF2B5EF4-FFF2-40B4-BE49-F238E27FC236}">
                <a16:creationId xmlns:a16="http://schemas.microsoft.com/office/drawing/2014/main" id="{1F5AC931-1315-49E6-B1ED-D547025B47D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Marine efficiency uses CEUD and REGEN">
            <a:extLst>
              <a:ext uri="{FF2B5EF4-FFF2-40B4-BE49-F238E27FC236}">
                <a16:creationId xmlns:a16="http://schemas.microsoft.com/office/drawing/2014/main" id="{8C3FC15F-A087-4B7A-A8FD-12047632FCD5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Marine efficiency uses CEUD and REGEN</a:t>
            </a:r>
          </a:p>
        </p:txBody>
      </p:sp>
      <p:sp>
        <p:nvSpPr>
          <p:cNvPr id="3" name="2025 vintage. Marine freight efficiency is lower">
            <a:extLst>
              <a:ext uri="{FF2B5EF4-FFF2-40B4-BE49-F238E27FC236}">
                <a16:creationId xmlns:a16="http://schemas.microsoft.com/office/drawing/2014/main" id="{EA2986B0-664E-4CB8-A88D-D39599C1725A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Marine freight efficiency is lower in both fuel examples.</a:t>
            </a:r>
          </a:p>
        </p:txBody>
      </p:sp>
      <p:sp>
        <p:nvSpPr>
          <p:cNvPr id="4" name="Ontario. Selected examples, not fleet averages.">
            <a:extLst>
              <a:ext uri="{FF2B5EF4-FFF2-40B4-BE49-F238E27FC236}">
                <a16:creationId xmlns:a16="http://schemas.microsoft.com/office/drawing/2014/main" id="{11F4756F-F214-4842-979E-0C44BDE93542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557CD461-3D1B-46C7-B5B1-5DC6D3AD072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F8AAF905-B27D-48BA-AD79-44F1BF56F907}"/>
              </a:ext>
            </a:extLst>
          </p:cNvPr>
          <p:cNvGraphicFramePr/>
          <p:nvPr/>
        </p:nvGraphicFramePr>
        <p:xfrm>
          <a:off x="514350" y="1914525"/>
          <a:ext cx="6696075" cy="363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D0D1D4-3DD8-45A0-8425-808AD3D7BE16}"/>
              </a:ext>
            </a:extLst>
          </p:cNvPr>
          <p:cNvGraphicFramePr/>
          <p:nvPr/>
        </p:nvGraphicFramePr>
        <p:xfrm>
          <a:off x="7600950" y="2152650"/>
          <a:ext cx="4076700" cy="3190875"/>
        </p:xfrm>
        <a:graphic>
          <a:graphicData uri="http://schemas.openxmlformats.org/drawingml/2006/table">
            <a:tbl>
              <a:tblPr/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Efficiency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Values from a regional report.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CEUD energy intensities, with improvement indexed to REGEN assumptions.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Heavy fuel oil: -44.0%     Marine diesel oil: -4">
            <a:extLst>
              <a:ext uri="{FF2B5EF4-FFF2-40B4-BE49-F238E27FC236}">
                <a16:creationId xmlns:a16="http://schemas.microsoft.com/office/drawing/2014/main" id="{1AA78B54-32FC-445D-BEB6-AC5E20096D96}"/>
              </a:ext>
            </a:extLst>
          </p:cNvPr>
          <p:cNvSpPr>
            <a:spLocks noGrp="1"/>
          </p:cNvSpPr>
          <p:nvPr/>
        </p:nvSpPr>
        <p:spPr>
          <a:xfrm>
            <a:off x="514350" y="5857875"/>
            <a:ext cx="111633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Heavy fuel oil: -44.0%     Marine diesel oil: -40.3%</a:t>
            </a:r>
          </a:p>
        </p:txBody>
      </p:sp>
    </p:spTree>
    <p:extLst>
      <p:ext uri="{BB962C8B-B14F-4D97-AF65-F5344CB8AC3E}">
        <p14:creationId xmlns:p14="http://schemas.microsoft.com/office/powerpoint/2010/main" val="64610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fficiency">
            <a:extLst>
              <a:ext uri="{FF2B5EF4-FFF2-40B4-BE49-F238E27FC236}">
                <a16:creationId xmlns:a16="http://schemas.microsoft.com/office/drawing/2014/main" id="{EABEF29A-FD9A-4E58-BBD7-5701982D892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EV and PHEV archetypes merge range evi">
            <a:extLst>
              <a:ext uri="{FF2B5EF4-FFF2-40B4-BE49-F238E27FC236}">
                <a16:creationId xmlns:a16="http://schemas.microsoft.com/office/drawing/2014/main" id="{92E1BF63-6996-4B3A-9648-4522AA607522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BEV and PHEV archetypes merge range evidence</a:t>
            </a:r>
          </a:p>
        </p:txBody>
      </p:sp>
      <p:sp>
        <p:nvSpPr>
          <p:cNvPr id="3" name="2020 vintage. Each legacy range-specific represe">
            <a:extLst>
              <a:ext uri="{FF2B5EF4-FFF2-40B4-BE49-F238E27FC236}">
                <a16:creationId xmlns:a16="http://schemas.microsoft.com/office/drawing/2014/main" id="{60EB70B4-760C-4BD3-9872-BA83D8BBE6C4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Each legacy range-specific representative maps to its new merged class.</a:t>
            </a:r>
          </a:p>
        </p:txBody>
      </p:sp>
      <p:sp>
        <p:nvSpPr>
          <p:cNvPr id="4" name="Ontario. Explicit class mapping across represent">
            <a:extLst>
              <a:ext uri="{FF2B5EF4-FFF2-40B4-BE49-F238E27FC236}">
                <a16:creationId xmlns:a16="http://schemas.microsoft.com/office/drawing/2014/main" id="{1B24839E-68B7-4CD1-959C-B4A17FD61DB6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Explicit class mapping across representations, not identical technology keys.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D7F0B056-2800-4B2C-ADD0-37F5AD18453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8C0CAB84-8C8C-4249-8F37-00689D505477}"/>
              </a:ext>
            </a:extLst>
          </p:cNvPr>
          <p:cNvGraphicFramePr/>
          <p:nvPr/>
        </p:nvGraphicFramePr>
        <p:xfrm>
          <a:off x="514350" y="1866900"/>
          <a:ext cx="1116330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142639-6A4B-41B7-AF25-7E1E48C5C3E4}"/>
              </a:ext>
            </a:extLst>
          </p:cNvPr>
          <p:cNvGraphicFramePr/>
          <p:nvPr/>
        </p:nvGraphicFramePr>
        <p:xfrm>
          <a:off x="514350" y="5067300"/>
          <a:ext cx="11163300" cy="1247775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archetypes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Existing BEV and PHEV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 fixed range class represents each archetype.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Merged archetypes aggregate range evidence using OMEGA vehicle-sales evidence.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6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isting_capacity">
            <a:extLst>
              <a:ext uri="{FF2B5EF4-FFF2-40B4-BE49-F238E27FC236}">
                <a16:creationId xmlns:a16="http://schemas.microsoft.com/office/drawing/2014/main" id="{DC59D44A-79B9-4143-9A30-E577B7268ED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Existing capacity changes with the source baseli">
            <a:extLst>
              <a:ext uri="{FF2B5EF4-FFF2-40B4-BE49-F238E27FC236}">
                <a16:creationId xmlns:a16="http://schemas.microsoft.com/office/drawing/2014/main" id="{65097643-6096-4556-AB5C-7802992D7015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capacity changes with the source baseline</a:t>
            </a:r>
          </a:p>
        </p:txBody>
      </p:sp>
      <p:sp>
        <p:nvSpPr>
          <p:cNvPr id="3" name="Each version’s baseline inventory, summed across">
            <a:extLst>
              <a:ext uri="{FF2B5EF4-FFF2-40B4-BE49-F238E27FC236}">
                <a16:creationId xmlns:a16="http://schemas.microsoft.com/office/drawing/2014/main" id="{2BF17754-26EA-4404-A4F5-20DD31E9667E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inventory, summed across its stored existing cohorts.</a:t>
            </a:r>
          </a:p>
        </p:txBody>
      </p:sp>
      <p:sp>
        <p:nvSpPr>
          <p:cNvPr id="4" name="Ontario. Road inventory uses 2021 versus 2023 ba">
            <a:extLst>
              <a:ext uri="{FF2B5EF4-FFF2-40B4-BE49-F238E27FC236}">
                <a16:creationId xmlns:a16="http://schemas.microsoft.com/office/drawing/2014/main" id="{4FABFCF1-B629-436D-AAAB-72E4286A4510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Road inventory uses 2021 versus 2023 baselines; each marine bar retains its fuel class.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95FD8761-8B15-4A9A-B685-0C3AAD23E91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82154EC8-971E-4FD0-A9AD-0DBD4195116C}"/>
              </a:ext>
            </a:extLst>
          </p:cNvPr>
          <p:cNvGraphicFramePr/>
          <p:nvPr/>
        </p:nvGraphicFramePr>
        <p:xfrm>
          <a:off x="514350" y="1838325"/>
          <a:ext cx="11163300" cy="302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A95D9C-8144-404F-AC8B-B6AD9924D932}"/>
              </a:ext>
            </a:extLst>
          </p:cNvPr>
          <p:cNvGraphicFramePr/>
          <p:nvPr/>
        </p:nvGraphicFramePr>
        <p:xfrm>
          <a:off x="514350" y="5010150"/>
          <a:ext cx="11163300" cy="1304925"/>
        </p:xfrm>
        <a:graphic>
          <a:graphicData uri="http://schemas.openxmlformats.org/drawingml/2006/table">
            <a:tbl>
              <a:tblPr/>
              <a:tblGrid>
                <a:gridCol w="25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Fuel-consumption differences between CEUD editions.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stock baseline shifts from 2021 to 2023.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80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isting_capacity">
            <a:extLst>
              <a:ext uri="{FF2B5EF4-FFF2-40B4-BE49-F238E27FC236}">
                <a16:creationId xmlns:a16="http://schemas.microsoft.com/office/drawing/2014/main" id="{00F884AC-C1CF-49BF-8AE6-143ACBBDF93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Charger capacity follows ports and EV-to-port ra">
            <a:extLst>
              <a:ext uri="{FF2B5EF4-FFF2-40B4-BE49-F238E27FC236}">
                <a16:creationId xmlns:a16="http://schemas.microsoft.com/office/drawing/2014/main" id="{FCA9D71C-0AAE-4080-B535-F82CF53B13A5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Charger capacity follows ports and EV-to-port ratios</a:t>
            </a:r>
          </a:p>
        </p:txBody>
      </p:sp>
      <p:sp>
        <p:nvSpPr>
          <p:cNvPr id="3" name="Each version’s baseline inventory. Legacy charge">
            <a:extLst>
              <a:ext uri="{FF2B5EF4-FFF2-40B4-BE49-F238E27FC236}">
                <a16:creationId xmlns:a16="http://schemas.microsoft.com/office/drawing/2014/main" id="{01F489B4-8E1B-4EC1-920C-9FD1A4D0BE71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inventory. Legacy charger cohorts are summed within each class.</a:t>
            </a:r>
          </a:p>
        </p:txBody>
      </p:sp>
      <p:sp>
        <p:nvSpPr>
          <p:cNvPr id="4" name="Ontario. Legacy MHDV inventory contains HDV rows">
            <a:extLst>
              <a:ext uri="{FF2B5EF4-FFF2-40B4-BE49-F238E27FC236}">
                <a16:creationId xmlns:a16="http://schemas.microsoft.com/office/drawing/2014/main" id="{33427453-BEDB-4F06-9E22-303E5EE2F4B3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Legacy MHDV inventory contains HDV rows only; no MDV charger-stock rows are present.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230EB073-0EBB-40EA-B2D0-F5C8422B77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D4C86AB5-93C2-4228-A311-55124BBEFABE}"/>
              </a:ext>
            </a:extLst>
          </p:cNvPr>
          <p:cNvGraphicFramePr/>
          <p:nvPr/>
        </p:nvGraphicFramePr>
        <p:xfrm>
          <a:off x="514350" y="1905000"/>
          <a:ext cx="6829425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8098B2-D82E-42EA-8DAF-C5E53A153A04}"/>
              </a:ext>
            </a:extLst>
          </p:cNvPr>
          <p:cNvGraphicFramePr/>
          <p:nvPr/>
        </p:nvGraphicFramePr>
        <p:xfrm>
          <a:off x="7600950" y="2076450"/>
          <a:ext cx="4076700" cy="317182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Capacity calibration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Energy-based calibration.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Public port counts and EV-to-port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658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mit_annual_capacity_factor">
            <a:extLst>
              <a:ext uri="{FF2B5EF4-FFF2-40B4-BE49-F238E27FC236}">
                <a16:creationId xmlns:a16="http://schemas.microsoft.com/office/drawing/2014/main" id="{4E19A937-C9F8-4E69-AB33-38A84DFE4D1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limit_annual_capacity_factor</a:t>
            </a:r>
          </a:p>
        </p:txBody>
      </p:sp>
      <p:sp>
        <p:nvSpPr>
          <p:cNvPr id="2" name="Road utilization reflects a revised CEUD averagi">
            <a:extLst>
              <a:ext uri="{FF2B5EF4-FFF2-40B4-BE49-F238E27FC236}">
                <a16:creationId xmlns:a16="http://schemas.microsoft.com/office/drawing/2014/main" id="{62443693-ED8F-4937-A8CD-2B9F3C994C4E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utilization reflects a revised CEUD averaging window</a:t>
            </a:r>
          </a:p>
        </p:txBody>
      </p:sp>
      <p:sp>
        <p:nvSpPr>
          <p:cNvPr id="3" name="Latest five eligible activity-to-stock periods, ">
            <a:extLst>
              <a:ext uri="{FF2B5EF4-FFF2-40B4-BE49-F238E27FC236}">
                <a16:creationId xmlns:a16="http://schemas.microsoft.com/office/drawing/2014/main" id="{54194473-05BA-4D42-A396-CCEE2BFD68CA}"/>
              </a:ext>
            </a:extLst>
          </p:cNvPr>
          <p:cNvSpPr>
            <a:spLocks noGrp="1"/>
          </p:cNvSpPr>
          <p:nvPr/>
        </p:nvSpPr>
        <p:spPr>
          <a:xfrm>
            <a:off x="514350" y="124777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Latest five eligible activity-to-stock periods, excluding 2020–2021.</a:t>
            </a:r>
          </a:p>
        </p:txBody>
      </p:sp>
      <p:sp>
        <p:nvSpPr>
          <p:cNvPr id="4" name="Ontario. 2025 vintage at its installation period">
            <a:extLst>
              <a:ext uri="{FF2B5EF4-FFF2-40B4-BE49-F238E27FC236}">
                <a16:creationId xmlns:a16="http://schemas.microsoft.com/office/drawing/2014/main" id="{8D470736-23D3-42BD-A451-79719FA603EC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2025 vintage at its installation period. Legacy bounds and the new equality value have different roles.</a:t>
            </a:r>
          </a:p>
        </p:txBody>
      </p:sp>
      <p:sp>
        <p:nvSpPr>
          <p:cNvPr id="5" name="13">
            <a:extLst>
              <a:ext uri="{FF2B5EF4-FFF2-40B4-BE49-F238E27FC236}">
                <a16:creationId xmlns:a16="http://schemas.microsoft.com/office/drawing/2014/main" id="{0FCDA7E8-B9CD-40C3-953C-51230F83CF7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4B4FC3AA-1CCB-4601-8289-94D4DDC2D9D9}"/>
              </a:ext>
            </a:extLst>
          </p:cNvPr>
          <p:cNvGraphicFramePr/>
          <p:nvPr/>
        </p:nvGraphicFramePr>
        <p:xfrm>
          <a:off x="514350" y="1933575"/>
          <a:ext cx="6572250" cy="3590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48D151-8ED3-4EB5-8DE5-D91D203835E5}"/>
              </a:ext>
            </a:extLst>
          </p:cNvPr>
          <p:cNvGraphicFramePr/>
          <p:nvPr/>
        </p:nvGraphicFramePr>
        <p:xfrm>
          <a:off x="7410450" y="2152650"/>
          <a:ext cx="4267200" cy="3019425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range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Cars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1.884–1.886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2.076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2.622–2.624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2.895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20.704–20.724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23.663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Intercity buses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4.126–4.130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5.263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hanged CEUD editions change the baseline activi">
            <a:extLst>
              <a:ext uri="{FF2B5EF4-FFF2-40B4-BE49-F238E27FC236}">
                <a16:creationId xmlns:a16="http://schemas.microsoft.com/office/drawing/2014/main" id="{1D27BF7E-4256-4C0C-9DA9-0E67F49B6A58}"/>
              </a:ext>
            </a:extLst>
          </p:cNvPr>
          <p:cNvSpPr>
            <a:spLocks noGrp="1"/>
          </p:cNvSpPr>
          <p:nvPr/>
        </p:nvSpPr>
        <p:spPr>
          <a:xfrm>
            <a:off x="514350" y="5857875"/>
            <a:ext cx="111633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Changed CEUD editions change the baseline activity-to-stock averages.</a:t>
            </a:r>
          </a:p>
        </p:txBody>
      </p:sp>
    </p:spTree>
    <p:extLst>
      <p:ext uri="{BB962C8B-B14F-4D97-AF65-F5344CB8AC3E}">
        <p14:creationId xmlns:p14="http://schemas.microsoft.com/office/powerpoint/2010/main" val="14847237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20880</Words>
  <Application>Microsoft Office PowerPoint</Application>
  <DocSecurity>0</DocSecurity>
  <PresentationFormat>Widescreen</PresentationFormat>
  <Paragraphs>2559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Felipe Zetter Salcedo</cp:lastModifiedBy>
  <cp:revision>1</cp:revision>
  <dcterms:created xsi:type="dcterms:W3CDTF">2026-10-13T16:34:05Z</dcterms:created>
  <dcterms:modified xsi:type="dcterms:W3CDTF">2026-10-13T16:34:49Z</dcterms:modified>
</cp:coreProperties>
</file>